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8fb798eb1c4ef1" /><Relationship Type="http://schemas.openxmlformats.org/officeDocument/2006/relationships/extended-properties" Target="/docProps/app.xml" Id="R4ee6edd09b554e19" /><Relationship Type="http://schemas.openxmlformats.org/officeDocument/2006/relationships/officeDocument" Target="/ppt/presentation.xml" Id="Rc4a29d688b0441f5" /></Relationships>
</file>

<file path=ppt/presentation.xml><?xml version="1.0" encoding="utf-8"?>
<p:presentation xmlns:p="http://schemas.openxmlformats.org/presentationml/2006/main">
  <p:sldMasterIdLst>
    <p:sldMasterId xmlns:r="http://schemas.openxmlformats.org/officeDocument/2006/relationships" id="2147483648" r:id="Rb511e484109a458e"/>
  </p:sldMasterIdLst>
  <p:notesMasterIdLst>
    <p:notesMasterId xmlns:r="http://schemas.openxmlformats.org/officeDocument/2006/relationships" r:id="Rf10d644db1854198"/>
  </p:notesMasterIdLst>
  <p:sldIdLst>
    <p:sldId xmlns:r="http://schemas.openxmlformats.org/officeDocument/2006/relationships" id="256" r:id="R37a40fb0d6c54c94"/>
    <p:sldId xmlns:r="http://schemas.openxmlformats.org/officeDocument/2006/relationships" id="257" r:id="R9358075dc96e410a"/>
    <p:sldId xmlns:r="http://schemas.openxmlformats.org/officeDocument/2006/relationships" id="258" r:id="R2092801779c84b79"/>
    <p:sldId xmlns:r="http://schemas.openxmlformats.org/officeDocument/2006/relationships" id="259" r:id="R8925cb0dcadd4037"/>
    <p:sldId xmlns:r="http://schemas.openxmlformats.org/officeDocument/2006/relationships" id="260" r:id="Rfff05e1c5d2542e5"/>
    <p:sldId xmlns:r="http://schemas.openxmlformats.org/officeDocument/2006/relationships" id="261" r:id="R54f1880c78914df8"/>
    <p:sldId xmlns:r="http://schemas.openxmlformats.org/officeDocument/2006/relationships" id="262" r:id="R7fcdccb3f7e046f7"/>
    <p:sldId xmlns:r="http://schemas.openxmlformats.org/officeDocument/2006/relationships" id="263" r:id="R85cea22617c644f7"/>
    <p:sldId xmlns:r="http://schemas.openxmlformats.org/officeDocument/2006/relationships" id="264" r:id="R1bc28a9cd5e34ae8"/>
    <p:sldId xmlns:r="http://schemas.openxmlformats.org/officeDocument/2006/relationships" id="265" r:id="R35f90087d5fd404b"/>
    <p:sldId xmlns:r="http://schemas.openxmlformats.org/officeDocument/2006/relationships" id="266" r:id="R07880688b97a4b2c"/>
    <p:sldId xmlns:r="http://schemas.openxmlformats.org/officeDocument/2006/relationships" id="267" r:id="Ra2a1c05b9d6c4789"/>
    <p:sldId xmlns:r="http://schemas.openxmlformats.org/officeDocument/2006/relationships" id="268" r:id="R751c3808817e48e4"/>
    <p:sldId xmlns:r="http://schemas.openxmlformats.org/officeDocument/2006/relationships" id="269" r:id="R3d796d4d3f9b4885"/>
    <p:sldId xmlns:r="http://schemas.openxmlformats.org/officeDocument/2006/relationships" id="270" r:id="R97bef5671525454e"/>
    <p:sldId xmlns:r="http://schemas.openxmlformats.org/officeDocument/2006/relationships" id="271" r:id="R39ef5c948617452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b511e484109a458e" /><Relationship Type="http://schemas.openxmlformats.org/officeDocument/2006/relationships/theme" Target="/ppt/theme/theme1.xml" Id="Rcb9511cc34b54e3f" /><Relationship Type="http://schemas.openxmlformats.org/officeDocument/2006/relationships/notesMaster" Target="/ppt/notesMasters/notesMaster1.xml" Id="Rf10d644db1854198" /><Relationship Type="http://schemas.openxmlformats.org/officeDocument/2006/relationships/presProps" Target="/ppt/presProps.xml" Id="Rcb266ea71c6f4f32" /><Relationship Type="http://schemas.openxmlformats.org/officeDocument/2006/relationships/viewProps" Target="/ppt/viewProps.xml" Id="R434cda518155476a" /><Relationship Type="http://schemas.openxmlformats.org/officeDocument/2006/relationships/tableStyles" Target="/ppt/tableStyles.xml" Id="R4f6b6d9a041b4d8e" /><Relationship Type="http://schemas.openxmlformats.org/officeDocument/2006/relationships/slide" Target="/ppt/slides/slide1.xml" Id="R37a40fb0d6c54c94" /><Relationship Type="http://schemas.openxmlformats.org/officeDocument/2006/relationships/slide" Target="/ppt/slides/slide2.xml" Id="R9358075dc96e410a" /><Relationship Type="http://schemas.openxmlformats.org/officeDocument/2006/relationships/slide" Target="/ppt/slides/slide3.xml" Id="R2092801779c84b79" /><Relationship Type="http://schemas.openxmlformats.org/officeDocument/2006/relationships/slide" Target="/ppt/slides/slide4.xml" Id="R8925cb0dcadd4037" /><Relationship Type="http://schemas.openxmlformats.org/officeDocument/2006/relationships/slide" Target="/ppt/slides/slide5.xml" Id="Rfff05e1c5d2542e5" /><Relationship Type="http://schemas.openxmlformats.org/officeDocument/2006/relationships/slide" Target="/ppt/slides/slide6.xml" Id="R54f1880c78914df8" /><Relationship Type="http://schemas.openxmlformats.org/officeDocument/2006/relationships/slide" Target="/ppt/slides/slide7.xml" Id="R7fcdccb3f7e046f7" /><Relationship Type="http://schemas.openxmlformats.org/officeDocument/2006/relationships/slide" Target="/ppt/slides/slide8.xml" Id="R85cea22617c644f7" /><Relationship Type="http://schemas.openxmlformats.org/officeDocument/2006/relationships/slide" Target="/ppt/slides/slide9.xml" Id="R1bc28a9cd5e34ae8" /><Relationship Type="http://schemas.openxmlformats.org/officeDocument/2006/relationships/slide" Target="/ppt/slides/slide10.xml" Id="R35f90087d5fd404b" /><Relationship Type="http://schemas.openxmlformats.org/officeDocument/2006/relationships/slide" Target="/ppt/slides/slide11.xml" Id="R07880688b97a4b2c" /><Relationship Type="http://schemas.openxmlformats.org/officeDocument/2006/relationships/slide" Target="/ppt/slides/slide12.xml" Id="Ra2a1c05b9d6c4789" /><Relationship Type="http://schemas.openxmlformats.org/officeDocument/2006/relationships/slide" Target="/ppt/slides/slide13.xml" Id="R751c3808817e48e4" /><Relationship Type="http://schemas.openxmlformats.org/officeDocument/2006/relationships/slide" Target="/ppt/slides/slide14.xml" Id="R3d796d4d3f9b4885" /><Relationship Type="http://schemas.openxmlformats.org/officeDocument/2006/relationships/slide" Target="/ppt/slides/slide15.xml" Id="R97bef5671525454e" /><Relationship Type="http://schemas.openxmlformats.org/officeDocument/2006/relationships/slide" Target="/ppt/slides/slide16.xml" Id="R39ef5c94861745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88f74c7431c42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c2852bcd5846bf" /><Relationship Type="http://schemas.openxmlformats.org/officeDocument/2006/relationships/notesMaster" Target="/ppt/notesMasters/notesMaster1.xml" Id="Rcb0ca77f5f4d45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1ee5d8c8ff4967" /><Relationship Type="http://schemas.openxmlformats.org/officeDocument/2006/relationships/notesMaster" Target="/ppt/notesMasters/notesMaster1.xml" Id="Rce63e70af77247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b4c3b3b13a44d9" /><Relationship Type="http://schemas.openxmlformats.org/officeDocument/2006/relationships/notesMaster" Target="/ppt/notesMasters/notesMaster1.xml" Id="R44d3e7f746ba4b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0721af1365490d" /><Relationship Type="http://schemas.openxmlformats.org/officeDocument/2006/relationships/notesMaster" Target="/ppt/notesMasters/notesMaster1.xml" Id="R9009b4bc695644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e653a7afff4007" /><Relationship Type="http://schemas.openxmlformats.org/officeDocument/2006/relationships/notesMaster" Target="/ppt/notesMasters/notesMaster1.xml" Id="R5d2bcaed3ccf4a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dcf880452c4e64" /><Relationship Type="http://schemas.openxmlformats.org/officeDocument/2006/relationships/notesMaster" Target="/ppt/notesMasters/notesMaster1.xml" Id="Rf398f4375c6c4b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8aa75ee0d64b25" /><Relationship Type="http://schemas.openxmlformats.org/officeDocument/2006/relationships/notesMaster" Target="/ppt/notesMasters/notesMaster1.xml" Id="R100c008e1cd44d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a771c58ce14f12" /><Relationship Type="http://schemas.openxmlformats.org/officeDocument/2006/relationships/notesMaster" Target="/ppt/notesMasters/notesMaster1.xml" Id="R298ce087d23b42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ba558c78774a47" /><Relationship Type="http://schemas.openxmlformats.org/officeDocument/2006/relationships/notesMaster" Target="/ppt/notesMasters/notesMaster1.xml" Id="R40dddeb82c9b4a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32ecb3e8c94772" /><Relationship Type="http://schemas.openxmlformats.org/officeDocument/2006/relationships/notesMaster" Target="/ppt/notesMasters/notesMaster1.xml" Id="Ra7af5f63b39e4e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bbe4e3db2c453b" /><Relationship Type="http://schemas.openxmlformats.org/officeDocument/2006/relationships/notesMaster" Target="/ppt/notesMasters/notesMaster1.xml" Id="R1a9da792bdaa44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19915a3afa4479" /><Relationship Type="http://schemas.openxmlformats.org/officeDocument/2006/relationships/notesMaster" Target="/ppt/notesMasters/notesMaster1.xml" Id="R2ee183ad0d3742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3b4aa77c8649fc" /><Relationship Type="http://schemas.openxmlformats.org/officeDocument/2006/relationships/notesMaster" Target="/ppt/notesMasters/notesMaster1.xml" Id="R1a0e75cbcb934d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e2ff794de2484f" /><Relationship Type="http://schemas.openxmlformats.org/officeDocument/2006/relationships/notesMaster" Target="/ppt/notesMasters/notesMaster1.xml" Id="Rd0e23b1d9ef543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a57052145e4489" /><Relationship Type="http://schemas.openxmlformats.org/officeDocument/2006/relationships/notesMaster" Target="/ppt/notesMasters/notesMaster1.xml" Id="R819384fb57524e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30f9ea22894768" /><Relationship Type="http://schemas.openxmlformats.org/officeDocument/2006/relationships/notesMaster" Target="/ppt/notesMasters/notesMaster1.xml" Id="Rbfa2a1a725c34a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7aa3cc5d43412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06E14DA7-A884-4AC5-982A-1C9DEC99CD93}"/>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6B6B4192-B275-487B-868B-77D236B92C0E}"/>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CEBD6EEF-8C41-4BA5-88BA-541E9C799436}"/>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06001912-1399-49A9-A898-5059483DBA92}"/>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B970286F-4F96-4351-B815-99A4A8F8DC5E}"/>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15098266142f4324" /><Relationship Type="http://schemas.openxmlformats.org/officeDocument/2006/relationships/slideLayout" Target="/ppt/slideLayouts/slideLayout2.xml" Id="R6f31ca2b940246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3F8C3C1-255C-4819-AE7A-0FA140B580A0}"/>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31ca2b940246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19ddac971b28437f" /><Relationship Type="http://schemas.openxmlformats.org/officeDocument/2006/relationships/image" Target="/ppt/media/image.png" Id="R09e0ef06e352424d" /><Relationship Type="http://schemas.openxmlformats.org/officeDocument/2006/relationships/notesSlide" Target="/ppt/notesSlides/notesSlide1.xml" Id="Rbdd468d25fce44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51c9b2c4fa849e7" /><Relationship Type="http://schemas.openxmlformats.org/officeDocument/2006/relationships/notesSlide" Target="/ppt/notesSlides/notesSlide2.xml" Id="R08781260cb544e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a82f892b6144f75" /><Relationship Type="http://schemas.openxmlformats.org/officeDocument/2006/relationships/notesSlide" Target="/ppt/notesSlides/notesSlide3.xml" Id="Rbc62a65288d84a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6ec4fc76b5a4bc1" /><Relationship Type="http://schemas.openxmlformats.org/officeDocument/2006/relationships/notesSlide" Target="/ppt/notesSlides/notesSlide4.xml" Id="Rc243a08b662242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ab6a472f0414291" /><Relationship Type="http://schemas.openxmlformats.org/officeDocument/2006/relationships/notesSlide" Target="/ppt/notesSlides/notesSlide5.xml" Id="Rab551715251640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d9750dfe4c04da2" /><Relationship Type="http://schemas.openxmlformats.org/officeDocument/2006/relationships/notesSlide" Target="/ppt/notesSlides/notesSlide6.xml" Id="Re9020280a7f040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5edd70205f149ed" /><Relationship Type="http://schemas.openxmlformats.org/officeDocument/2006/relationships/notesSlide" Target="/ppt/notesSlides/notesSlide7.xml" Id="Rd66bf47ccdaf45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26d97b46adf4609" /><Relationship Type="http://schemas.openxmlformats.org/officeDocument/2006/relationships/notesSlide" Target="/ppt/notesSlides/notesSlide8.xml" Id="R32ca204639ee48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c2017435d9b4a59" /><Relationship Type="http://schemas.openxmlformats.org/officeDocument/2006/relationships/notesSlide" Target="/ppt/notesSlides/notesSlide9.xml" Id="Re9491f6677c44f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6af5067e0e045ca" /><Relationship Type="http://schemas.openxmlformats.org/officeDocument/2006/relationships/image" Target="/ppt/media/image2.png" Id="Ra08a947d63fb46bc" /><Relationship Type="http://schemas.openxmlformats.org/officeDocument/2006/relationships/image" Target="/ppt/media/image3.png" Id="R4cf115c1072545dc" /><Relationship Type="http://schemas.openxmlformats.org/officeDocument/2006/relationships/notesSlide" Target="/ppt/notesSlides/notesSlide10.xml" Id="R12f8fd14835747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d4ddb94c45b46f3" /><Relationship Type="http://schemas.openxmlformats.org/officeDocument/2006/relationships/image" Target="/ppt/media/image4.png" Id="R407c852600e54106" /><Relationship Type="http://schemas.openxmlformats.org/officeDocument/2006/relationships/image" Target="/ppt/media/image5.png" Id="Rb9707c8e4e0441b4" /><Relationship Type="http://schemas.openxmlformats.org/officeDocument/2006/relationships/image" Target="/ppt/media/image6.png" Id="Rbede64fcfc7a4706" /><Relationship Type="http://schemas.openxmlformats.org/officeDocument/2006/relationships/notesSlide" Target="/ppt/notesSlides/notesSlide11.xml" Id="Rcd8fcfc44c6f4e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55839f284e9430b" /><Relationship Type="http://schemas.openxmlformats.org/officeDocument/2006/relationships/notesSlide" Target="/ppt/notesSlides/notesSlide12.xml" Id="Rcfb6fd036c034c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c6961b9073c4539" /><Relationship Type="http://schemas.openxmlformats.org/officeDocument/2006/relationships/notesSlide" Target="/ppt/notesSlides/notesSlide13.xml" Id="R741c04eb562f43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0181104d4b446c8" /><Relationship Type="http://schemas.openxmlformats.org/officeDocument/2006/relationships/notesSlide" Target="/ppt/notesSlides/notesSlide14.xml" Id="R098f68f03ee645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a4754f0392e4e83" /><Relationship Type="http://schemas.openxmlformats.org/officeDocument/2006/relationships/notesSlide" Target="/ppt/notesSlides/notesSlide15.xml" Id="Rd8243569844746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b445ccb8107473e" /><Relationship Type="http://schemas.openxmlformats.org/officeDocument/2006/relationships/notesSlide" Target="/ppt/notesSlides/notesSlide16.xml" Id="R92a93c787df945b1" /></Relationships>
</file>

<file path=ppt/slides/slide1.xml><?xml version="1.0" encoding="utf-8"?>
<p:sld xmlns:p="http://schemas.openxmlformats.org/presentationml/2006/main">
  <p:cSld>
    <p:bg>
      <p:bgPr>
        <a:solidFill xmlns:a="http://schemas.openxmlformats.org/drawingml/2006/main">
          <a:srgbClr val="0C2438"/>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46E4276-9F1B-4F24-A83B-91A796929EF5}"/>
              </a:ext>
            </a:extLst>
          </p:cNvPr>
          <p:cNvSpPr>
            <a:spLocks xmlns:a="http://schemas.openxmlformats.org/drawingml/2006/main" noGrp="1"/>
          </p:cNvSpPr>
          <p:nvPr/>
        </p:nvSpPr>
        <p:spPr>
          <a:xfrm xmlns:a="http://schemas.openxmlformats.org/drawingml/2006/main">
            <a:off x="-381000" y="-381000"/>
            <a:ext cx="2476500" cy="1714500"/>
          </a:xfrm>
          <a:prstGeom xmlns:a="http://schemas.openxmlformats.org/drawingml/2006/main" prst="ellipse">
            <a:avLst/>
          </a:prstGeom>
          <a:solidFill xmlns:a="http://schemas.openxmlformats.org/drawingml/2006/main">
            <a:srgbClr val="18B6B0">
              <a:alpha val="1490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A984A84-17E4-4F51-AB62-A7441900F1EE}"/>
              </a:ext>
            </a:extLst>
          </p:cNvPr>
          <p:cNvSpPr>
            <a:spLocks xmlns:a="http://schemas.openxmlformats.org/drawingml/2006/main" noGrp="1"/>
          </p:cNvSpPr>
          <p:nvPr/>
        </p:nvSpPr>
        <p:spPr>
          <a:xfrm xmlns:a="http://schemas.openxmlformats.org/drawingml/2006/main">
            <a:off x="8858250" y="5143500"/>
            <a:ext cx="3429000" cy="2095500"/>
          </a:xfrm>
          <a:prstGeom xmlns:a="http://schemas.openxmlformats.org/drawingml/2006/main" prst="ellipse">
            <a:avLst/>
          </a:prstGeom>
          <a:solidFill xmlns:a="http://schemas.openxmlformats.org/drawingml/2006/main">
            <a:srgbClr val="F2B35E">
              <a:alpha val="9412"/>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872F37C-AD6A-427B-9315-04BFF97552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C2438">
              <a:alpha val="84706"/>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4DB7195-9F7A-4718-8FAE-5499E38A7AD6}"/>
              </a:ext>
            </a:extLst>
          </p:cNvPr>
          <p:cNvSpPr>
            <a:spLocks xmlns:a="http://schemas.openxmlformats.org/drawingml/2006/main" noGrp="1"/>
          </p:cNvSpPr>
          <p:nvPr/>
        </p:nvSpPr>
        <p:spPr>
          <a:xfrm xmlns:a="http://schemas.openxmlformats.org/drawingml/2006/main">
            <a:off x="6858000" y="0"/>
            <a:ext cx="5334000" cy="6858000"/>
          </a:xfrm>
          <a:prstGeom xmlns:a="http://schemas.openxmlformats.org/drawingml/2006/main" prst="rect">
            <a:avLst/>
          </a:prstGeom>
          <a:solidFill xmlns:a="http://schemas.openxmlformats.org/drawingml/2006/main">
            <a:srgbClr val="12364F">
              <a:alpha val="71373"/>
            </a:srgbClr>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24E8B50-E9CF-42E0-A155-3BD678004F64}"/>
              </a:ext>
            </a:extLst>
          </p:cNvPr>
          <p:cNvSpPr>
            <a:spLocks xmlns:a="http://schemas.openxmlformats.org/drawingml/2006/main" noGrp="1"/>
          </p:cNvSpPr>
          <p:nvPr/>
        </p:nvSpPr>
        <p:spPr>
          <a:xfrm xmlns:a="http://schemas.openxmlformats.org/drawingml/2006/main">
            <a:off x="723900" y="685800"/>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A7F3E9"/>
                </a:solidFill>
              </a:defRPr>
            </a:pPr>
            <a:r>
              <a:rPr sz="1050" b="1">
                <a:solidFill>
                  <a:srgbClr val="A7F3E9"/>
                </a:solidFill>
              </a:rPr>
              <a:t>本科毕业论文答辩</a:t>
            </a:r>
          </a:p>
        </p:txBody>
      </p:sp>
      <p:sp>
        <p:nvSpPr>
          <p:cNvPr id="7" name="">
            <a:extLst xmlns:a="http://schemas.openxmlformats.org/drawingml/2006/main">
              <a:ext uri="{FF2B5EF4-FFF2-40B4-BE49-F238E27FC236}">
                <a16:creationId xmlns:a16="http://schemas.microsoft.com/office/drawing/2014/main" id="{66F4C833-A768-4DDD-A389-D3BF10A39913}"/>
              </a:ext>
            </a:extLst>
          </p:cNvPr>
          <p:cNvSpPr>
            <a:spLocks xmlns:a="http://schemas.openxmlformats.org/drawingml/2006/main" noGrp="1"/>
          </p:cNvSpPr>
          <p:nvPr/>
        </p:nvSpPr>
        <p:spPr>
          <a:xfrm xmlns:a="http://schemas.openxmlformats.org/drawingml/2006/main">
            <a:off x="723900" y="971550"/>
            <a:ext cx="1143000" cy="381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543DA87-DAFF-489C-AAEA-E81E01D44195}"/>
              </a:ext>
            </a:extLst>
          </p:cNvPr>
          <p:cNvSpPr>
            <a:spLocks xmlns:a="http://schemas.openxmlformats.org/drawingml/2006/main" noGrp="1"/>
          </p:cNvSpPr>
          <p:nvPr/>
        </p:nvSpPr>
        <p:spPr>
          <a:xfrm xmlns:a="http://schemas.openxmlformats.org/drawingml/2006/main">
            <a:off x="723900" y="1314450"/>
            <a:ext cx="51435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FFFFFF"/>
                </a:solidFill>
              </a:defRPr>
            </a:pPr>
            <a:r>
              <a:rPr sz="2475" b="1">
                <a:solidFill>
                  <a:srgbClr val="FFFFFF"/>
                </a:solidFill>
              </a:rPr>
              <a:t>高校科研管理系统的</a:t>
            </a:r>
          </a:p>
          <a:p xmlns:a="http://schemas.openxmlformats.org/drawingml/2006/main">
            <a:pPr algn="l">
              <a:defRPr sz="2475" b="1">
                <a:solidFill>
                  <a:srgbClr val="FFFFFF"/>
                </a:solidFill>
              </a:defRPr>
            </a:pPr>
            <a:r>
              <a:rPr sz="2475" b="1">
                <a:solidFill>
                  <a:srgbClr val="FFFFFF"/>
                </a:solidFill>
              </a:rPr>
              <a:t>设计与实现</a:t>
            </a:r>
          </a:p>
        </p:txBody>
      </p:sp>
      <p:sp>
        <p:nvSpPr>
          <p:cNvPr id="9" name="">
            <a:extLst xmlns:a="http://schemas.openxmlformats.org/drawingml/2006/main">
              <a:ext uri="{FF2B5EF4-FFF2-40B4-BE49-F238E27FC236}">
                <a16:creationId xmlns:a16="http://schemas.microsoft.com/office/drawing/2014/main" id="{F9E80E64-2B07-4949-A9F8-7519E921B850}"/>
              </a:ext>
            </a:extLst>
          </p:cNvPr>
          <p:cNvSpPr>
            <a:spLocks xmlns:a="http://schemas.openxmlformats.org/drawingml/2006/main" noGrp="1"/>
          </p:cNvSpPr>
          <p:nvPr/>
        </p:nvSpPr>
        <p:spPr>
          <a:xfrm xmlns:a="http://schemas.openxmlformats.org/drawingml/2006/main">
            <a:off x="723900" y="287655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D9E2EC"/>
                </a:solidFill>
              </a:defRPr>
            </a:pPr>
            <a:r>
              <a:rPr sz="1125" b="0">
                <a:solidFill>
                  <a:srgbClr val="D9E2EC"/>
                </a:solidFill>
              </a:rPr>
              <a:t>基于 Vue 3、Spring Boot、MyBatis 与 JWT 的科研业务协同平台</a:t>
            </a:r>
          </a:p>
        </p:txBody>
      </p:sp>
      <p:sp>
        <p:nvSpPr>
          <p:cNvPr id="10" name="">
            <a:extLst xmlns:a="http://schemas.openxmlformats.org/drawingml/2006/main">
              <a:ext uri="{FF2B5EF4-FFF2-40B4-BE49-F238E27FC236}">
                <a16:creationId xmlns:a16="http://schemas.microsoft.com/office/drawing/2014/main" id="{D52CE4E5-C788-416F-BFD9-4ECA6ED71F0E}"/>
              </a:ext>
            </a:extLst>
          </p:cNvPr>
          <p:cNvSpPr>
            <a:spLocks xmlns:a="http://schemas.openxmlformats.org/drawingml/2006/main" noGrp="1"/>
          </p:cNvSpPr>
          <p:nvPr/>
        </p:nvSpPr>
        <p:spPr>
          <a:xfrm xmlns:a="http://schemas.openxmlformats.org/drawingml/2006/main">
            <a:off x="723900" y="3486150"/>
            <a:ext cx="3543300" cy="1600200"/>
          </a:xfrm>
          <a:prstGeom xmlns:a="http://schemas.openxmlformats.org/drawingml/2006/main" prst="roundRect">
            <a:avLst>
              <a:gd name="adj" fmla="val 4762"/>
            </a:avLst>
          </a:prstGeom>
          <a:solidFill xmlns:a="http://schemas.openxmlformats.org/drawingml/2006/main">
            <a:srgbClr val="FFFFFF">
              <a:alpha val="7059"/>
            </a:srgbClr>
          </a:solidFill>
          <a:ln xmlns:a="http://schemas.openxmlformats.org/drawingml/2006/main" w="9525">
            <a:solidFill>
              <a:srgbClr val="FFFFFF">
                <a:alpha val="15686"/>
              </a:srgbClr>
            </a:solidFill>
            <a:prstDash val="solid"/>
          </a:ln>
        </p:spPr>
      </p:sp>
      <p:sp>
        <p:nvSpPr>
          <p:cNvPr id="11" name="">
            <a:extLst xmlns:a="http://schemas.openxmlformats.org/drawingml/2006/main">
              <a:ext uri="{FF2B5EF4-FFF2-40B4-BE49-F238E27FC236}">
                <a16:creationId xmlns:a16="http://schemas.microsoft.com/office/drawing/2014/main" id="{F06444A5-5555-404B-BDA3-325500E5CE3E}"/>
              </a:ext>
            </a:extLst>
          </p:cNvPr>
          <p:cNvSpPr>
            <a:spLocks xmlns:a="http://schemas.openxmlformats.org/drawingml/2006/main" noGrp="1"/>
          </p:cNvSpPr>
          <p:nvPr/>
        </p:nvSpPr>
        <p:spPr>
          <a:xfrm xmlns:a="http://schemas.openxmlformats.org/drawingml/2006/main">
            <a:off x="952500" y="371475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defRPr>
            </a:pPr>
            <a:r>
              <a:rPr sz="1200" b="0">
                <a:solidFill>
                  <a:srgbClr val="FFFFFF"/>
                </a:solidFill>
              </a:rPr>
              <a:t>答辩人：待填写</a:t>
            </a:r>
          </a:p>
        </p:txBody>
      </p:sp>
      <p:sp>
        <p:nvSpPr>
          <p:cNvPr id="12" name="">
            <a:extLst xmlns:a="http://schemas.openxmlformats.org/drawingml/2006/main">
              <a:ext uri="{FF2B5EF4-FFF2-40B4-BE49-F238E27FC236}">
                <a16:creationId xmlns:a16="http://schemas.microsoft.com/office/drawing/2014/main" id="{4B7EE185-4E1A-458A-A6E0-34F4805C74A2}"/>
              </a:ext>
            </a:extLst>
          </p:cNvPr>
          <p:cNvSpPr>
            <a:spLocks xmlns:a="http://schemas.openxmlformats.org/drawingml/2006/main" noGrp="1"/>
          </p:cNvSpPr>
          <p:nvPr/>
        </p:nvSpPr>
        <p:spPr>
          <a:xfrm xmlns:a="http://schemas.openxmlformats.org/drawingml/2006/main">
            <a:off x="952500" y="400050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defRPr>
            </a:pPr>
            <a:r>
              <a:rPr sz="1200" b="0">
                <a:solidFill>
                  <a:srgbClr val="FFFFFF"/>
                </a:solidFill>
              </a:rPr>
              <a:t>学号：待填写</a:t>
            </a:r>
          </a:p>
        </p:txBody>
      </p:sp>
      <p:sp>
        <p:nvSpPr>
          <p:cNvPr id="13" name="">
            <a:extLst xmlns:a="http://schemas.openxmlformats.org/drawingml/2006/main">
              <a:ext uri="{FF2B5EF4-FFF2-40B4-BE49-F238E27FC236}">
                <a16:creationId xmlns:a16="http://schemas.microsoft.com/office/drawing/2014/main" id="{C6D9097B-351E-4D1E-ADE8-D63FD0B884A8}"/>
              </a:ext>
            </a:extLst>
          </p:cNvPr>
          <p:cNvSpPr>
            <a:spLocks xmlns:a="http://schemas.openxmlformats.org/drawingml/2006/main" noGrp="1"/>
          </p:cNvSpPr>
          <p:nvPr/>
        </p:nvSpPr>
        <p:spPr>
          <a:xfrm xmlns:a="http://schemas.openxmlformats.org/drawingml/2006/main">
            <a:off x="952500" y="428625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defRPr>
            </a:pPr>
            <a:r>
              <a:rPr sz="1200" b="0">
                <a:solidFill>
                  <a:srgbClr val="FFFFFF"/>
                </a:solidFill>
              </a:rPr>
              <a:t>专业：待填写</a:t>
            </a:r>
          </a:p>
        </p:txBody>
      </p:sp>
      <p:sp>
        <p:nvSpPr>
          <p:cNvPr id="14" name="">
            <a:extLst xmlns:a="http://schemas.openxmlformats.org/drawingml/2006/main">
              <a:ext uri="{FF2B5EF4-FFF2-40B4-BE49-F238E27FC236}">
                <a16:creationId xmlns:a16="http://schemas.microsoft.com/office/drawing/2014/main" id="{A13AED7A-54B4-4987-BF21-81B280173E7A}"/>
              </a:ext>
            </a:extLst>
          </p:cNvPr>
          <p:cNvSpPr>
            <a:spLocks xmlns:a="http://schemas.openxmlformats.org/drawingml/2006/main" noGrp="1"/>
          </p:cNvSpPr>
          <p:nvPr/>
        </p:nvSpPr>
        <p:spPr>
          <a:xfrm xmlns:a="http://schemas.openxmlformats.org/drawingml/2006/main">
            <a:off x="952500" y="457200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defRPr>
            </a:pPr>
            <a:r>
              <a:rPr sz="1200" b="0">
                <a:solidFill>
                  <a:srgbClr val="FFFFFF"/>
                </a:solidFill>
              </a:rPr>
              <a:t>指导教师：待填写</a:t>
            </a:r>
          </a:p>
        </p:txBody>
      </p:sp>
      <p:sp>
        <p:nvSpPr>
          <p:cNvPr id="15" name="">
            <a:extLst xmlns:a="http://schemas.openxmlformats.org/drawingml/2006/main">
              <a:ext uri="{FF2B5EF4-FFF2-40B4-BE49-F238E27FC236}">
                <a16:creationId xmlns:a16="http://schemas.microsoft.com/office/drawing/2014/main" id="{3D4F504C-8315-4FC7-924F-9920685473B5}"/>
              </a:ext>
            </a:extLst>
          </p:cNvPr>
          <p:cNvSpPr>
            <a:spLocks xmlns:a="http://schemas.openxmlformats.org/drawingml/2006/main" noGrp="1"/>
          </p:cNvSpPr>
          <p:nvPr/>
        </p:nvSpPr>
        <p:spPr>
          <a:xfrm xmlns:a="http://schemas.openxmlformats.org/drawingml/2006/main">
            <a:off x="723900" y="5391150"/>
            <a:ext cx="838200" cy="266700"/>
          </a:xfrm>
          <a:prstGeom xmlns:a="http://schemas.openxmlformats.org/drawingml/2006/main" prst="roundRect">
            <a:avLst>
              <a:gd name="adj" fmla="val 28571"/>
            </a:avLst>
          </a:prstGeom>
          <a:solidFill xmlns:a="http://schemas.openxmlformats.org/drawingml/2006/main">
            <a:srgbClr val="FFFFFF">
              <a:alpha val="8627"/>
            </a:srgbClr>
          </a:solidFill>
          <a:ln xmlns:a="http://schemas.openxmlformats.org/drawingml/2006/main" w="9525">
            <a:solidFill>
              <a:srgbClr val="FFFFFF">
                <a:alpha val="12549"/>
              </a:srgbClr>
            </a:solidFill>
            <a:prstDash val="solid"/>
          </a:ln>
        </p:spPr>
      </p:sp>
      <p:sp>
        <p:nvSpPr>
          <p:cNvPr id="16" name="">
            <a:extLst xmlns:a="http://schemas.openxmlformats.org/drawingml/2006/main">
              <a:ext uri="{FF2B5EF4-FFF2-40B4-BE49-F238E27FC236}">
                <a16:creationId xmlns:a16="http://schemas.microsoft.com/office/drawing/2014/main" id="{23ABC9C3-F36A-471B-A1A4-7812DFD15F81}"/>
              </a:ext>
            </a:extLst>
          </p:cNvPr>
          <p:cNvSpPr>
            <a:spLocks xmlns:a="http://schemas.openxmlformats.org/drawingml/2006/main" noGrp="1"/>
          </p:cNvSpPr>
          <p:nvPr/>
        </p:nvSpPr>
        <p:spPr>
          <a:xfrm xmlns:a="http://schemas.openxmlformats.org/drawingml/2006/main">
            <a:off x="838200" y="5429250"/>
            <a:ext cx="609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defRPr>
            </a:pPr>
            <a:r>
              <a:rPr sz="900" b="1">
                <a:solidFill>
                  <a:srgbClr val="FFFFFF"/>
                </a:solidFill>
              </a:rPr>
              <a:t>项目管理</a:t>
            </a:r>
          </a:p>
        </p:txBody>
      </p:sp>
      <p:sp>
        <p:nvSpPr>
          <p:cNvPr id="17" name="">
            <a:extLst xmlns:a="http://schemas.openxmlformats.org/drawingml/2006/main">
              <a:ext uri="{FF2B5EF4-FFF2-40B4-BE49-F238E27FC236}">
                <a16:creationId xmlns:a16="http://schemas.microsoft.com/office/drawing/2014/main" id="{5A9A4B11-B82F-461E-A373-838FD805574E}"/>
              </a:ext>
            </a:extLst>
          </p:cNvPr>
          <p:cNvSpPr>
            <a:spLocks xmlns:a="http://schemas.openxmlformats.org/drawingml/2006/main" noGrp="1"/>
          </p:cNvSpPr>
          <p:nvPr/>
        </p:nvSpPr>
        <p:spPr>
          <a:xfrm xmlns:a="http://schemas.openxmlformats.org/drawingml/2006/main">
            <a:off x="1676400" y="5391150"/>
            <a:ext cx="838200" cy="266700"/>
          </a:xfrm>
          <a:prstGeom xmlns:a="http://schemas.openxmlformats.org/drawingml/2006/main" prst="roundRect">
            <a:avLst>
              <a:gd name="adj" fmla="val 28571"/>
            </a:avLst>
          </a:prstGeom>
          <a:solidFill xmlns:a="http://schemas.openxmlformats.org/drawingml/2006/main">
            <a:srgbClr val="FFFFFF">
              <a:alpha val="8627"/>
            </a:srgbClr>
          </a:solidFill>
          <a:ln xmlns:a="http://schemas.openxmlformats.org/drawingml/2006/main" w="9525">
            <a:solidFill>
              <a:srgbClr val="FFFFFF">
                <a:alpha val="12549"/>
              </a:srgbClr>
            </a:solidFill>
            <a:prstDash val="solid"/>
          </a:ln>
        </p:spPr>
      </p:sp>
      <p:sp>
        <p:nvSpPr>
          <p:cNvPr id="18" name="">
            <a:extLst xmlns:a="http://schemas.openxmlformats.org/drawingml/2006/main">
              <a:ext uri="{FF2B5EF4-FFF2-40B4-BE49-F238E27FC236}">
                <a16:creationId xmlns:a16="http://schemas.microsoft.com/office/drawing/2014/main" id="{14F4D4C0-5F6F-4018-840F-E4EE80EE0C18}"/>
              </a:ext>
            </a:extLst>
          </p:cNvPr>
          <p:cNvSpPr>
            <a:spLocks xmlns:a="http://schemas.openxmlformats.org/drawingml/2006/main" noGrp="1"/>
          </p:cNvSpPr>
          <p:nvPr/>
        </p:nvSpPr>
        <p:spPr>
          <a:xfrm xmlns:a="http://schemas.openxmlformats.org/drawingml/2006/main">
            <a:off x="1790700" y="5429250"/>
            <a:ext cx="609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defRPr>
            </a:pPr>
            <a:r>
              <a:rPr sz="900" b="1">
                <a:solidFill>
                  <a:srgbClr val="FFFFFF"/>
                </a:solidFill>
              </a:rPr>
              <a:t>流程审批</a:t>
            </a:r>
          </a:p>
        </p:txBody>
      </p:sp>
      <p:sp>
        <p:nvSpPr>
          <p:cNvPr id="19" name="">
            <a:extLst xmlns:a="http://schemas.openxmlformats.org/drawingml/2006/main">
              <a:ext uri="{FF2B5EF4-FFF2-40B4-BE49-F238E27FC236}">
                <a16:creationId xmlns:a16="http://schemas.microsoft.com/office/drawing/2014/main" id="{120640E7-71AE-43C8-B954-21B15A7BCC94}"/>
              </a:ext>
            </a:extLst>
          </p:cNvPr>
          <p:cNvSpPr>
            <a:spLocks xmlns:a="http://schemas.openxmlformats.org/drawingml/2006/main" noGrp="1"/>
          </p:cNvSpPr>
          <p:nvPr/>
        </p:nvSpPr>
        <p:spPr>
          <a:xfrm xmlns:a="http://schemas.openxmlformats.org/drawingml/2006/main">
            <a:off x="2628900" y="5391150"/>
            <a:ext cx="838200" cy="266700"/>
          </a:xfrm>
          <a:prstGeom xmlns:a="http://schemas.openxmlformats.org/drawingml/2006/main" prst="roundRect">
            <a:avLst>
              <a:gd name="adj" fmla="val 28571"/>
            </a:avLst>
          </a:prstGeom>
          <a:solidFill xmlns:a="http://schemas.openxmlformats.org/drawingml/2006/main">
            <a:srgbClr val="FFFFFF">
              <a:alpha val="8627"/>
            </a:srgbClr>
          </a:solidFill>
          <a:ln xmlns:a="http://schemas.openxmlformats.org/drawingml/2006/main" w="9525">
            <a:solidFill>
              <a:srgbClr val="FFFFFF">
                <a:alpha val="12549"/>
              </a:srgbClr>
            </a:solidFill>
            <a:prstDash val="solid"/>
          </a:ln>
        </p:spPr>
      </p:sp>
      <p:sp>
        <p:nvSpPr>
          <p:cNvPr id="20" name="">
            <a:extLst xmlns:a="http://schemas.openxmlformats.org/drawingml/2006/main">
              <a:ext uri="{FF2B5EF4-FFF2-40B4-BE49-F238E27FC236}">
                <a16:creationId xmlns:a16="http://schemas.microsoft.com/office/drawing/2014/main" id="{685A3194-B59A-4003-B2F9-BAE1945239A9}"/>
              </a:ext>
            </a:extLst>
          </p:cNvPr>
          <p:cNvSpPr>
            <a:spLocks xmlns:a="http://schemas.openxmlformats.org/drawingml/2006/main" noGrp="1"/>
          </p:cNvSpPr>
          <p:nvPr/>
        </p:nvSpPr>
        <p:spPr>
          <a:xfrm xmlns:a="http://schemas.openxmlformats.org/drawingml/2006/main">
            <a:off x="2743200" y="5429250"/>
            <a:ext cx="609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defRPr>
            </a:pPr>
            <a:r>
              <a:rPr sz="900" b="1">
                <a:solidFill>
                  <a:srgbClr val="FFFFFF"/>
                </a:solidFill>
              </a:rPr>
              <a:t>报销协同</a:t>
            </a:r>
          </a:p>
        </p:txBody>
      </p:sp>
      <p:sp>
        <p:nvSpPr>
          <p:cNvPr id="21" name="">
            <a:extLst xmlns:a="http://schemas.openxmlformats.org/drawingml/2006/main">
              <a:ext uri="{FF2B5EF4-FFF2-40B4-BE49-F238E27FC236}">
                <a16:creationId xmlns:a16="http://schemas.microsoft.com/office/drawing/2014/main" id="{C46602D2-2334-4B4D-AF60-E255A8E5CD11}"/>
              </a:ext>
            </a:extLst>
          </p:cNvPr>
          <p:cNvSpPr>
            <a:spLocks xmlns:a="http://schemas.openxmlformats.org/drawingml/2006/main" noGrp="1"/>
          </p:cNvSpPr>
          <p:nvPr/>
        </p:nvSpPr>
        <p:spPr>
          <a:xfrm xmlns:a="http://schemas.openxmlformats.org/drawingml/2006/main">
            <a:off x="3581400" y="5391150"/>
            <a:ext cx="838200" cy="266700"/>
          </a:xfrm>
          <a:prstGeom xmlns:a="http://schemas.openxmlformats.org/drawingml/2006/main" prst="roundRect">
            <a:avLst>
              <a:gd name="adj" fmla="val 28571"/>
            </a:avLst>
          </a:prstGeom>
          <a:solidFill xmlns:a="http://schemas.openxmlformats.org/drawingml/2006/main">
            <a:srgbClr val="FFFFFF">
              <a:alpha val="8627"/>
            </a:srgbClr>
          </a:solidFill>
          <a:ln xmlns:a="http://schemas.openxmlformats.org/drawingml/2006/main" w="9525">
            <a:solidFill>
              <a:srgbClr val="FFFFFF">
                <a:alpha val="12549"/>
              </a:srgbClr>
            </a:solidFill>
            <a:prstDash val="solid"/>
          </a:ln>
        </p:spPr>
      </p:sp>
      <p:sp>
        <p:nvSpPr>
          <p:cNvPr id="22" name="">
            <a:extLst xmlns:a="http://schemas.openxmlformats.org/drawingml/2006/main">
              <a:ext uri="{FF2B5EF4-FFF2-40B4-BE49-F238E27FC236}">
                <a16:creationId xmlns:a16="http://schemas.microsoft.com/office/drawing/2014/main" id="{C0F0F033-B63C-4517-BE11-63C418B01017}"/>
              </a:ext>
            </a:extLst>
          </p:cNvPr>
          <p:cNvSpPr>
            <a:spLocks xmlns:a="http://schemas.openxmlformats.org/drawingml/2006/main" noGrp="1"/>
          </p:cNvSpPr>
          <p:nvPr/>
        </p:nvSpPr>
        <p:spPr>
          <a:xfrm xmlns:a="http://schemas.openxmlformats.org/drawingml/2006/main">
            <a:off x="3695700" y="5429250"/>
            <a:ext cx="609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defRPr>
            </a:pPr>
            <a:r>
              <a:rPr sz="900" b="1">
                <a:solidFill>
                  <a:srgbClr val="FFFFFF"/>
                </a:solidFill>
              </a:rPr>
              <a:t>成果归档</a:t>
            </a:r>
          </a:p>
        </p:txBody>
      </p:sp>
      <p:sp>
        <p:nvSpPr>
          <p:cNvPr id="23" name="">
            <a:extLst xmlns:a="http://schemas.openxmlformats.org/drawingml/2006/main">
              <a:ext uri="{FF2B5EF4-FFF2-40B4-BE49-F238E27FC236}">
                <a16:creationId xmlns:a16="http://schemas.microsoft.com/office/drawing/2014/main" id="{59257E84-8A8B-4294-848C-F201DFD51861}"/>
              </a:ext>
            </a:extLst>
          </p:cNvPr>
          <p:cNvSpPr>
            <a:spLocks xmlns:a="http://schemas.openxmlformats.org/drawingml/2006/main" noGrp="1"/>
          </p:cNvSpPr>
          <p:nvPr/>
        </p:nvSpPr>
        <p:spPr>
          <a:xfrm xmlns:a="http://schemas.openxmlformats.org/drawingml/2006/main">
            <a:off x="4533900" y="5391150"/>
            <a:ext cx="895350" cy="266700"/>
          </a:xfrm>
          <a:prstGeom xmlns:a="http://schemas.openxmlformats.org/drawingml/2006/main" prst="roundRect">
            <a:avLst>
              <a:gd name="adj" fmla="val 28571"/>
            </a:avLst>
          </a:prstGeom>
          <a:solidFill xmlns:a="http://schemas.openxmlformats.org/drawingml/2006/main">
            <a:srgbClr val="FFFFFF">
              <a:alpha val="8627"/>
            </a:srgbClr>
          </a:solidFill>
          <a:ln xmlns:a="http://schemas.openxmlformats.org/drawingml/2006/main" w="9525">
            <a:solidFill>
              <a:srgbClr val="FFFFFF">
                <a:alpha val="12549"/>
              </a:srgbClr>
            </a:solidFill>
            <a:prstDash val="solid"/>
          </a:ln>
        </p:spPr>
      </p:sp>
      <p:sp>
        <p:nvSpPr>
          <p:cNvPr id="24" name="">
            <a:extLst xmlns:a="http://schemas.openxmlformats.org/drawingml/2006/main">
              <a:ext uri="{FF2B5EF4-FFF2-40B4-BE49-F238E27FC236}">
                <a16:creationId xmlns:a16="http://schemas.microsoft.com/office/drawing/2014/main" id="{5EE935D9-2322-4C08-ACBA-5BC3B47768B0}"/>
              </a:ext>
            </a:extLst>
          </p:cNvPr>
          <p:cNvSpPr>
            <a:spLocks xmlns:a="http://schemas.openxmlformats.org/drawingml/2006/main" noGrp="1"/>
          </p:cNvSpPr>
          <p:nvPr/>
        </p:nvSpPr>
        <p:spPr>
          <a:xfrm xmlns:a="http://schemas.openxmlformats.org/drawingml/2006/main">
            <a:off x="4648200" y="542925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defRPr>
            </a:pPr>
            <a:r>
              <a:rPr sz="900" b="1">
                <a:solidFill>
                  <a:srgbClr val="FFFFFF"/>
                </a:solidFill>
              </a:rPr>
              <a:t>AI 助手</a:t>
            </a:r>
          </a:p>
        </p:txBody>
      </p:sp>
      <p:sp>
        <p:nvSpPr>
          <p:cNvPr id="25" name="">
            <a:extLst xmlns:a="http://schemas.openxmlformats.org/drawingml/2006/main">
              <a:ext uri="{FF2B5EF4-FFF2-40B4-BE49-F238E27FC236}">
                <a16:creationId xmlns:a16="http://schemas.microsoft.com/office/drawing/2014/main" id="{11E0A857-3F5C-4924-8D80-6A39FFA6C09B}"/>
              </a:ext>
            </a:extLst>
          </p:cNvPr>
          <p:cNvSpPr>
            <a:spLocks xmlns:a="http://schemas.openxmlformats.org/drawingml/2006/main" noGrp="1"/>
          </p:cNvSpPr>
          <p:nvPr/>
        </p:nvSpPr>
        <p:spPr>
          <a:xfrm xmlns:a="http://schemas.openxmlformats.org/drawingml/2006/main">
            <a:off x="723900" y="59055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8D6E5"/>
                </a:solidFill>
              </a:defRPr>
            </a:pPr>
            <a:r>
              <a:rPr sz="975" b="0">
                <a:solidFill>
                  <a:srgbClr val="C8D6E5"/>
                </a:solidFill>
              </a:rPr>
              <a:t>高校科研管理从“分散记录”走向“流程闭环、权限清晰、状态可追踪”。</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9e0ef06e352424d"/>
          <a:srcRect xmlns:a="http://schemas.openxmlformats.org/drawingml/2006/main" l="28134" t="0" r="2813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Tree>
    <p:extLst>
      <p:ext uri="{BB962C8B-B14F-4D97-AF65-F5344CB8AC3E}">
        <p14:creationId xmlns:p14="http://schemas.microsoft.com/office/powerpoint/2010/main" val="1833338227"/>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1F779B2-5021-4708-A420-BB4499BDF304}"/>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223B1A7-E20E-4872-A452-BF8492FD2DEC}"/>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4CB243B-B13E-4266-BDD8-704F968862CB}"/>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CONTENTS</a:t>
            </a:r>
          </a:p>
        </p:txBody>
      </p:sp>
      <p:sp>
        <p:nvSpPr>
          <p:cNvPr id="5" name="">
            <a:extLst xmlns:a="http://schemas.openxmlformats.org/drawingml/2006/main">
              <a:ext uri="{FF2B5EF4-FFF2-40B4-BE49-F238E27FC236}">
                <a16:creationId xmlns:a16="http://schemas.microsoft.com/office/drawing/2014/main" id="{33590C20-0C17-464C-98E7-7666DE72D9EF}"/>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02</a:t>
            </a:r>
          </a:p>
        </p:txBody>
      </p:sp>
      <p:sp>
        <p:nvSpPr>
          <p:cNvPr id="6" name="">
            <a:extLst xmlns:a="http://schemas.openxmlformats.org/drawingml/2006/main">
              <a:ext uri="{FF2B5EF4-FFF2-40B4-BE49-F238E27FC236}">
                <a16:creationId xmlns:a16="http://schemas.microsoft.com/office/drawing/2014/main" id="{DF0DFDAD-1752-4952-8E84-ACB8CC6583B8}"/>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答辩提纲</a:t>
            </a:r>
          </a:p>
        </p:txBody>
      </p:sp>
      <p:sp>
        <p:nvSpPr>
          <p:cNvPr id="7" name="">
            <a:extLst xmlns:a="http://schemas.openxmlformats.org/drawingml/2006/main">
              <a:ext uri="{FF2B5EF4-FFF2-40B4-BE49-F238E27FC236}">
                <a16:creationId xmlns:a16="http://schemas.microsoft.com/office/drawing/2014/main" id="{9AA4B6D7-9D31-4CC9-95C4-8EDC46C7F607}"/>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围绕选题背景、系统设计、关键实现、测试结果与总结展望展开。</a:t>
            </a:r>
          </a:p>
        </p:txBody>
      </p:sp>
      <p:sp>
        <p:nvSpPr>
          <p:cNvPr id="8" name="">
            <a:extLst xmlns:a="http://schemas.openxmlformats.org/drawingml/2006/main">
              <a:ext uri="{FF2B5EF4-FFF2-40B4-BE49-F238E27FC236}">
                <a16:creationId xmlns:a16="http://schemas.microsoft.com/office/drawing/2014/main" id="{41495E3F-098D-48A2-B7C3-429C602D19AD}"/>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034220D-AD76-4E9C-B708-8BBAC54E702F}"/>
              </a:ext>
            </a:extLst>
          </p:cNvPr>
          <p:cNvSpPr>
            <a:spLocks xmlns:a="http://schemas.openxmlformats.org/drawingml/2006/main" noGrp="1"/>
          </p:cNvSpPr>
          <p:nvPr/>
        </p:nvSpPr>
        <p:spPr>
          <a:xfrm xmlns:a="http://schemas.openxmlformats.org/drawingml/2006/main">
            <a:off x="685800" y="1790700"/>
            <a:ext cx="32385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740B4B7B-2C0F-46AE-B46D-DF11A3DD545A}"/>
              </a:ext>
            </a:extLst>
          </p:cNvPr>
          <p:cNvSpPr>
            <a:spLocks xmlns:a="http://schemas.openxmlformats.org/drawingml/2006/main" noGrp="1"/>
          </p:cNvSpPr>
          <p:nvPr/>
        </p:nvSpPr>
        <p:spPr>
          <a:xfrm xmlns:a="http://schemas.openxmlformats.org/drawingml/2006/main">
            <a:off x="895350" y="1981200"/>
            <a:ext cx="552450" cy="552450"/>
          </a:xfrm>
          <a:prstGeom xmlns:a="http://schemas.openxmlformats.org/drawingml/2006/main" prst="ellipse">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8524D2F-B32F-453F-BCE5-FE0569D94B1D}"/>
              </a:ext>
            </a:extLst>
          </p:cNvPr>
          <p:cNvSpPr>
            <a:spLocks xmlns:a="http://schemas.openxmlformats.org/drawingml/2006/main" noGrp="1"/>
          </p:cNvSpPr>
          <p:nvPr/>
        </p:nvSpPr>
        <p:spPr>
          <a:xfrm xmlns:a="http://schemas.openxmlformats.org/drawingml/2006/main">
            <a:off x="895350" y="213360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18B6B0"/>
                </a:solidFill>
              </a:defRPr>
            </a:pPr>
            <a:r>
              <a:rPr sz="1350" b="1">
                <a:solidFill>
                  <a:srgbClr val="18B6B0"/>
                </a:solidFill>
              </a:rPr>
              <a:t>01</a:t>
            </a:r>
          </a:p>
        </p:txBody>
      </p:sp>
      <p:sp>
        <p:nvSpPr>
          <p:cNvPr id="12" name="">
            <a:extLst xmlns:a="http://schemas.openxmlformats.org/drawingml/2006/main">
              <a:ext uri="{FF2B5EF4-FFF2-40B4-BE49-F238E27FC236}">
                <a16:creationId xmlns:a16="http://schemas.microsoft.com/office/drawing/2014/main" id="{D29E73C7-315F-4310-9359-E479EB92B9B1}"/>
              </a:ext>
            </a:extLst>
          </p:cNvPr>
          <p:cNvSpPr>
            <a:spLocks xmlns:a="http://schemas.openxmlformats.org/drawingml/2006/main" noGrp="1"/>
          </p:cNvSpPr>
          <p:nvPr/>
        </p:nvSpPr>
        <p:spPr>
          <a:xfrm xmlns:a="http://schemas.openxmlformats.org/drawingml/2006/main">
            <a:off x="1600200" y="20383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研究背景</a:t>
            </a:r>
          </a:p>
        </p:txBody>
      </p:sp>
      <p:sp>
        <p:nvSpPr>
          <p:cNvPr id="13" name="">
            <a:extLst xmlns:a="http://schemas.openxmlformats.org/drawingml/2006/main">
              <a:ext uri="{FF2B5EF4-FFF2-40B4-BE49-F238E27FC236}">
                <a16:creationId xmlns:a16="http://schemas.microsoft.com/office/drawing/2014/main" id="{82CF0CDF-F290-40F2-B5BE-0CAF1649008B}"/>
              </a:ext>
            </a:extLst>
          </p:cNvPr>
          <p:cNvSpPr>
            <a:spLocks xmlns:a="http://schemas.openxmlformats.org/drawingml/2006/main" noGrp="1"/>
          </p:cNvSpPr>
          <p:nvPr/>
        </p:nvSpPr>
        <p:spPr>
          <a:xfrm xmlns:a="http://schemas.openxmlformats.org/drawingml/2006/main">
            <a:off x="1600200" y="2343150"/>
            <a:ext cx="20574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说明高校科研管理场景中的业务痛点与建设意义。</a:t>
            </a:r>
          </a:p>
        </p:txBody>
      </p:sp>
      <p:sp>
        <p:nvSpPr>
          <p:cNvPr id="14" name="">
            <a:extLst xmlns:a="http://schemas.openxmlformats.org/drawingml/2006/main">
              <a:ext uri="{FF2B5EF4-FFF2-40B4-BE49-F238E27FC236}">
                <a16:creationId xmlns:a16="http://schemas.microsoft.com/office/drawing/2014/main" id="{006AE58A-43A3-4E30-98F9-F7C02BA2E49C}"/>
              </a:ext>
            </a:extLst>
          </p:cNvPr>
          <p:cNvSpPr>
            <a:spLocks xmlns:a="http://schemas.openxmlformats.org/drawingml/2006/main" noGrp="1"/>
          </p:cNvSpPr>
          <p:nvPr/>
        </p:nvSpPr>
        <p:spPr>
          <a:xfrm xmlns:a="http://schemas.openxmlformats.org/drawingml/2006/main">
            <a:off x="1600200" y="2990850"/>
            <a:ext cx="1809750" cy="381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19409BE-C44F-447C-ACCB-2EF4B31D93A2}"/>
              </a:ext>
            </a:extLst>
          </p:cNvPr>
          <p:cNvSpPr>
            <a:spLocks xmlns:a="http://schemas.openxmlformats.org/drawingml/2006/main" noGrp="1"/>
          </p:cNvSpPr>
          <p:nvPr/>
        </p:nvSpPr>
        <p:spPr>
          <a:xfrm xmlns:a="http://schemas.openxmlformats.org/drawingml/2006/main">
            <a:off x="4305300" y="1790700"/>
            <a:ext cx="32385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E2EC"/>
            </a:solidFill>
            <a:prstDash val="solid"/>
          </a:ln>
        </p:spPr>
      </p:sp>
      <p:sp>
        <p:nvSpPr>
          <p:cNvPr id="16" name="">
            <a:extLst xmlns:a="http://schemas.openxmlformats.org/drawingml/2006/main">
              <a:ext uri="{FF2B5EF4-FFF2-40B4-BE49-F238E27FC236}">
                <a16:creationId xmlns:a16="http://schemas.microsoft.com/office/drawing/2014/main" id="{1F41B47F-CBC4-421E-965C-D97489453CE2}"/>
              </a:ext>
            </a:extLst>
          </p:cNvPr>
          <p:cNvSpPr>
            <a:spLocks xmlns:a="http://schemas.openxmlformats.org/drawingml/2006/main" noGrp="1"/>
          </p:cNvSpPr>
          <p:nvPr/>
        </p:nvSpPr>
        <p:spPr>
          <a:xfrm xmlns:a="http://schemas.openxmlformats.org/drawingml/2006/main">
            <a:off x="4514850" y="1981200"/>
            <a:ext cx="552450" cy="552450"/>
          </a:xfrm>
          <a:prstGeom xmlns:a="http://schemas.openxmlformats.org/drawingml/2006/main" prst="ellipse">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F15BA94F-FD2C-4077-BA4E-2A7AA315D2F1}"/>
              </a:ext>
            </a:extLst>
          </p:cNvPr>
          <p:cNvSpPr>
            <a:spLocks xmlns:a="http://schemas.openxmlformats.org/drawingml/2006/main" noGrp="1"/>
          </p:cNvSpPr>
          <p:nvPr/>
        </p:nvSpPr>
        <p:spPr>
          <a:xfrm xmlns:a="http://schemas.openxmlformats.org/drawingml/2006/main">
            <a:off x="4514850" y="213360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2B35E"/>
                </a:solidFill>
              </a:defRPr>
            </a:pPr>
            <a:r>
              <a:rPr sz="1350" b="1">
                <a:solidFill>
                  <a:srgbClr val="F2B35E"/>
                </a:solidFill>
              </a:rPr>
              <a:t>02</a:t>
            </a:r>
          </a:p>
        </p:txBody>
      </p:sp>
      <p:sp>
        <p:nvSpPr>
          <p:cNvPr id="18" name="">
            <a:extLst xmlns:a="http://schemas.openxmlformats.org/drawingml/2006/main">
              <a:ext uri="{FF2B5EF4-FFF2-40B4-BE49-F238E27FC236}">
                <a16:creationId xmlns:a16="http://schemas.microsoft.com/office/drawing/2014/main" id="{AC78370B-FEF3-48B9-8FDB-77F68D3ADFCD}"/>
              </a:ext>
            </a:extLst>
          </p:cNvPr>
          <p:cNvSpPr>
            <a:spLocks xmlns:a="http://schemas.openxmlformats.org/drawingml/2006/main" noGrp="1"/>
          </p:cNvSpPr>
          <p:nvPr/>
        </p:nvSpPr>
        <p:spPr>
          <a:xfrm xmlns:a="http://schemas.openxmlformats.org/drawingml/2006/main">
            <a:off x="5219700" y="20383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需求分析</a:t>
            </a:r>
          </a:p>
        </p:txBody>
      </p:sp>
      <p:sp>
        <p:nvSpPr>
          <p:cNvPr id="19" name="">
            <a:extLst xmlns:a="http://schemas.openxmlformats.org/drawingml/2006/main">
              <a:ext uri="{FF2B5EF4-FFF2-40B4-BE49-F238E27FC236}">
                <a16:creationId xmlns:a16="http://schemas.microsoft.com/office/drawing/2014/main" id="{61AA5559-6E7C-4D57-A05A-D6777C8F14E1}"/>
              </a:ext>
            </a:extLst>
          </p:cNvPr>
          <p:cNvSpPr>
            <a:spLocks xmlns:a="http://schemas.openxmlformats.org/drawingml/2006/main" noGrp="1"/>
          </p:cNvSpPr>
          <p:nvPr/>
        </p:nvSpPr>
        <p:spPr>
          <a:xfrm xmlns:a="http://schemas.openxmlformats.org/drawingml/2006/main">
            <a:off x="5219700" y="2343150"/>
            <a:ext cx="20574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从角色、业务链路与非功能需求明确系统目标。</a:t>
            </a:r>
          </a:p>
        </p:txBody>
      </p:sp>
      <p:sp>
        <p:nvSpPr>
          <p:cNvPr id="20" name="">
            <a:extLst xmlns:a="http://schemas.openxmlformats.org/drawingml/2006/main">
              <a:ext uri="{FF2B5EF4-FFF2-40B4-BE49-F238E27FC236}">
                <a16:creationId xmlns:a16="http://schemas.microsoft.com/office/drawing/2014/main" id="{43656BB6-3772-47B2-BD45-0F73C8DF6BA9}"/>
              </a:ext>
            </a:extLst>
          </p:cNvPr>
          <p:cNvSpPr>
            <a:spLocks xmlns:a="http://schemas.openxmlformats.org/drawingml/2006/main" noGrp="1"/>
          </p:cNvSpPr>
          <p:nvPr/>
        </p:nvSpPr>
        <p:spPr>
          <a:xfrm xmlns:a="http://schemas.openxmlformats.org/drawingml/2006/main">
            <a:off x="5219700" y="2990850"/>
            <a:ext cx="1809750" cy="3810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5127EBA-93EA-4CDC-B9C3-DD26BCA4C5D3}"/>
              </a:ext>
            </a:extLst>
          </p:cNvPr>
          <p:cNvSpPr>
            <a:spLocks xmlns:a="http://schemas.openxmlformats.org/drawingml/2006/main" noGrp="1"/>
          </p:cNvSpPr>
          <p:nvPr/>
        </p:nvSpPr>
        <p:spPr>
          <a:xfrm xmlns:a="http://schemas.openxmlformats.org/drawingml/2006/main">
            <a:off x="7924800" y="1790700"/>
            <a:ext cx="32385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E2EC"/>
            </a:solidFill>
            <a:prstDash val="solid"/>
          </a:ln>
        </p:spPr>
      </p:sp>
      <p:sp>
        <p:nvSpPr>
          <p:cNvPr id="22" name="">
            <a:extLst xmlns:a="http://schemas.openxmlformats.org/drawingml/2006/main">
              <a:ext uri="{FF2B5EF4-FFF2-40B4-BE49-F238E27FC236}">
                <a16:creationId xmlns:a16="http://schemas.microsoft.com/office/drawing/2014/main" id="{CE744937-B4DB-4512-ABBE-0DE4D8ACB0CF}"/>
              </a:ext>
            </a:extLst>
          </p:cNvPr>
          <p:cNvSpPr>
            <a:spLocks xmlns:a="http://schemas.openxmlformats.org/drawingml/2006/main" noGrp="1"/>
          </p:cNvSpPr>
          <p:nvPr/>
        </p:nvSpPr>
        <p:spPr>
          <a:xfrm xmlns:a="http://schemas.openxmlformats.org/drawingml/2006/main">
            <a:off x="8134350" y="1981200"/>
            <a:ext cx="552450" cy="552450"/>
          </a:xfrm>
          <a:prstGeom xmlns:a="http://schemas.openxmlformats.org/drawingml/2006/main" prst="ellipse">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B4AAEB9C-8276-4D87-9C8E-14A17B43679C}"/>
              </a:ext>
            </a:extLst>
          </p:cNvPr>
          <p:cNvSpPr>
            <a:spLocks xmlns:a="http://schemas.openxmlformats.org/drawingml/2006/main" noGrp="1"/>
          </p:cNvSpPr>
          <p:nvPr/>
        </p:nvSpPr>
        <p:spPr>
          <a:xfrm xmlns:a="http://schemas.openxmlformats.org/drawingml/2006/main">
            <a:off x="8134350" y="213360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1765B"/>
                </a:solidFill>
              </a:defRPr>
            </a:pPr>
            <a:r>
              <a:rPr sz="1350" b="1">
                <a:solidFill>
                  <a:srgbClr val="F1765B"/>
                </a:solidFill>
              </a:rPr>
              <a:t>03</a:t>
            </a:r>
          </a:p>
        </p:txBody>
      </p:sp>
      <p:sp>
        <p:nvSpPr>
          <p:cNvPr id="24" name="">
            <a:extLst xmlns:a="http://schemas.openxmlformats.org/drawingml/2006/main">
              <a:ext uri="{FF2B5EF4-FFF2-40B4-BE49-F238E27FC236}">
                <a16:creationId xmlns:a16="http://schemas.microsoft.com/office/drawing/2014/main" id="{1D6BBA51-0951-440A-8534-82AC86EA1031}"/>
              </a:ext>
            </a:extLst>
          </p:cNvPr>
          <p:cNvSpPr>
            <a:spLocks xmlns:a="http://schemas.openxmlformats.org/drawingml/2006/main" noGrp="1"/>
          </p:cNvSpPr>
          <p:nvPr/>
        </p:nvSpPr>
        <p:spPr>
          <a:xfrm xmlns:a="http://schemas.openxmlformats.org/drawingml/2006/main">
            <a:off x="8839200" y="20383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系统设计</a:t>
            </a:r>
          </a:p>
        </p:txBody>
      </p:sp>
      <p:sp>
        <p:nvSpPr>
          <p:cNvPr id="25" name="">
            <a:extLst xmlns:a="http://schemas.openxmlformats.org/drawingml/2006/main">
              <a:ext uri="{FF2B5EF4-FFF2-40B4-BE49-F238E27FC236}">
                <a16:creationId xmlns:a16="http://schemas.microsoft.com/office/drawing/2014/main" id="{64FE5E10-FFFB-43DB-81E7-73A85415C329}"/>
              </a:ext>
            </a:extLst>
          </p:cNvPr>
          <p:cNvSpPr>
            <a:spLocks xmlns:a="http://schemas.openxmlformats.org/drawingml/2006/main" noGrp="1"/>
          </p:cNvSpPr>
          <p:nvPr/>
        </p:nvSpPr>
        <p:spPr>
          <a:xfrm xmlns:a="http://schemas.openxmlformats.org/drawingml/2006/main">
            <a:off x="8839200" y="2343150"/>
            <a:ext cx="20574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展示总体架构、模块划分、权限控制和数据库设计。</a:t>
            </a:r>
          </a:p>
        </p:txBody>
      </p:sp>
      <p:sp>
        <p:nvSpPr>
          <p:cNvPr id="26" name="">
            <a:extLst xmlns:a="http://schemas.openxmlformats.org/drawingml/2006/main">
              <a:ext uri="{FF2B5EF4-FFF2-40B4-BE49-F238E27FC236}">
                <a16:creationId xmlns:a16="http://schemas.microsoft.com/office/drawing/2014/main" id="{4480EECC-B18C-46FE-B72C-542B7ECB2DA6}"/>
              </a:ext>
            </a:extLst>
          </p:cNvPr>
          <p:cNvSpPr>
            <a:spLocks xmlns:a="http://schemas.openxmlformats.org/drawingml/2006/main" noGrp="1"/>
          </p:cNvSpPr>
          <p:nvPr/>
        </p:nvSpPr>
        <p:spPr>
          <a:xfrm xmlns:a="http://schemas.openxmlformats.org/drawingml/2006/main">
            <a:off x="8839200" y="2990850"/>
            <a:ext cx="1809750" cy="3810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22F3348-7DBB-4255-816D-CEF334D89C81}"/>
              </a:ext>
            </a:extLst>
          </p:cNvPr>
          <p:cNvSpPr>
            <a:spLocks xmlns:a="http://schemas.openxmlformats.org/drawingml/2006/main" noGrp="1"/>
          </p:cNvSpPr>
          <p:nvPr/>
        </p:nvSpPr>
        <p:spPr>
          <a:xfrm xmlns:a="http://schemas.openxmlformats.org/drawingml/2006/main">
            <a:off x="685800" y="3790950"/>
            <a:ext cx="32385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E2EC"/>
            </a:solidFill>
            <a:prstDash val="solid"/>
          </a:ln>
        </p:spPr>
      </p:sp>
      <p:sp>
        <p:nvSpPr>
          <p:cNvPr id="28" name="">
            <a:extLst xmlns:a="http://schemas.openxmlformats.org/drawingml/2006/main">
              <a:ext uri="{FF2B5EF4-FFF2-40B4-BE49-F238E27FC236}">
                <a16:creationId xmlns:a16="http://schemas.microsoft.com/office/drawing/2014/main" id="{C5DF5DA8-3C4D-4064-8F72-E20E9022A7D4}"/>
              </a:ext>
            </a:extLst>
          </p:cNvPr>
          <p:cNvSpPr>
            <a:spLocks xmlns:a="http://schemas.openxmlformats.org/drawingml/2006/main" noGrp="1"/>
          </p:cNvSpPr>
          <p:nvPr/>
        </p:nvSpPr>
        <p:spPr>
          <a:xfrm xmlns:a="http://schemas.openxmlformats.org/drawingml/2006/main">
            <a:off x="895350" y="3981450"/>
            <a:ext cx="552450" cy="552450"/>
          </a:xfrm>
          <a:prstGeom xmlns:a="http://schemas.openxmlformats.org/drawingml/2006/main" prst="ellipse">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AD3FD63-D259-45AD-91E0-FA07901F3B75}"/>
              </a:ext>
            </a:extLst>
          </p:cNvPr>
          <p:cNvSpPr>
            <a:spLocks xmlns:a="http://schemas.openxmlformats.org/drawingml/2006/main" noGrp="1"/>
          </p:cNvSpPr>
          <p:nvPr/>
        </p:nvSpPr>
        <p:spPr>
          <a:xfrm xmlns:a="http://schemas.openxmlformats.org/drawingml/2006/main">
            <a:off x="895350" y="41338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18B6B0"/>
                </a:solidFill>
              </a:defRPr>
            </a:pPr>
            <a:r>
              <a:rPr sz="1350" b="1">
                <a:solidFill>
                  <a:srgbClr val="18B6B0"/>
                </a:solidFill>
              </a:rPr>
              <a:t>04</a:t>
            </a:r>
          </a:p>
        </p:txBody>
      </p:sp>
      <p:sp>
        <p:nvSpPr>
          <p:cNvPr id="30" name="">
            <a:extLst xmlns:a="http://schemas.openxmlformats.org/drawingml/2006/main">
              <a:ext uri="{FF2B5EF4-FFF2-40B4-BE49-F238E27FC236}">
                <a16:creationId xmlns:a16="http://schemas.microsoft.com/office/drawing/2014/main" id="{65E03EB1-819A-46A9-8D9F-68E2155BF1BA}"/>
              </a:ext>
            </a:extLst>
          </p:cNvPr>
          <p:cNvSpPr>
            <a:spLocks xmlns:a="http://schemas.openxmlformats.org/drawingml/2006/main" noGrp="1"/>
          </p:cNvSpPr>
          <p:nvPr/>
        </p:nvSpPr>
        <p:spPr>
          <a:xfrm xmlns:a="http://schemas.openxmlformats.org/drawingml/2006/main">
            <a:off x="1600200" y="40386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关键实现</a:t>
            </a:r>
          </a:p>
        </p:txBody>
      </p:sp>
      <p:sp>
        <p:nvSpPr>
          <p:cNvPr id="31" name="">
            <a:extLst xmlns:a="http://schemas.openxmlformats.org/drawingml/2006/main">
              <a:ext uri="{FF2B5EF4-FFF2-40B4-BE49-F238E27FC236}">
                <a16:creationId xmlns:a16="http://schemas.microsoft.com/office/drawing/2014/main" id="{B9ED05E3-E2E8-4BAC-ABCB-C868A96713A3}"/>
              </a:ext>
            </a:extLst>
          </p:cNvPr>
          <p:cNvSpPr>
            <a:spLocks xmlns:a="http://schemas.openxmlformats.org/drawingml/2006/main" noGrp="1"/>
          </p:cNvSpPr>
          <p:nvPr/>
        </p:nvSpPr>
        <p:spPr>
          <a:xfrm xmlns:a="http://schemas.openxmlformats.org/drawingml/2006/main">
            <a:off x="1600200" y="4343400"/>
            <a:ext cx="20574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重点讲解项目流程、审批报销、成果归档与 AI 助手。</a:t>
            </a:r>
          </a:p>
        </p:txBody>
      </p:sp>
      <p:sp>
        <p:nvSpPr>
          <p:cNvPr id="32" name="">
            <a:extLst xmlns:a="http://schemas.openxmlformats.org/drawingml/2006/main">
              <a:ext uri="{FF2B5EF4-FFF2-40B4-BE49-F238E27FC236}">
                <a16:creationId xmlns:a16="http://schemas.microsoft.com/office/drawing/2014/main" id="{A0888133-7EA0-483F-8921-0A503A71C209}"/>
              </a:ext>
            </a:extLst>
          </p:cNvPr>
          <p:cNvSpPr>
            <a:spLocks xmlns:a="http://schemas.openxmlformats.org/drawingml/2006/main" noGrp="1"/>
          </p:cNvSpPr>
          <p:nvPr/>
        </p:nvSpPr>
        <p:spPr>
          <a:xfrm xmlns:a="http://schemas.openxmlformats.org/drawingml/2006/main">
            <a:off x="1600200" y="4991100"/>
            <a:ext cx="1809750" cy="381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786E9C29-BC50-4F22-84CF-71080DB579BD}"/>
              </a:ext>
            </a:extLst>
          </p:cNvPr>
          <p:cNvSpPr>
            <a:spLocks xmlns:a="http://schemas.openxmlformats.org/drawingml/2006/main" noGrp="1"/>
          </p:cNvSpPr>
          <p:nvPr/>
        </p:nvSpPr>
        <p:spPr>
          <a:xfrm xmlns:a="http://schemas.openxmlformats.org/drawingml/2006/main">
            <a:off x="4305300" y="3790950"/>
            <a:ext cx="32385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E2EC"/>
            </a:solidFill>
            <a:prstDash val="solid"/>
          </a:ln>
        </p:spPr>
      </p:sp>
      <p:sp>
        <p:nvSpPr>
          <p:cNvPr id="34" name="">
            <a:extLst xmlns:a="http://schemas.openxmlformats.org/drawingml/2006/main">
              <a:ext uri="{FF2B5EF4-FFF2-40B4-BE49-F238E27FC236}">
                <a16:creationId xmlns:a16="http://schemas.microsoft.com/office/drawing/2014/main" id="{DA16972E-8EC3-4FF0-9318-BD774A8D8EA4}"/>
              </a:ext>
            </a:extLst>
          </p:cNvPr>
          <p:cNvSpPr>
            <a:spLocks xmlns:a="http://schemas.openxmlformats.org/drawingml/2006/main" noGrp="1"/>
          </p:cNvSpPr>
          <p:nvPr/>
        </p:nvSpPr>
        <p:spPr>
          <a:xfrm xmlns:a="http://schemas.openxmlformats.org/drawingml/2006/main">
            <a:off x="4514850" y="3981450"/>
            <a:ext cx="552450" cy="552450"/>
          </a:xfrm>
          <a:prstGeom xmlns:a="http://schemas.openxmlformats.org/drawingml/2006/main" prst="ellipse">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AE3BAC94-A646-4EA6-B911-2A57E17724B9}"/>
              </a:ext>
            </a:extLst>
          </p:cNvPr>
          <p:cNvSpPr>
            <a:spLocks xmlns:a="http://schemas.openxmlformats.org/drawingml/2006/main" noGrp="1"/>
          </p:cNvSpPr>
          <p:nvPr/>
        </p:nvSpPr>
        <p:spPr>
          <a:xfrm xmlns:a="http://schemas.openxmlformats.org/drawingml/2006/main">
            <a:off x="4514850" y="41338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2B35E"/>
                </a:solidFill>
              </a:defRPr>
            </a:pPr>
            <a:r>
              <a:rPr sz="1350" b="1">
                <a:solidFill>
                  <a:srgbClr val="F2B35E"/>
                </a:solidFill>
              </a:rPr>
              <a:t>05</a:t>
            </a:r>
          </a:p>
        </p:txBody>
      </p:sp>
      <p:sp>
        <p:nvSpPr>
          <p:cNvPr id="36" name="">
            <a:extLst xmlns:a="http://schemas.openxmlformats.org/drawingml/2006/main">
              <a:ext uri="{FF2B5EF4-FFF2-40B4-BE49-F238E27FC236}">
                <a16:creationId xmlns:a16="http://schemas.microsoft.com/office/drawing/2014/main" id="{6E2D86C9-78CE-4189-B8A8-A118F86F2514}"/>
              </a:ext>
            </a:extLst>
          </p:cNvPr>
          <p:cNvSpPr>
            <a:spLocks xmlns:a="http://schemas.openxmlformats.org/drawingml/2006/main" noGrp="1"/>
          </p:cNvSpPr>
          <p:nvPr/>
        </p:nvSpPr>
        <p:spPr>
          <a:xfrm xmlns:a="http://schemas.openxmlformats.org/drawingml/2006/main">
            <a:off x="5219700" y="40386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测试结果</a:t>
            </a:r>
          </a:p>
        </p:txBody>
      </p:sp>
      <p:sp>
        <p:nvSpPr>
          <p:cNvPr id="37" name="">
            <a:extLst xmlns:a="http://schemas.openxmlformats.org/drawingml/2006/main">
              <a:ext uri="{FF2B5EF4-FFF2-40B4-BE49-F238E27FC236}">
                <a16:creationId xmlns:a16="http://schemas.microsoft.com/office/drawing/2014/main" id="{8D5D09D5-08C7-4609-95E5-FA5863D2426B}"/>
              </a:ext>
            </a:extLst>
          </p:cNvPr>
          <p:cNvSpPr>
            <a:spLocks xmlns:a="http://schemas.openxmlformats.org/drawingml/2006/main" noGrp="1"/>
          </p:cNvSpPr>
          <p:nvPr/>
        </p:nvSpPr>
        <p:spPr>
          <a:xfrm xmlns:a="http://schemas.openxmlformats.org/drawingml/2006/main">
            <a:off x="5219700" y="4343400"/>
            <a:ext cx="20574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从功能、权限、接口和异常处理角度验证可用性。</a:t>
            </a:r>
          </a:p>
        </p:txBody>
      </p:sp>
      <p:sp>
        <p:nvSpPr>
          <p:cNvPr id="38" name="">
            <a:extLst xmlns:a="http://schemas.openxmlformats.org/drawingml/2006/main">
              <a:ext uri="{FF2B5EF4-FFF2-40B4-BE49-F238E27FC236}">
                <a16:creationId xmlns:a16="http://schemas.microsoft.com/office/drawing/2014/main" id="{B0B56D6C-D9EC-424A-BDFE-68223DA43E55}"/>
              </a:ext>
            </a:extLst>
          </p:cNvPr>
          <p:cNvSpPr>
            <a:spLocks xmlns:a="http://schemas.openxmlformats.org/drawingml/2006/main" noGrp="1"/>
          </p:cNvSpPr>
          <p:nvPr/>
        </p:nvSpPr>
        <p:spPr>
          <a:xfrm xmlns:a="http://schemas.openxmlformats.org/drawingml/2006/main">
            <a:off x="5219700" y="4991100"/>
            <a:ext cx="1809750" cy="3810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F9328658-ED3E-4E54-A157-A7F58717130D}"/>
              </a:ext>
            </a:extLst>
          </p:cNvPr>
          <p:cNvSpPr>
            <a:spLocks xmlns:a="http://schemas.openxmlformats.org/drawingml/2006/main" noGrp="1"/>
          </p:cNvSpPr>
          <p:nvPr/>
        </p:nvSpPr>
        <p:spPr>
          <a:xfrm xmlns:a="http://schemas.openxmlformats.org/drawingml/2006/main">
            <a:off x="7924800" y="3790950"/>
            <a:ext cx="32385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E2EC"/>
            </a:solidFill>
            <a:prstDash val="solid"/>
          </a:ln>
        </p:spPr>
      </p:sp>
      <p:sp>
        <p:nvSpPr>
          <p:cNvPr id="40" name="">
            <a:extLst xmlns:a="http://schemas.openxmlformats.org/drawingml/2006/main">
              <a:ext uri="{FF2B5EF4-FFF2-40B4-BE49-F238E27FC236}">
                <a16:creationId xmlns:a16="http://schemas.microsoft.com/office/drawing/2014/main" id="{11E1B1FB-A04C-4834-96FF-0050C7EA77C8}"/>
              </a:ext>
            </a:extLst>
          </p:cNvPr>
          <p:cNvSpPr>
            <a:spLocks xmlns:a="http://schemas.openxmlformats.org/drawingml/2006/main" noGrp="1"/>
          </p:cNvSpPr>
          <p:nvPr/>
        </p:nvSpPr>
        <p:spPr>
          <a:xfrm xmlns:a="http://schemas.openxmlformats.org/drawingml/2006/main">
            <a:off x="8134350" y="3981450"/>
            <a:ext cx="552450" cy="552450"/>
          </a:xfrm>
          <a:prstGeom xmlns:a="http://schemas.openxmlformats.org/drawingml/2006/main" prst="ellipse">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C6FF918F-2D54-433E-8397-DDA7915D6918}"/>
              </a:ext>
            </a:extLst>
          </p:cNvPr>
          <p:cNvSpPr>
            <a:spLocks xmlns:a="http://schemas.openxmlformats.org/drawingml/2006/main" noGrp="1"/>
          </p:cNvSpPr>
          <p:nvPr/>
        </p:nvSpPr>
        <p:spPr>
          <a:xfrm xmlns:a="http://schemas.openxmlformats.org/drawingml/2006/main">
            <a:off x="8134350" y="41338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1765B"/>
                </a:solidFill>
              </a:defRPr>
            </a:pPr>
            <a:r>
              <a:rPr sz="1350" b="1">
                <a:solidFill>
                  <a:srgbClr val="F1765B"/>
                </a:solidFill>
              </a:rPr>
              <a:t>06</a:t>
            </a:r>
          </a:p>
        </p:txBody>
      </p:sp>
      <p:sp>
        <p:nvSpPr>
          <p:cNvPr id="42" name="">
            <a:extLst xmlns:a="http://schemas.openxmlformats.org/drawingml/2006/main">
              <a:ext uri="{FF2B5EF4-FFF2-40B4-BE49-F238E27FC236}">
                <a16:creationId xmlns:a16="http://schemas.microsoft.com/office/drawing/2014/main" id="{5927AF81-CDFD-4E52-8F6F-CCD6B5EFAB8B}"/>
              </a:ext>
            </a:extLst>
          </p:cNvPr>
          <p:cNvSpPr>
            <a:spLocks xmlns:a="http://schemas.openxmlformats.org/drawingml/2006/main" noGrp="1"/>
          </p:cNvSpPr>
          <p:nvPr/>
        </p:nvSpPr>
        <p:spPr>
          <a:xfrm xmlns:a="http://schemas.openxmlformats.org/drawingml/2006/main">
            <a:off x="8839200" y="40386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总结展望</a:t>
            </a:r>
          </a:p>
        </p:txBody>
      </p:sp>
      <p:sp>
        <p:nvSpPr>
          <p:cNvPr id="43" name="">
            <a:extLst xmlns:a="http://schemas.openxmlformats.org/drawingml/2006/main">
              <a:ext uri="{FF2B5EF4-FFF2-40B4-BE49-F238E27FC236}">
                <a16:creationId xmlns:a16="http://schemas.microsoft.com/office/drawing/2014/main" id="{F59D084D-9C27-4EE8-A902-DA46C0422327}"/>
              </a:ext>
            </a:extLst>
          </p:cNvPr>
          <p:cNvSpPr>
            <a:spLocks xmlns:a="http://schemas.openxmlformats.org/drawingml/2006/main" noGrp="1"/>
          </p:cNvSpPr>
          <p:nvPr/>
        </p:nvSpPr>
        <p:spPr>
          <a:xfrm xmlns:a="http://schemas.openxmlformats.org/drawingml/2006/main">
            <a:off x="8839200" y="4343400"/>
            <a:ext cx="20574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概括论文工作成果，并说明后续优化方向。</a:t>
            </a:r>
          </a:p>
        </p:txBody>
      </p:sp>
      <p:sp>
        <p:nvSpPr>
          <p:cNvPr id="44" name="">
            <a:extLst xmlns:a="http://schemas.openxmlformats.org/drawingml/2006/main">
              <a:ext uri="{FF2B5EF4-FFF2-40B4-BE49-F238E27FC236}">
                <a16:creationId xmlns:a16="http://schemas.microsoft.com/office/drawing/2014/main" id="{5A92F2F6-CB99-46A6-952E-A4FF2C8B9EF7}"/>
              </a:ext>
            </a:extLst>
          </p:cNvPr>
          <p:cNvSpPr>
            <a:spLocks xmlns:a="http://schemas.openxmlformats.org/drawingml/2006/main" noGrp="1"/>
          </p:cNvSpPr>
          <p:nvPr/>
        </p:nvSpPr>
        <p:spPr>
          <a:xfrm xmlns:a="http://schemas.openxmlformats.org/drawingml/2006/main">
            <a:off x="8839200" y="4991100"/>
            <a:ext cx="1809750" cy="3810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422410625"/>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84309DE-5466-4D55-972E-C7E5D6942883}"/>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34C8572-C6D9-4F04-883C-60E28AA4B44E}"/>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A1F1325-67F3-4F94-8970-21D9E1110847}"/>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BACKGROUND</a:t>
            </a:r>
          </a:p>
        </p:txBody>
      </p:sp>
      <p:sp>
        <p:nvSpPr>
          <p:cNvPr id="5" name="">
            <a:extLst xmlns:a="http://schemas.openxmlformats.org/drawingml/2006/main">
              <a:ext uri="{FF2B5EF4-FFF2-40B4-BE49-F238E27FC236}">
                <a16:creationId xmlns:a16="http://schemas.microsoft.com/office/drawing/2014/main" id="{E46C3788-BE85-4088-AB25-74704B0080B6}"/>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03</a:t>
            </a:r>
          </a:p>
        </p:txBody>
      </p:sp>
      <p:sp>
        <p:nvSpPr>
          <p:cNvPr id="6" name="">
            <a:extLst xmlns:a="http://schemas.openxmlformats.org/drawingml/2006/main">
              <a:ext uri="{FF2B5EF4-FFF2-40B4-BE49-F238E27FC236}">
                <a16:creationId xmlns:a16="http://schemas.microsoft.com/office/drawing/2014/main" id="{E99C858F-8F16-4E5E-8589-B4148D211EF6}"/>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研究背景与选题意义</a:t>
            </a:r>
          </a:p>
        </p:txBody>
      </p:sp>
      <p:sp>
        <p:nvSpPr>
          <p:cNvPr id="7" name="">
            <a:extLst xmlns:a="http://schemas.openxmlformats.org/drawingml/2006/main">
              <a:ext uri="{FF2B5EF4-FFF2-40B4-BE49-F238E27FC236}">
                <a16:creationId xmlns:a16="http://schemas.microsoft.com/office/drawing/2014/main" id="{84BA5BC0-72A8-4075-8CAB-EE86A3679067}"/>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高校科研业务涉及多角色协同、流程审批、经费执行与成果沉淀，传统方式难以支撑全过程管理。</a:t>
            </a:r>
          </a:p>
        </p:txBody>
      </p:sp>
      <p:sp>
        <p:nvSpPr>
          <p:cNvPr id="8" name="">
            <a:extLst xmlns:a="http://schemas.openxmlformats.org/drawingml/2006/main">
              <a:ext uri="{FF2B5EF4-FFF2-40B4-BE49-F238E27FC236}">
                <a16:creationId xmlns:a16="http://schemas.microsoft.com/office/drawing/2014/main" id="{93A2D47D-B2E7-4255-AB9F-147A9D94EB07}"/>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8C943AB-0039-4EB3-80B4-117CF6D42658}"/>
              </a:ext>
            </a:extLst>
          </p:cNvPr>
          <p:cNvSpPr>
            <a:spLocks xmlns:a="http://schemas.openxmlformats.org/drawingml/2006/main" noGrp="1"/>
          </p:cNvSpPr>
          <p:nvPr/>
        </p:nvSpPr>
        <p:spPr>
          <a:xfrm xmlns:a="http://schemas.openxmlformats.org/drawingml/2006/main">
            <a:off x="685800" y="1733550"/>
            <a:ext cx="4476750" cy="3638550"/>
          </a:xfrm>
          <a:prstGeom xmlns:a="http://schemas.openxmlformats.org/drawingml/2006/main" prst="roundRect">
            <a:avLst>
              <a:gd name="adj" fmla="val 2094"/>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5A673B95-3584-45AD-82EA-6883B304B956}"/>
              </a:ext>
            </a:extLst>
          </p:cNvPr>
          <p:cNvSpPr>
            <a:spLocks xmlns:a="http://schemas.openxmlformats.org/drawingml/2006/main" noGrp="1"/>
          </p:cNvSpPr>
          <p:nvPr/>
        </p:nvSpPr>
        <p:spPr>
          <a:xfrm xmlns:a="http://schemas.openxmlformats.org/drawingml/2006/main">
            <a:off x="914400" y="196215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建设背景</a:t>
            </a:r>
          </a:p>
        </p:txBody>
      </p:sp>
      <p:sp>
        <p:nvSpPr>
          <p:cNvPr id="11" name="">
            <a:extLst xmlns:a="http://schemas.openxmlformats.org/drawingml/2006/main">
              <a:ext uri="{FF2B5EF4-FFF2-40B4-BE49-F238E27FC236}">
                <a16:creationId xmlns:a16="http://schemas.microsoft.com/office/drawing/2014/main" id="{1DE31AE8-74AF-42DE-9367-76DCB4326A37}"/>
              </a:ext>
            </a:extLst>
          </p:cNvPr>
          <p:cNvSpPr>
            <a:spLocks xmlns:a="http://schemas.openxmlformats.org/drawingml/2006/main" noGrp="1"/>
          </p:cNvSpPr>
          <p:nvPr/>
        </p:nvSpPr>
        <p:spPr>
          <a:xfrm xmlns:a="http://schemas.openxmlformats.org/drawingml/2006/main">
            <a:off x="933450" y="24193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12" name="">
            <a:extLst xmlns:a="http://schemas.openxmlformats.org/drawingml/2006/main">
              <a:ext uri="{FF2B5EF4-FFF2-40B4-BE49-F238E27FC236}">
                <a16:creationId xmlns:a16="http://schemas.microsoft.com/office/drawing/2014/main" id="{019076CA-1C2C-4196-B28A-2EF59D908555}"/>
              </a:ext>
            </a:extLst>
          </p:cNvPr>
          <p:cNvSpPr>
            <a:spLocks xmlns:a="http://schemas.openxmlformats.org/drawingml/2006/main" noGrp="1"/>
          </p:cNvSpPr>
          <p:nvPr/>
        </p:nvSpPr>
        <p:spPr>
          <a:xfrm xmlns:a="http://schemas.openxmlformats.org/drawingml/2006/main">
            <a:off x="1123950" y="2343150"/>
            <a:ext cx="3714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243B53"/>
                </a:solidFill>
              </a:defRPr>
            </a:pPr>
            <a:r>
              <a:rPr sz="1125" b="0">
                <a:solidFill>
                  <a:srgbClr val="243B53"/>
                </a:solidFill>
              </a:rPr>
              <a:t>科研项目从申报、审批到执行、结题通常跨越较长周期，人工跟踪成本高。</a:t>
            </a:r>
          </a:p>
        </p:txBody>
      </p:sp>
      <p:sp>
        <p:nvSpPr>
          <p:cNvPr id="13" name="">
            <a:extLst xmlns:a="http://schemas.openxmlformats.org/drawingml/2006/main">
              <a:ext uri="{FF2B5EF4-FFF2-40B4-BE49-F238E27FC236}">
                <a16:creationId xmlns:a16="http://schemas.microsoft.com/office/drawing/2014/main" id="{66C9C631-1F9F-489D-A651-509817460398}"/>
              </a:ext>
            </a:extLst>
          </p:cNvPr>
          <p:cNvSpPr>
            <a:spLocks xmlns:a="http://schemas.openxmlformats.org/drawingml/2006/main" noGrp="1"/>
          </p:cNvSpPr>
          <p:nvPr/>
        </p:nvSpPr>
        <p:spPr>
          <a:xfrm xmlns:a="http://schemas.openxmlformats.org/drawingml/2006/main">
            <a:off x="933450" y="30670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14" name="">
            <a:extLst xmlns:a="http://schemas.openxmlformats.org/drawingml/2006/main">
              <a:ext uri="{FF2B5EF4-FFF2-40B4-BE49-F238E27FC236}">
                <a16:creationId xmlns:a16="http://schemas.microsoft.com/office/drawing/2014/main" id="{D11796DF-C74C-412B-B5BE-48BF33282597}"/>
              </a:ext>
            </a:extLst>
          </p:cNvPr>
          <p:cNvSpPr>
            <a:spLocks xmlns:a="http://schemas.openxmlformats.org/drawingml/2006/main" noGrp="1"/>
          </p:cNvSpPr>
          <p:nvPr/>
        </p:nvSpPr>
        <p:spPr>
          <a:xfrm xmlns:a="http://schemas.openxmlformats.org/drawingml/2006/main">
            <a:off x="1123950" y="2990850"/>
            <a:ext cx="3714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243B53"/>
                </a:solidFill>
              </a:defRPr>
            </a:pPr>
            <a:r>
              <a:rPr sz="1125" b="0">
                <a:solidFill>
                  <a:srgbClr val="243B53"/>
                </a:solidFill>
              </a:rPr>
              <a:t>教师、审批人、财务管理员与系统管理员参与链路不同，权限边界必须明确。</a:t>
            </a:r>
          </a:p>
        </p:txBody>
      </p:sp>
      <p:sp>
        <p:nvSpPr>
          <p:cNvPr id="15" name="">
            <a:extLst xmlns:a="http://schemas.openxmlformats.org/drawingml/2006/main">
              <a:ext uri="{FF2B5EF4-FFF2-40B4-BE49-F238E27FC236}">
                <a16:creationId xmlns:a16="http://schemas.microsoft.com/office/drawing/2014/main" id="{CD489F82-2966-4572-BB3D-FE3D030B9B1A}"/>
              </a:ext>
            </a:extLst>
          </p:cNvPr>
          <p:cNvSpPr>
            <a:spLocks xmlns:a="http://schemas.openxmlformats.org/drawingml/2006/main" noGrp="1"/>
          </p:cNvSpPr>
          <p:nvPr/>
        </p:nvSpPr>
        <p:spPr>
          <a:xfrm xmlns:a="http://schemas.openxmlformats.org/drawingml/2006/main">
            <a:off x="933450" y="37147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16" name="">
            <a:extLst xmlns:a="http://schemas.openxmlformats.org/drawingml/2006/main">
              <a:ext uri="{FF2B5EF4-FFF2-40B4-BE49-F238E27FC236}">
                <a16:creationId xmlns:a16="http://schemas.microsoft.com/office/drawing/2014/main" id="{5DA909AF-E129-4CBF-AFD5-4C482312BC74}"/>
              </a:ext>
            </a:extLst>
          </p:cNvPr>
          <p:cNvSpPr>
            <a:spLocks xmlns:a="http://schemas.openxmlformats.org/drawingml/2006/main" noGrp="1"/>
          </p:cNvSpPr>
          <p:nvPr/>
        </p:nvSpPr>
        <p:spPr>
          <a:xfrm xmlns:a="http://schemas.openxmlformats.org/drawingml/2006/main">
            <a:off x="1123950" y="3638550"/>
            <a:ext cx="3714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243B53"/>
                </a:solidFill>
              </a:defRPr>
            </a:pPr>
            <a:r>
              <a:rPr sz="1125" b="0">
                <a:solidFill>
                  <a:srgbClr val="243B53"/>
                </a:solidFill>
              </a:rPr>
              <a:t>项目经费与报销常分散在不同表格或线下材料中，难以做到实时核对。</a:t>
            </a:r>
          </a:p>
        </p:txBody>
      </p:sp>
      <p:sp>
        <p:nvSpPr>
          <p:cNvPr id="17" name="">
            <a:extLst xmlns:a="http://schemas.openxmlformats.org/drawingml/2006/main">
              <a:ext uri="{FF2B5EF4-FFF2-40B4-BE49-F238E27FC236}">
                <a16:creationId xmlns:a16="http://schemas.microsoft.com/office/drawing/2014/main" id="{8EF1F192-BB17-4391-B958-4E3A8045B641}"/>
              </a:ext>
            </a:extLst>
          </p:cNvPr>
          <p:cNvSpPr>
            <a:spLocks xmlns:a="http://schemas.openxmlformats.org/drawingml/2006/main" noGrp="1"/>
          </p:cNvSpPr>
          <p:nvPr/>
        </p:nvSpPr>
        <p:spPr>
          <a:xfrm xmlns:a="http://schemas.openxmlformats.org/drawingml/2006/main">
            <a:off x="933450" y="43624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18" name="">
            <a:extLst xmlns:a="http://schemas.openxmlformats.org/drawingml/2006/main">
              <a:ext uri="{FF2B5EF4-FFF2-40B4-BE49-F238E27FC236}">
                <a16:creationId xmlns:a16="http://schemas.microsoft.com/office/drawing/2014/main" id="{8CBF7E4D-5605-4E63-9152-ABDCB9121DDB}"/>
              </a:ext>
            </a:extLst>
          </p:cNvPr>
          <p:cNvSpPr>
            <a:spLocks xmlns:a="http://schemas.openxmlformats.org/drawingml/2006/main" noGrp="1"/>
          </p:cNvSpPr>
          <p:nvPr/>
        </p:nvSpPr>
        <p:spPr>
          <a:xfrm xmlns:a="http://schemas.openxmlformats.org/drawingml/2006/main">
            <a:off x="1123950" y="4286250"/>
            <a:ext cx="37147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243B53"/>
                </a:solidFill>
              </a:defRPr>
            </a:pPr>
            <a:r>
              <a:rPr sz="1125" b="0">
                <a:solidFill>
                  <a:srgbClr val="243B53"/>
                </a:solidFill>
              </a:rPr>
              <a:t>结题后的成果记录若不及时归档，会削弱科研数据的沉淀价值。</a:t>
            </a:r>
          </a:p>
        </p:txBody>
      </p:sp>
      <p:sp>
        <p:nvSpPr>
          <p:cNvPr id="19" name="">
            <a:extLst xmlns:a="http://schemas.openxmlformats.org/drawingml/2006/main">
              <a:ext uri="{FF2B5EF4-FFF2-40B4-BE49-F238E27FC236}">
                <a16:creationId xmlns:a16="http://schemas.microsoft.com/office/drawing/2014/main" id="{96D2F996-7407-4D29-9D4A-149EA29BA52D}"/>
              </a:ext>
            </a:extLst>
          </p:cNvPr>
          <p:cNvSpPr>
            <a:spLocks xmlns:a="http://schemas.openxmlformats.org/drawingml/2006/main" noGrp="1"/>
          </p:cNvSpPr>
          <p:nvPr/>
        </p:nvSpPr>
        <p:spPr>
          <a:xfrm xmlns:a="http://schemas.openxmlformats.org/drawingml/2006/main">
            <a:off x="5524500" y="1809750"/>
            <a:ext cx="25527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2EC"/>
            </a:solidFill>
            <a:prstDash val="solid"/>
          </a:ln>
        </p:spPr>
      </p:sp>
      <p:sp>
        <p:nvSpPr>
          <p:cNvPr id="20" name="">
            <a:extLst xmlns:a="http://schemas.openxmlformats.org/drawingml/2006/main">
              <a:ext uri="{FF2B5EF4-FFF2-40B4-BE49-F238E27FC236}">
                <a16:creationId xmlns:a16="http://schemas.microsoft.com/office/drawing/2014/main" id="{118F22E4-6CFF-466E-9A3E-FB26C19D87E7}"/>
              </a:ext>
            </a:extLst>
          </p:cNvPr>
          <p:cNvSpPr>
            <a:spLocks xmlns:a="http://schemas.openxmlformats.org/drawingml/2006/main" noGrp="1"/>
          </p:cNvSpPr>
          <p:nvPr/>
        </p:nvSpPr>
        <p:spPr>
          <a:xfrm xmlns:a="http://schemas.openxmlformats.org/drawingml/2006/main">
            <a:off x="5524500" y="1809750"/>
            <a:ext cx="76200" cy="120015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231C160-CF16-4BAC-B63E-89CE58694C4A}"/>
              </a:ext>
            </a:extLst>
          </p:cNvPr>
          <p:cNvSpPr>
            <a:spLocks xmlns:a="http://schemas.openxmlformats.org/drawingml/2006/main" noGrp="1"/>
          </p:cNvSpPr>
          <p:nvPr/>
        </p:nvSpPr>
        <p:spPr>
          <a:xfrm xmlns:a="http://schemas.openxmlformats.org/drawingml/2006/main">
            <a:off x="5753100" y="20002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信息分散</a:t>
            </a:r>
          </a:p>
        </p:txBody>
      </p:sp>
      <p:sp>
        <p:nvSpPr>
          <p:cNvPr id="22" name="">
            <a:extLst xmlns:a="http://schemas.openxmlformats.org/drawingml/2006/main">
              <a:ext uri="{FF2B5EF4-FFF2-40B4-BE49-F238E27FC236}">
                <a16:creationId xmlns:a16="http://schemas.microsoft.com/office/drawing/2014/main" id="{10991D4B-5876-49E6-B279-947AD328CA13}"/>
              </a:ext>
            </a:extLst>
          </p:cNvPr>
          <p:cNvSpPr>
            <a:spLocks xmlns:a="http://schemas.openxmlformats.org/drawingml/2006/main" noGrp="1"/>
          </p:cNvSpPr>
          <p:nvPr/>
        </p:nvSpPr>
        <p:spPr>
          <a:xfrm xmlns:a="http://schemas.openxmlformats.org/drawingml/2006/main">
            <a:off x="5753100" y="228600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项目、经费、成果分别记录，数据不统一。</a:t>
            </a:r>
          </a:p>
        </p:txBody>
      </p:sp>
      <p:sp>
        <p:nvSpPr>
          <p:cNvPr id="23" name="">
            <a:extLst xmlns:a="http://schemas.openxmlformats.org/drawingml/2006/main">
              <a:ext uri="{FF2B5EF4-FFF2-40B4-BE49-F238E27FC236}">
                <a16:creationId xmlns:a16="http://schemas.microsoft.com/office/drawing/2014/main" id="{880B74F1-A5B9-4559-BEA5-797B22117D72}"/>
              </a:ext>
            </a:extLst>
          </p:cNvPr>
          <p:cNvSpPr>
            <a:spLocks xmlns:a="http://schemas.openxmlformats.org/drawingml/2006/main" noGrp="1"/>
          </p:cNvSpPr>
          <p:nvPr/>
        </p:nvSpPr>
        <p:spPr>
          <a:xfrm xmlns:a="http://schemas.openxmlformats.org/drawingml/2006/main">
            <a:off x="7200900" y="1981200"/>
            <a:ext cx="6858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B5739D6-3732-43E7-9CA0-C6AC282F84A6}"/>
              </a:ext>
            </a:extLst>
          </p:cNvPr>
          <p:cNvSpPr>
            <a:spLocks xmlns:a="http://schemas.openxmlformats.org/drawingml/2006/main" noGrp="1"/>
          </p:cNvSpPr>
          <p:nvPr/>
        </p:nvSpPr>
        <p:spPr>
          <a:xfrm xmlns:a="http://schemas.openxmlformats.org/drawingml/2006/main">
            <a:off x="7315200" y="20193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核心痛点</a:t>
            </a:r>
          </a:p>
        </p:txBody>
      </p:sp>
      <p:sp>
        <p:nvSpPr>
          <p:cNvPr id="25" name="">
            <a:extLst xmlns:a="http://schemas.openxmlformats.org/drawingml/2006/main">
              <a:ext uri="{FF2B5EF4-FFF2-40B4-BE49-F238E27FC236}">
                <a16:creationId xmlns:a16="http://schemas.microsoft.com/office/drawing/2014/main" id="{827DF930-41FD-46D5-B2C3-556B45A83EF8}"/>
              </a:ext>
            </a:extLst>
          </p:cNvPr>
          <p:cNvSpPr>
            <a:spLocks xmlns:a="http://schemas.openxmlformats.org/drawingml/2006/main" noGrp="1"/>
          </p:cNvSpPr>
          <p:nvPr/>
        </p:nvSpPr>
        <p:spPr>
          <a:xfrm xmlns:a="http://schemas.openxmlformats.org/drawingml/2006/main">
            <a:off x="8382000" y="1809750"/>
            <a:ext cx="25527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2EC"/>
            </a:solidFill>
            <a:prstDash val="solid"/>
          </a:ln>
        </p:spPr>
      </p:sp>
      <p:sp>
        <p:nvSpPr>
          <p:cNvPr id="26" name="">
            <a:extLst xmlns:a="http://schemas.openxmlformats.org/drawingml/2006/main">
              <a:ext uri="{FF2B5EF4-FFF2-40B4-BE49-F238E27FC236}">
                <a16:creationId xmlns:a16="http://schemas.microsoft.com/office/drawing/2014/main" id="{EAA7C21A-68D7-4E0A-8616-34F58C9C4F73}"/>
              </a:ext>
            </a:extLst>
          </p:cNvPr>
          <p:cNvSpPr>
            <a:spLocks xmlns:a="http://schemas.openxmlformats.org/drawingml/2006/main" noGrp="1"/>
          </p:cNvSpPr>
          <p:nvPr/>
        </p:nvSpPr>
        <p:spPr>
          <a:xfrm xmlns:a="http://schemas.openxmlformats.org/drawingml/2006/main">
            <a:off x="8382000" y="1809750"/>
            <a:ext cx="76200" cy="120015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CACB56C4-CDE9-423B-9BC0-3D0A9A4B3C91}"/>
              </a:ext>
            </a:extLst>
          </p:cNvPr>
          <p:cNvSpPr>
            <a:spLocks xmlns:a="http://schemas.openxmlformats.org/drawingml/2006/main" noGrp="1"/>
          </p:cNvSpPr>
          <p:nvPr/>
        </p:nvSpPr>
        <p:spPr>
          <a:xfrm xmlns:a="http://schemas.openxmlformats.org/drawingml/2006/main">
            <a:off x="8610600" y="20002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流程冗长</a:t>
            </a:r>
          </a:p>
        </p:txBody>
      </p:sp>
      <p:sp>
        <p:nvSpPr>
          <p:cNvPr id="28" name="">
            <a:extLst xmlns:a="http://schemas.openxmlformats.org/drawingml/2006/main">
              <a:ext uri="{FF2B5EF4-FFF2-40B4-BE49-F238E27FC236}">
                <a16:creationId xmlns:a16="http://schemas.microsoft.com/office/drawing/2014/main" id="{75D283B4-5786-4A35-B14F-D550089DC296}"/>
              </a:ext>
            </a:extLst>
          </p:cNvPr>
          <p:cNvSpPr>
            <a:spLocks xmlns:a="http://schemas.openxmlformats.org/drawingml/2006/main" noGrp="1"/>
          </p:cNvSpPr>
          <p:nvPr/>
        </p:nvSpPr>
        <p:spPr>
          <a:xfrm xmlns:a="http://schemas.openxmlformats.org/drawingml/2006/main">
            <a:off x="8610600" y="228600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审批节点多，状态流转容易遗漏。</a:t>
            </a:r>
          </a:p>
        </p:txBody>
      </p:sp>
      <p:sp>
        <p:nvSpPr>
          <p:cNvPr id="29" name="">
            <a:extLst xmlns:a="http://schemas.openxmlformats.org/drawingml/2006/main">
              <a:ext uri="{FF2B5EF4-FFF2-40B4-BE49-F238E27FC236}">
                <a16:creationId xmlns:a16="http://schemas.microsoft.com/office/drawing/2014/main" id="{AFFE81E8-3FC6-49C4-9774-EA7FBF4FA25E}"/>
              </a:ext>
            </a:extLst>
          </p:cNvPr>
          <p:cNvSpPr>
            <a:spLocks xmlns:a="http://schemas.openxmlformats.org/drawingml/2006/main" noGrp="1"/>
          </p:cNvSpPr>
          <p:nvPr/>
        </p:nvSpPr>
        <p:spPr>
          <a:xfrm xmlns:a="http://schemas.openxmlformats.org/drawingml/2006/main">
            <a:off x="10058400" y="1981200"/>
            <a:ext cx="6858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F237CF9C-DE86-4A6C-8652-750116773FAE}"/>
              </a:ext>
            </a:extLst>
          </p:cNvPr>
          <p:cNvSpPr>
            <a:spLocks xmlns:a="http://schemas.openxmlformats.org/drawingml/2006/main" noGrp="1"/>
          </p:cNvSpPr>
          <p:nvPr/>
        </p:nvSpPr>
        <p:spPr>
          <a:xfrm xmlns:a="http://schemas.openxmlformats.org/drawingml/2006/main">
            <a:off x="10172700" y="20193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核心痛点</a:t>
            </a:r>
          </a:p>
        </p:txBody>
      </p:sp>
      <p:sp>
        <p:nvSpPr>
          <p:cNvPr id="31" name="">
            <a:extLst xmlns:a="http://schemas.openxmlformats.org/drawingml/2006/main">
              <a:ext uri="{FF2B5EF4-FFF2-40B4-BE49-F238E27FC236}">
                <a16:creationId xmlns:a16="http://schemas.microsoft.com/office/drawing/2014/main" id="{29577400-F343-4BF9-9BE9-868F10426340}"/>
              </a:ext>
            </a:extLst>
          </p:cNvPr>
          <p:cNvSpPr>
            <a:spLocks xmlns:a="http://schemas.openxmlformats.org/drawingml/2006/main" noGrp="1"/>
          </p:cNvSpPr>
          <p:nvPr/>
        </p:nvSpPr>
        <p:spPr>
          <a:xfrm xmlns:a="http://schemas.openxmlformats.org/drawingml/2006/main">
            <a:off x="5524500" y="3238500"/>
            <a:ext cx="25527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2EC"/>
            </a:solidFill>
            <a:prstDash val="solid"/>
          </a:ln>
        </p:spPr>
      </p:sp>
      <p:sp>
        <p:nvSpPr>
          <p:cNvPr id="32" name="">
            <a:extLst xmlns:a="http://schemas.openxmlformats.org/drawingml/2006/main">
              <a:ext uri="{FF2B5EF4-FFF2-40B4-BE49-F238E27FC236}">
                <a16:creationId xmlns:a16="http://schemas.microsoft.com/office/drawing/2014/main" id="{B4799CC3-C2DD-4B5A-936F-DEBEFFE125FF}"/>
              </a:ext>
            </a:extLst>
          </p:cNvPr>
          <p:cNvSpPr>
            <a:spLocks xmlns:a="http://schemas.openxmlformats.org/drawingml/2006/main" noGrp="1"/>
          </p:cNvSpPr>
          <p:nvPr/>
        </p:nvSpPr>
        <p:spPr>
          <a:xfrm xmlns:a="http://schemas.openxmlformats.org/drawingml/2006/main">
            <a:off x="5524500" y="3238500"/>
            <a:ext cx="76200" cy="120015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7B6606FB-ABAA-4698-A044-4BDB31AC25F6}"/>
              </a:ext>
            </a:extLst>
          </p:cNvPr>
          <p:cNvSpPr>
            <a:spLocks xmlns:a="http://schemas.openxmlformats.org/drawingml/2006/main" noGrp="1"/>
          </p:cNvSpPr>
          <p:nvPr/>
        </p:nvSpPr>
        <p:spPr>
          <a:xfrm xmlns:a="http://schemas.openxmlformats.org/drawingml/2006/main">
            <a:off x="5753100" y="342900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追踪困难</a:t>
            </a:r>
          </a:p>
        </p:txBody>
      </p:sp>
      <p:sp>
        <p:nvSpPr>
          <p:cNvPr id="34" name="">
            <a:extLst xmlns:a="http://schemas.openxmlformats.org/drawingml/2006/main">
              <a:ext uri="{FF2B5EF4-FFF2-40B4-BE49-F238E27FC236}">
                <a16:creationId xmlns:a16="http://schemas.microsoft.com/office/drawing/2014/main" id="{C3C72561-A8EC-458B-9A03-C262F045862E}"/>
              </a:ext>
            </a:extLst>
          </p:cNvPr>
          <p:cNvSpPr>
            <a:spLocks xmlns:a="http://schemas.openxmlformats.org/drawingml/2006/main" noGrp="1"/>
          </p:cNvSpPr>
          <p:nvPr/>
        </p:nvSpPr>
        <p:spPr>
          <a:xfrm xmlns:a="http://schemas.openxmlformats.org/drawingml/2006/main">
            <a:off x="5753100" y="37147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教师难以掌握当前阶段和待提交材料。</a:t>
            </a:r>
          </a:p>
        </p:txBody>
      </p:sp>
      <p:sp>
        <p:nvSpPr>
          <p:cNvPr id="35" name="">
            <a:extLst xmlns:a="http://schemas.openxmlformats.org/drawingml/2006/main">
              <a:ext uri="{FF2B5EF4-FFF2-40B4-BE49-F238E27FC236}">
                <a16:creationId xmlns:a16="http://schemas.microsoft.com/office/drawing/2014/main" id="{9E166FE9-C9A0-4319-877D-3D8DC0FE2E19}"/>
              </a:ext>
            </a:extLst>
          </p:cNvPr>
          <p:cNvSpPr>
            <a:spLocks xmlns:a="http://schemas.openxmlformats.org/drawingml/2006/main" noGrp="1"/>
          </p:cNvSpPr>
          <p:nvPr/>
        </p:nvSpPr>
        <p:spPr>
          <a:xfrm xmlns:a="http://schemas.openxmlformats.org/drawingml/2006/main">
            <a:off x="7200900" y="3409950"/>
            <a:ext cx="685800" cy="266700"/>
          </a:xfrm>
          <a:prstGeom xmlns:a="http://schemas.openxmlformats.org/drawingml/2006/main" prst="roundRect">
            <a:avLst>
              <a:gd name="adj" fmla="val 2857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F7CDE0EF-3F6E-4652-A8AE-547F5A35423A}"/>
              </a:ext>
            </a:extLst>
          </p:cNvPr>
          <p:cNvSpPr>
            <a:spLocks xmlns:a="http://schemas.openxmlformats.org/drawingml/2006/main" noGrp="1"/>
          </p:cNvSpPr>
          <p:nvPr/>
        </p:nvSpPr>
        <p:spPr>
          <a:xfrm xmlns:a="http://schemas.openxmlformats.org/drawingml/2006/main">
            <a:off x="7315200" y="344805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1765B"/>
                </a:solidFill>
              </a:defRPr>
            </a:pPr>
            <a:r>
              <a:rPr sz="900" b="1">
                <a:solidFill>
                  <a:srgbClr val="F1765B"/>
                </a:solidFill>
              </a:rPr>
              <a:t>核心痛点</a:t>
            </a:r>
          </a:p>
        </p:txBody>
      </p:sp>
      <p:sp>
        <p:nvSpPr>
          <p:cNvPr id="37" name="">
            <a:extLst xmlns:a="http://schemas.openxmlformats.org/drawingml/2006/main">
              <a:ext uri="{FF2B5EF4-FFF2-40B4-BE49-F238E27FC236}">
                <a16:creationId xmlns:a16="http://schemas.microsoft.com/office/drawing/2014/main" id="{7B3EC98D-D7CE-4DDB-A5E3-1F609B1BBDA0}"/>
              </a:ext>
            </a:extLst>
          </p:cNvPr>
          <p:cNvSpPr>
            <a:spLocks xmlns:a="http://schemas.openxmlformats.org/drawingml/2006/main" noGrp="1"/>
          </p:cNvSpPr>
          <p:nvPr/>
        </p:nvSpPr>
        <p:spPr>
          <a:xfrm xmlns:a="http://schemas.openxmlformats.org/drawingml/2006/main">
            <a:off x="8382000" y="3238500"/>
            <a:ext cx="25527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9E2EC"/>
            </a:solidFill>
            <a:prstDash val="solid"/>
          </a:ln>
        </p:spPr>
      </p:sp>
      <p:sp>
        <p:nvSpPr>
          <p:cNvPr id="38" name="">
            <a:extLst xmlns:a="http://schemas.openxmlformats.org/drawingml/2006/main">
              <a:ext uri="{FF2B5EF4-FFF2-40B4-BE49-F238E27FC236}">
                <a16:creationId xmlns:a16="http://schemas.microsoft.com/office/drawing/2014/main" id="{F6A72532-0514-47BB-93D9-F876B28810DB}"/>
              </a:ext>
            </a:extLst>
          </p:cNvPr>
          <p:cNvSpPr>
            <a:spLocks xmlns:a="http://schemas.openxmlformats.org/drawingml/2006/main" noGrp="1"/>
          </p:cNvSpPr>
          <p:nvPr/>
        </p:nvSpPr>
        <p:spPr>
          <a:xfrm xmlns:a="http://schemas.openxmlformats.org/drawingml/2006/main">
            <a:off x="8382000" y="3238500"/>
            <a:ext cx="76200" cy="1200150"/>
          </a:xfrm>
          <a:prstGeom xmlns:a="http://schemas.openxmlformats.org/drawingml/2006/main" prst="rect">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76CF6710-DD08-4CDD-A08B-EC788AD3D0B2}"/>
              </a:ext>
            </a:extLst>
          </p:cNvPr>
          <p:cNvSpPr>
            <a:spLocks xmlns:a="http://schemas.openxmlformats.org/drawingml/2006/main" noGrp="1"/>
          </p:cNvSpPr>
          <p:nvPr/>
        </p:nvSpPr>
        <p:spPr>
          <a:xfrm xmlns:a="http://schemas.openxmlformats.org/drawingml/2006/main">
            <a:off x="8610600" y="342900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沉淀不足</a:t>
            </a:r>
          </a:p>
        </p:txBody>
      </p:sp>
      <p:sp>
        <p:nvSpPr>
          <p:cNvPr id="40" name="">
            <a:extLst xmlns:a="http://schemas.openxmlformats.org/drawingml/2006/main">
              <a:ext uri="{FF2B5EF4-FFF2-40B4-BE49-F238E27FC236}">
                <a16:creationId xmlns:a16="http://schemas.microsoft.com/office/drawing/2014/main" id="{1CF48F1F-2F02-49D5-93E2-31A2954B5461}"/>
              </a:ext>
            </a:extLst>
          </p:cNvPr>
          <p:cNvSpPr>
            <a:spLocks xmlns:a="http://schemas.openxmlformats.org/drawingml/2006/main" noGrp="1"/>
          </p:cNvSpPr>
          <p:nvPr/>
        </p:nvSpPr>
        <p:spPr>
          <a:xfrm xmlns:a="http://schemas.openxmlformats.org/drawingml/2006/main">
            <a:off x="8610600" y="37147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项目完成后成果统计与复用能力偏弱。</a:t>
            </a:r>
          </a:p>
        </p:txBody>
      </p:sp>
      <p:sp>
        <p:nvSpPr>
          <p:cNvPr id="41" name="">
            <a:extLst xmlns:a="http://schemas.openxmlformats.org/drawingml/2006/main">
              <a:ext uri="{FF2B5EF4-FFF2-40B4-BE49-F238E27FC236}">
                <a16:creationId xmlns:a16="http://schemas.microsoft.com/office/drawing/2014/main" id="{E2ADCC04-7244-4EE3-83D0-C4CDF45F2826}"/>
              </a:ext>
            </a:extLst>
          </p:cNvPr>
          <p:cNvSpPr>
            <a:spLocks xmlns:a="http://schemas.openxmlformats.org/drawingml/2006/main" noGrp="1"/>
          </p:cNvSpPr>
          <p:nvPr/>
        </p:nvSpPr>
        <p:spPr>
          <a:xfrm xmlns:a="http://schemas.openxmlformats.org/drawingml/2006/main">
            <a:off x="10058400" y="3409950"/>
            <a:ext cx="6858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E3D1B5A-ECBA-4295-9180-A2F67F618FEB}"/>
              </a:ext>
            </a:extLst>
          </p:cNvPr>
          <p:cNvSpPr>
            <a:spLocks xmlns:a="http://schemas.openxmlformats.org/drawingml/2006/main" noGrp="1"/>
          </p:cNvSpPr>
          <p:nvPr/>
        </p:nvSpPr>
        <p:spPr>
          <a:xfrm xmlns:a="http://schemas.openxmlformats.org/drawingml/2006/main">
            <a:off x="10172700" y="344805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核心痛点</a:t>
            </a:r>
          </a:p>
        </p:txBody>
      </p:sp>
      <p:sp>
        <p:nvSpPr>
          <p:cNvPr id="43" name="">
            <a:extLst xmlns:a="http://schemas.openxmlformats.org/drawingml/2006/main">
              <a:ext uri="{FF2B5EF4-FFF2-40B4-BE49-F238E27FC236}">
                <a16:creationId xmlns:a16="http://schemas.microsoft.com/office/drawing/2014/main" id="{E07EDC82-514E-4D9C-999E-207BEAACAA25}"/>
              </a:ext>
            </a:extLst>
          </p:cNvPr>
          <p:cNvSpPr>
            <a:spLocks xmlns:a="http://schemas.openxmlformats.org/drawingml/2006/main" noGrp="1"/>
          </p:cNvSpPr>
          <p:nvPr/>
        </p:nvSpPr>
        <p:spPr>
          <a:xfrm xmlns:a="http://schemas.openxmlformats.org/drawingml/2006/main">
            <a:off x="5524500" y="4857750"/>
            <a:ext cx="5295900" cy="876300"/>
          </a:xfrm>
          <a:prstGeom xmlns:a="http://schemas.openxmlformats.org/drawingml/2006/main" prst="roundRect">
            <a:avLst>
              <a:gd name="adj" fmla="val 8696"/>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175A0720-13B2-40BD-A118-44BA6D2DD206}"/>
              </a:ext>
            </a:extLst>
          </p:cNvPr>
          <p:cNvSpPr>
            <a:spLocks xmlns:a="http://schemas.openxmlformats.org/drawingml/2006/main" noGrp="1"/>
          </p:cNvSpPr>
          <p:nvPr/>
        </p:nvSpPr>
        <p:spPr>
          <a:xfrm xmlns:a="http://schemas.openxmlformats.org/drawingml/2006/main">
            <a:off x="5772150" y="506730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defRPr>
            </a:pPr>
            <a:r>
              <a:rPr sz="1350" b="1">
                <a:solidFill>
                  <a:srgbClr val="FFFFFF"/>
                </a:solidFill>
              </a:rPr>
              <a:t>选题意义</a:t>
            </a:r>
          </a:p>
        </p:txBody>
      </p:sp>
      <p:sp>
        <p:nvSpPr>
          <p:cNvPr id="45" name="">
            <a:extLst xmlns:a="http://schemas.openxmlformats.org/drawingml/2006/main">
              <a:ext uri="{FF2B5EF4-FFF2-40B4-BE49-F238E27FC236}">
                <a16:creationId xmlns:a16="http://schemas.microsoft.com/office/drawing/2014/main" id="{029E0FF5-2342-4FD9-A784-5B34274DBE22}"/>
              </a:ext>
            </a:extLst>
          </p:cNvPr>
          <p:cNvSpPr>
            <a:spLocks xmlns:a="http://schemas.openxmlformats.org/drawingml/2006/main" noGrp="1"/>
          </p:cNvSpPr>
          <p:nvPr/>
        </p:nvSpPr>
        <p:spPr>
          <a:xfrm xmlns:a="http://schemas.openxmlformats.org/drawingml/2006/main">
            <a:off x="5772150" y="5314950"/>
            <a:ext cx="466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9F7F4"/>
                </a:solidFill>
              </a:defRPr>
            </a:pPr>
            <a:r>
              <a:rPr sz="975" b="0">
                <a:solidFill>
                  <a:srgbClr val="D9F7F4"/>
                </a:solidFill>
              </a:rPr>
              <a:t>以项目为主线，将“权限控制、流程审批、经费报销、成果归档”串联为一个统一的科研业务闭环。</a:t>
            </a:r>
          </a:p>
        </p:txBody>
      </p:sp>
    </p:spTree>
    <p:extLst>
      <p:ext uri="{BB962C8B-B14F-4D97-AF65-F5344CB8AC3E}">
        <p14:creationId xmlns:p14="http://schemas.microsoft.com/office/powerpoint/2010/main" val="2034563200"/>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CC0BD71-5E96-4F75-97C7-4681B16988AF}"/>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1C6A520-EC7A-4DE4-A1F3-67CCAA9C955B}"/>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99924CC-D176-42AF-A919-E110BC01BD4F}"/>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REQUIREMENTS</a:t>
            </a:r>
          </a:p>
        </p:txBody>
      </p:sp>
      <p:sp>
        <p:nvSpPr>
          <p:cNvPr id="5" name="">
            <a:extLst xmlns:a="http://schemas.openxmlformats.org/drawingml/2006/main">
              <a:ext uri="{FF2B5EF4-FFF2-40B4-BE49-F238E27FC236}">
                <a16:creationId xmlns:a16="http://schemas.microsoft.com/office/drawing/2014/main" id="{BD887C8D-DA3B-4613-A550-67D1B24B39D3}"/>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04</a:t>
            </a:r>
          </a:p>
        </p:txBody>
      </p:sp>
      <p:sp>
        <p:nvSpPr>
          <p:cNvPr id="6" name="">
            <a:extLst xmlns:a="http://schemas.openxmlformats.org/drawingml/2006/main">
              <a:ext uri="{FF2B5EF4-FFF2-40B4-BE49-F238E27FC236}">
                <a16:creationId xmlns:a16="http://schemas.microsoft.com/office/drawing/2014/main" id="{C7A1DC2D-03AF-4065-AE18-4F059B86BCF0}"/>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需求分析与建设目标</a:t>
            </a:r>
          </a:p>
        </p:txBody>
      </p:sp>
      <p:sp>
        <p:nvSpPr>
          <p:cNvPr id="7" name="">
            <a:extLst xmlns:a="http://schemas.openxmlformats.org/drawingml/2006/main">
              <a:ext uri="{FF2B5EF4-FFF2-40B4-BE49-F238E27FC236}">
                <a16:creationId xmlns:a16="http://schemas.microsoft.com/office/drawing/2014/main" id="{0BF6989F-3A99-43A5-852E-8D40BA077F7A}"/>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围绕核心角色、业务闭环与系统质量要求，明确本科毕设实现边界。</a:t>
            </a:r>
          </a:p>
        </p:txBody>
      </p:sp>
      <p:sp>
        <p:nvSpPr>
          <p:cNvPr id="8" name="">
            <a:extLst xmlns:a="http://schemas.openxmlformats.org/drawingml/2006/main">
              <a:ext uri="{FF2B5EF4-FFF2-40B4-BE49-F238E27FC236}">
                <a16:creationId xmlns:a16="http://schemas.microsoft.com/office/drawing/2014/main" id="{0A611266-18AC-4B26-BCD7-081EB12C36BC}"/>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32DFBAD-94D7-4B64-9F60-99871B17E228}"/>
              </a:ext>
            </a:extLst>
          </p:cNvPr>
          <p:cNvSpPr>
            <a:spLocks xmlns:a="http://schemas.openxmlformats.org/drawingml/2006/main" noGrp="1"/>
          </p:cNvSpPr>
          <p:nvPr/>
        </p:nvSpPr>
        <p:spPr>
          <a:xfrm xmlns:a="http://schemas.openxmlformats.org/drawingml/2006/main">
            <a:off x="685800" y="1771650"/>
            <a:ext cx="24003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0CB5B75D-09BA-47B8-B30D-E295CED7EBD3}"/>
              </a:ext>
            </a:extLst>
          </p:cNvPr>
          <p:cNvSpPr>
            <a:spLocks xmlns:a="http://schemas.openxmlformats.org/drawingml/2006/main" noGrp="1"/>
          </p:cNvSpPr>
          <p:nvPr/>
        </p:nvSpPr>
        <p:spPr>
          <a:xfrm xmlns:a="http://schemas.openxmlformats.org/drawingml/2006/main">
            <a:off x="895350" y="1962150"/>
            <a:ext cx="381000" cy="381000"/>
          </a:xfrm>
          <a:prstGeom xmlns:a="http://schemas.openxmlformats.org/drawingml/2006/main" prst="ellipse">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0AEC728-3B77-4A5B-A9A4-2128090FB3AE}"/>
              </a:ext>
            </a:extLst>
          </p:cNvPr>
          <p:cNvSpPr>
            <a:spLocks xmlns:a="http://schemas.openxmlformats.org/drawingml/2006/main" noGrp="1"/>
          </p:cNvSpPr>
          <p:nvPr/>
        </p:nvSpPr>
        <p:spPr>
          <a:xfrm xmlns:a="http://schemas.openxmlformats.org/drawingml/2006/main">
            <a:off x="895350" y="20669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18B6B0"/>
                </a:solidFill>
              </a:defRPr>
            </a:pPr>
            <a:r>
              <a:rPr sz="1125" b="1">
                <a:solidFill>
                  <a:srgbClr val="18B6B0"/>
                </a:solidFill>
              </a:rPr>
              <a:t>1</a:t>
            </a:r>
          </a:p>
        </p:txBody>
      </p:sp>
      <p:sp>
        <p:nvSpPr>
          <p:cNvPr id="12" name="">
            <a:extLst xmlns:a="http://schemas.openxmlformats.org/drawingml/2006/main">
              <a:ext uri="{FF2B5EF4-FFF2-40B4-BE49-F238E27FC236}">
                <a16:creationId xmlns:a16="http://schemas.microsoft.com/office/drawing/2014/main" id="{1A234CB2-C762-4556-8B8B-FB8A06CBE5FB}"/>
              </a:ext>
            </a:extLst>
          </p:cNvPr>
          <p:cNvSpPr>
            <a:spLocks xmlns:a="http://schemas.openxmlformats.org/drawingml/2006/main" noGrp="1"/>
          </p:cNvSpPr>
          <p:nvPr/>
        </p:nvSpPr>
        <p:spPr>
          <a:xfrm xmlns:a="http://schemas.openxmlformats.org/drawingml/2006/main">
            <a:off x="1409700" y="19621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系统管理员</a:t>
            </a:r>
          </a:p>
        </p:txBody>
      </p:sp>
      <p:sp>
        <p:nvSpPr>
          <p:cNvPr id="13" name="">
            <a:extLst xmlns:a="http://schemas.openxmlformats.org/drawingml/2006/main">
              <a:ext uri="{FF2B5EF4-FFF2-40B4-BE49-F238E27FC236}">
                <a16:creationId xmlns:a16="http://schemas.microsoft.com/office/drawing/2014/main" id="{A9D67C6D-92A1-415B-AAD9-D5D8E36A969E}"/>
              </a:ext>
            </a:extLst>
          </p:cNvPr>
          <p:cNvSpPr>
            <a:spLocks xmlns:a="http://schemas.openxmlformats.org/drawingml/2006/main" noGrp="1"/>
          </p:cNvSpPr>
          <p:nvPr/>
        </p:nvSpPr>
        <p:spPr>
          <a:xfrm xmlns:a="http://schemas.openxmlformats.org/drawingml/2006/main">
            <a:off x="1409700" y="2228850"/>
            <a:ext cx="1428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负责用户、角色、部门和全局配置维护。</a:t>
            </a:r>
          </a:p>
        </p:txBody>
      </p:sp>
      <p:sp>
        <p:nvSpPr>
          <p:cNvPr id="14" name="">
            <a:extLst xmlns:a="http://schemas.openxmlformats.org/drawingml/2006/main">
              <a:ext uri="{FF2B5EF4-FFF2-40B4-BE49-F238E27FC236}">
                <a16:creationId xmlns:a16="http://schemas.microsoft.com/office/drawing/2014/main" id="{2707F833-E287-4765-A77D-E8655B1ED225}"/>
              </a:ext>
            </a:extLst>
          </p:cNvPr>
          <p:cNvSpPr>
            <a:spLocks xmlns:a="http://schemas.openxmlformats.org/drawingml/2006/main" noGrp="1"/>
          </p:cNvSpPr>
          <p:nvPr/>
        </p:nvSpPr>
        <p:spPr>
          <a:xfrm xmlns:a="http://schemas.openxmlformats.org/drawingml/2006/main">
            <a:off x="3448050" y="1771650"/>
            <a:ext cx="24003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9E2EC"/>
            </a:solidFill>
            <a:prstDash val="solid"/>
          </a:ln>
        </p:spPr>
      </p:sp>
      <p:sp>
        <p:nvSpPr>
          <p:cNvPr id="15" name="">
            <a:extLst xmlns:a="http://schemas.openxmlformats.org/drawingml/2006/main">
              <a:ext uri="{FF2B5EF4-FFF2-40B4-BE49-F238E27FC236}">
                <a16:creationId xmlns:a16="http://schemas.microsoft.com/office/drawing/2014/main" id="{8C192841-4291-4AB4-836E-523C3502C507}"/>
              </a:ext>
            </a:extLst>
          </p:cNvPr>
          <p:cNvSpPr>
            <a:spLocks xmlns:a="http://schemas.openxmlformats.org/drawingml/2006/main" noGrp="1"/>
          </p:cNvSpPr>
          <p:nvPr/>
        </p:nvSpPr>
        <p:spPr>
          <a:xfrm xmlns:a="http://schemas.openxmlformats.org/drawingml/2006/main">
            <a:off x="3657600" y="19621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64E7773-04AF-48AD-95EA-A936BE62EFA2}"/>
              </a:ext>
            </a:extLst>
          </p:cNvPr>
          <p:cNvSpPr>
            <a:spLocks xmlns:a="http://schemas.openxmlformats.org/drawingml/2006/main" noGrp="1"/>
          </p:cNvSpPr>
          <p:nvPr/>
        </p:nvSpPr>
        <p:spPr>
          <a:xfrm xmlns:a="http://schemas.openxmlformats.org/drawingml/2006/main">
            <a:off x="3657600" y="20669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2B35E"/>
                </a:solidFill>
              </a:defRPr>
            </a:pPr>
            <a:r>
              <a:rPr sz="1125" b="1">
                <a:solidFill>
                  <a:srgbClr val="F2B35E"/>
                </a:solidFill>
              </a:rPr>
              <a:t>2</a:t>
            </a:r>
          </a:p>
        </p:txBody>
      </p:sp>
      <p:sp>
        <p:nvSpPr>
          <p:cNvPr id="17" name="">
            <a:extLst xmlns:a="http://schemas.openxmlformats.org/drawingml/2006/main">
              <a:ext uri="{FF2B5EF4-FFF2-40B4-BE49-F238E27FC236}">
                <a16:creationId xmlns:a16="http://schemas.microsoft.com/office/drawing/2014/main" id="{233FE8FA-60D0-4AD7-9950-1BAB96410C98}"/>
              </a:ext>
            </a:extLst>
          </p:cNvPr>
          <p:cNvSpPr>
            <a:spLocks xmlns:a="http://schemas.openxmlformats.org/drawingml/2006/main" noGrp="1"/>
          </p:cNvSpPr>
          <p:nvPr/>
        </p:nvSpPr>
        <p:spPr>
          <a:xfrm xmlns:a="http://schemas.openxmlformats.org/drawingml/2006/main">
            <a:off x="4171950" y="19621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教师用户</a:t>
            </a:r>
          </a:p>
        </p:txBody>
      </p:sp>
      <p:sp>
        <p:nvSpPr>
          <p:cNvPr id="18" name="">
            <a:extLst xmlns:a="http://schemas.openxmlformats.org/drawingml/2006/main">
              <a:ext uri="{FF2B5EF4-FFF2-40B4-BE49-F238E27FC236}">
                <a16:creationId xmlns:a16="http://schemas.microsoft.com/office/drawing/2014/main" id="{25B48DBC-0889-4E2C-AF14-3D5FE2047480}"/>
              </a:ext>
            </a:extLst>
          </p:cNvPr>
          <p:cNvSpPr>
            <a:spLocks xmlns:a="http://schemas.openxmlformats.org/drawingml/2006/main" noGrp="1"/>
          </p:cNvSpPr>
          <p:nvPr/>
        </p:nvSpPr>
        <p:spPr>
          <a:xfrm xmlns:a="http://schemas.openxmlformats.org/drawingml/2006/main">
            <a:off x="4171950" y="2228850"/>
            <a:ext cx="1428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负责项目申报、阶段提交、成果录入等业务。</a:t>
            </a:r>
          </a:p>
        </p:txBody>
      </p:sp>
      <p:sp>
        <p:nvSpPr>
          <p:cNvPr id="19" name="">
            <a:extLst xmlns:a="http://schemas.openxmlformats.org/drawingml/2006/main">
              <a:ext uri="{FF2B5EF4-FFF2-40B4-BE49-F238E27FC236}">
                <a16:creationId xmlns:a16="http://schemas.microsoft.com/office/drawing/2014/main" id="{AFA7061A-4A15-4966-A1EA-DD63C53B8A7A}"/>
              </a:ext>
            </a:extLst>
          </p:cNvPr>
          <p:cNvSpPr>
            <a:spLocks xmlns:a="http://schemas.openxmlformats.org/drawingml/2006/main" noGrp="1"/>
          </p:cNvSpPr>
          <p:nvPr/>
        </p:nvSpPr>
        <p:spPr>
          <a:xfrm xmlns:a="http://schemas.openxmlformats.org/drawingml/2006/main">
            <a:off x="6210300" y="1771650"/>
            <a:ext cx="24003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9E2EC"/>
            </a:solidFill>
            <a:prstDash val="solid"/>
          </a:ln>
        </p:spPr>
      </p:sp>
      <p:sp>
        <p:nvSpPr>
          <p:cNvPr id="20" name="">
            <a:extLst xmlns:a="http://schemas.openxmlformats.org/drawingml/2006/main">
              <a:ext uri="{FF2B5EF4-FFF2-40B4-BE49-F238E27FC236}">
                <a16:creationId xmlns:a16="http://schemas.microsoft.com/office/drawing/2014/main" id="{0FE8EC63-6EB1-4CAD-9A87-3C5B2021BFE3}"/>
              </a:ext>
            </a:extLst>
          </p:cNvPr>
          <p:cNvSpPr>
            <a:spLocks xmlns:a="http://schemas.openxmlformats.org/drawingml/2006/main" noGrp="1"/>
          </p:cNvSpPr>
          <p:nvPr/>
        </p:nvSpPr>
        <p:spPr>
          <a:xfrm xmlns:a="http://schemas.openxmlformats.org/drawingml/2006/main">
            <a:off x="6419850" y="1962150"/>
            <a:ext cx="381000" cy="381000"/>
          </a:xfrm>
          <a:prstGeom xmlns:a="http://schemas.openxmlformats.org/drawingml/2006/main" prst="ellipse">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7E10021-9C7E-43FB-93C4-2690D3231925}"/>
              </a:ext>
            </a:extLst>
          </p:cNvPr>
          <p:cNvSpPr>
            <a:spLocks xmlns:a="http://schemas.openxmlformats.org/drawingml/2006/main" noGrp="1"/>
          </p:cNvSpPr>
          <p:nvPr/>
        </p:nvSpPr>
        <p:spPr>
          <a:xfrm xmlns:a="http://schemas.openxmlformats.org/drawingml/2006/main">
            <a:off x="6419850" y="20669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1765B"/>
                </a:solidFill>
              </a:defRPr>
            </a:pPr>
            <a:r>
              <a:rPr sz="1125" b="1">
                <a:solidFill>
                  <a:srgbClr val="F1765B"/>
                </a:solidFill>
              </a:rPr>
              <a:t>3</a:t>
            </a:r>
          </a:p>
        </p:txBody>
      </p:sp>
      <p:sp>
        <p:nvSpPr>
          <p:cNvPr id="22" name="">
            <a:extLst xmlns:a="http://schemas.openxmlformats.org/drawingml/2006/main">
              <a:ext uri="{FF2B5EF4-FFF2-40B4-BE49-F238E27FC236}">
                <a16:creationId xmlns:a16="http://schemas.microsoft.com/office/drawing/2014/main" id="{96314522-9A5A-4518-B608-F2838423E263}"/>
              </a:ext>
            </a:extLst>
          </p:cNvPr>
          <p:cNvSpPr>
            <a:spLocks xmlns:a="http://schemas.openxmlformats.org/drawingml/2006/main" noGrp="1"/>
          </p:cNvSpPr>
          <p:nvPr/>
        </p:nvSpPr>
        <p:spPr>
          <a:xfrm xmlns:a="http://schemas.openxmlformats.org/drawingml/2006/main">
            <a:off x="6934200" y="19621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财务管理员</a:t>
            </a:r>
          </a:p>
        </p:txBody>
      </p:sp>
      <p:sp>
        <p:nvSpPr>
          <p:cNvPr id="23" name="">
            <a:extLst xmlns:a="http://schemas.openxmlformats.org/drawingml/2006/main">
              <a:ext uri="{FF2B5EF4-FFF2-40B4-BE49-F238E27FC236}">
                <a16:creationId xmlns:a16="http://schemas.microsoft.com/office/drawing/2014/main" id="{04B7DE48-55E3-4EF8-8CC3-1F839C010644}"/>
              </a:ext>
            </a:extLst>
          </p:cNvPr>
          <p:cNvSpPr>
            <a:spLocks xmlns:a="http://schemas.openxmlformats.org/drawingml/2006/main" noGrp="1"/>
          </p:cNvSpPr>
          <p:nvPr/>
        </p:nvSpPr>
        <p:spPr>
          <a:xfrm xmlns:a="http://schemas.openxmlformats.org/drawingml/2006/main">
            <a:off x="6934200" y="2228850"/>
            <a:ext cx="1428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负责报销审核、经费核验与资金流向把控。</a:t>
            </a:r>
          </a:p>
        </p:txBody>
      </p:sp>
      <p:sp>
        <p:nvSpPr>
          <p:cNvPr id="24" name="">
            <a:extLst xmlns:a="http://schemas.openxmlformats.org/drawingml/2006/main">
              <a:ext uri="{FF2B5EF4-FFF2-40B4-BE49-F238E27FC236}">
                <a16:creationId xmlns:a16="http://schemas.microsoft.com/office/drawing/2014/main" id="{617A9E35-76A0-4922-835C-07FCE2027D17}"/>
              </a:ext>
            </a:extLst>
          </p:cNvPr>
          <p:cNvSpPr>
            <a:spLocks xmlns:a="http://schemas.openxmlformats.org/drawingml/2006/main" noGrp="1"/>
          </p:cNvSpPr>
          <p:nvPr/>
        </p:nvSpPr>
        <p:spPr>
          <a:xfrm xmlns:a="http://schemas.openxmlformats.org/drawingml/2006/main">
            <a:off x="8972550" y="1771650"/>
            <a:ext cx="24003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9E2EC"/>
            </a:solidFill>
            <a:prstDash val="solid"/>
          </a:ln>
        </p:spPr>
      </p:sp>
      <p:sp>
        <p:nvSpPr>
          <p:cNvPr id="25" name="">
            <a:extLst xmlns:a="http://schemas.openxmlformats.org/drawingml/2006/main">
              <a:ext uri="{FF2B5EF4-FFF2-40B4-BE49-F238E27FC236}">
                <a16:creationId xmlns:a16="http://schemas.microsoft.com/office/drawing/2014/main" id="{B4B67CBE-DADA-434D-8F7E-84F4E09EE4C1}"/>
              </a:ext>
            </a:extLst>
          </p:cNvPr>
          <p:cNvSpPr>
            <a:spLocks xmlns:a="http://schemas.openxmlformats.org/drawingml/2006/main" noGrp="1"/>
          </p:cNvSpPr>
          <p:nvPr/>
        </p:nvSpPr>
        <p:spPr>
          <a:xfrm xmlns:a="http://schemas.openxmlformats.org/drawingml/2006/main">
            <a:off x="9182100" y="1962150"/>
            <a:ext cx="381000" cy="381000"/>
          </a:xfrm>
          <a:prstGeom xmlns:a="http://schemas.openxmlformats.org/drawingml/2006/main" prst="ellipse">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E68B179-1408-4A0C-8D36-3A7FFC64273E}"/>
              </a:ext>
            </a:extLst>
          </p:cNvPr>
          <p:cNvSpPr>
            <a:spLocks xmlns:a="http://schemas.openxmlformats.org/drawingml/2006/main" noGrp="1"/>
          </p:cNvSpPr>
          <p:nvPr/>
        </p:nvSpPr>
        <p:spPr>
          <a:xfrm xmlns:a="http://schemas.openxmlformats.org/drawingml/2006/main">
            <a:off x="9182100" y="2066925"/>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2BB673"/>
                </a:solidFill>
              </a:defRPr>
            </a:pPr>
            <a:r>
              <a:rPr sz="1125" b="1">
                <a:solidFill>
                  <a:srgbClr val="2BB673"/>
                </a:solidFill>
              </a:rPr>
              <a:t>4</a:t>
            </a:r>
          </a:p>
        </p:txBody>
      </p:sp>
      <p:sp>
        <p:nvSpPr>
          <p:cNvPr id="27" name="">
            <a:extLst xmlns:a="http://schemas.openxmlformats.org/drawingml/2006/main">
              <a:ext uri="{FF2B5EF4-FFF2-40B4-BE49-F238E27FC236}">
                <a16:creationId xmlns:a16="http://schemas.microsoft.com/office/drawing/2014/main" id="{94FCC388-492A-4098-BDE5-AB5FA77A002F}"/>
              </a:ext>
            </a:extLst>
          </p:cNvPr>
          <p:cNvSpPr>
            <a:spLocks xmlns:a="http://schemas.openxmlformats.org/drawingml/2006/main" noGrp="1"/>
          </p:cNvSpPr>
          <p:nvPr/>
        </p:nvSpPr>
        <p:spPr>
          <a:xfrm xmlns:a="http://schemas.openxmlformats.org/drawingml/2006/main">
            <a:off x="9696450" y="19621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多级审批人</a:t>
            </a:r>
          </a:p>
        </p:txBody>
      </p:sp>
      <p:sp>
        <p:nvSpPr>
          <p:cNvPr id="28" name="">
            <a:extLst xmlns:a="http://schemas.openxmlformats.org/drawingml/2006/main">
              <a:ext uri="{FF2B5EF4-FFF2-40B4-BE49-F238E27FC236}">
                <a16:creationId xmlns:a16="http://schemas.microsoft.com/office/drawing/2014/main" id="{02017489-1CAB-4AAF-AD31-38ABDA96259A}"/>
              </a:ext>
            </a:extLst>
          </p:cNvPr>
          <p:cNvSpPr>
            <a:spLocks xmlns:a="http://schemas.openxmlformats.org/drawingml/2006/main" noGrp="1"/>
          </p:cNvSpPr>
          <p:nvPr/>
        </p:nvSpPr>
        <p:spPr>
          <a:xfrm xmlns:a="http://schemas.openxmlformats.org/drawingml/2006/main">
            <a:off x="9696450" y="2228850"/>
            <a:ext cx="1428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负责申请审批与项目流程节点审核。</a:t>
            </a:r>
          </a:p>
        </p:txBody>
      </p:sp>
      <p:sp>
        <p:nvSpPr>
          <p:cNvPr id="29" name="">
            <a:extLst xmlns:a="http://schemas.openxmlformats.org/drawingml/2006/main">
              <a:ext uri="{FF2B5EF4-FFF2-40B4-BE49-F238E27FC236}">
                <a16:creationId xmlns:a16="http://schemas.microsoft.com/office/drawing/2014/main" id="{95022516-2DF5-4B6A-87FC-A73D89ED0DD1}"/>
              </a:ext>
            </a:extLst>
          </p:cNvPr>
          <p:cNvSpPr>
            <a:spLocks xmlns:a="http://schemas.openxmlformats.org/drawingml/2006/main" noGrp="1"/>
          </p:cNvSpPr>
          <p:nvPr/>
        </p:nvSpPr>
        <p:spPr>
          <a:xfrm xmlns:a="http://schemas.openxmlformats.org/drawingml/2006/main">
            <a:off x="685800" y="3352800"/>
            <a:ext cx="4953000" cy="224790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9525">
            <a:solidFill>
              <a:srgbClr val="D9E2EC"/>
            </a:solidFill>
            <a:prstDash val="solid"/>
          </a:ln>
        </p:spPr>
      </p:sp>
      <p:sp>
        <p:nvSpPr>
          <p:cNvPr id="30" name="">
            <a:extLst xmlns:a="http://schemas.openxmlformats.org/drawingml/2006/main">
              <a:ext uri="{FF2B5EF4-FFF2-40B4-BE49-F238E27FC236}">
                <a16:creationId xmlns:a16="http://schemas.microsoft.com/office/drawing/2014/main" id="{897E33FC-93AA-479B-9B52-5E79A73CF849}"/>
              </a:ext>
            </a:extLst>
          </p:cNvPr>
          <p:cNvSpPr>
            <a:spLocks xmlns:a="http://schemas.openxmlformats.org/drawingml/2006/main" noGrp="1"/>
          </p:cNvSpPr>
          <p:nvPr/>
        </p:nvSpPr>
        <p:spPr>
          <a:xfrm xmlns:a="http://schemas.openxmlformats.org/drawingml/2006/main">
            <a:off x="914400" y="358140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核心业务需求</a:t>
            </a:r>
          </a:p>
        </p:txBody>
      </p:sp>
      <p:sp>
        <p:nvSpPr>
          <p:cNvPr id="31" name="">
            <a:extLst xmlns:a="http://schemas.openxmlformats.org/drawingml/2006/main">
              <a:ext uri="{FF2B5EF4-FFF2-40B4-BE49-F238E27FC236}">
                <a16:creationId xmlns:a16="http://schemas.microsoft.com/office/drawing/2014/main" id="{AD799380-3944-4EB7-B292-85EEED917D66}"/>
              </a:ext>
            </a:extLst>
          </p:cNvPr>
          <p:cNvSpPr>
            <a:spLocks xmlns:a="http://schemas.openxmlformats.org/drawingml/2006/main" noGrp="1"/>
          </p:cNvSpPr>
          <p:nvPr/>
        </p:nvSpPr>
        <p:spPr>
          <a:xfrm xmlns:a="http://schemas.openxmlformats.org/drawingml/2006/main">
            <a:off x="933450" y="40386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32" name="">
            <a:extLst xmlns:a="http://schemas.openxmlformats.org/drawingml/2006/main">
              <a:ext uri="{FF2B5EF4-FFF2-40B4-BE49-F238E27FC236}">
                <a16:creationId xmlns:a16="http://schemas.microsoft.com/office/drawing/2014/main" id="{7D343DAB-9773-4138-AA08-9DF2FAA4A5F7}"/>
              </a:ext>
            </a:extLst>
          </p:cNvPr>
          <p:cNvSpPr>
            <a:spLocks xmlns:a="http://schemas.openxmlformats.org/drawingml/2006/main" noGrp="1"/>
          </p:cNvSpPr>
          <p:nvPr/>
        </p:nvSpPr>
        <p:spPr>
          <a:xfrm xmlns:a="http://schemas.openxmlformats.org/drawingml/2006/main">
            <a:off x="1123950" y="3962400"/>
            <a:ext cx="4191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243B53"/>
                </a:solidFill>
              </a:defRPr>
            </a:pPr>
            <a:r>
              <a:rPr sz="1050" b="0">
                <a:solidFill>
                  <a:srgbClr val="243B53"/>
                </a:solidFill>
              </a:rPr>
              <a:t>支持项目新增、查询、详情查看、状态维护与导出。</a:t>
            </a:r>
          </a:p>
        </p:txBody>
      </p:sp>
      <p:sp>
        <p:nvSpPr>
          <p:cNvPr id="33" name="">
            <a:extLst xmlns:a="http://schemas.openxmlformats.org/drawingml/2006/main">
              <a:ext uri="{FF2B5EF4-FFF2-40B4-BE49-F238E27FC236}">
                <a16:creationId xmlns:a16="http://schemas.microsoft.com/office/drawing/2014/main" id="{0CCE17F6-AA10-4C2B-BC23-53CDE41B8DD7}"/>
              </a:ext>
            </a:extLst>
          </p:cNvPr>
          <p:cNvSpPr>
            <a:spLocks xmlns:a="http://schemas.openxmlformats.org/drawingml/2006/main" noGrp="1"/>
          </p:cNvSpPr>
          <p:nvPr/>
        </p:nvSpPr>
        <p:spPr>
          <a:xfrm xmlns:a="http://schemas.openxmlformats.org/drawingml/2006/main">
            <a:off x="933450" y="44386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34" name="">
            <a:extLst xmlns:a="http://schemas.openxmlformats.org/drawingml/2006/main">
              <a:ext uri="{FF2B5EF4-FFF2-40B4-BE49-F238E27FC236}">
                <a16:creationId xmlns:a16="http://schemas.microsoft.com/office/drawing/2014/main" id="{395FB908-BBFB-47D0-9606-AEF28D41ECEF}"/>
              </a:ext>
            </a:extLst>
          </p:cNvPr>
          <p:cNvSpPr>
            <a:spLocks xmlns:a="http://schemas.openxmlformats.org/drawingml/2006/main" noGrp="1"/>
          </p:cNvSpPr>
          <p:nvPr/>
        </p:nvSpPr>
        <p:spPr>
          <a:xfrm xmlns:a="http://schemas.openxmlformats.org/drawingml/2006/main">
            <a:off x="1123950" y="4362450"/>
            <a:ext cx="4191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243B53"/>
                </a:solidFill>
              </a:defRPr>
            </a:pPr>
            <a:r>
              <a:rPr sz="1050" b="0">
                <a:solidFill>
                  <a:srgbClr val="243B53"/>
                </a:solidFill>
              </a:rPr>
              <a:t>支持按流程阶段提交材料，并对审批结果进行回写。</a:t>
            </a:r>
          </a:p>
        </p:txBody>
      </p:sp>
      <p:sp>
        <p:nvSpPr>
          <p:cNvPr id="35" name="">
            <a:extLst xmlns:a="http://schemas.openxmlformats.org/drawingml/2006/main">
              <a:ext uri="{FF2B5EF4-FFF2-40B4-BE49-F238E27FC236}">
                <a16:creationId xmlns:a16="http://schemas.microsoft.com/office/drawing/2014/main" id="{245E7DB0-1F5E-4D93-91E8-B03501BDBCB4}"/>
              </a:ext>
            </a:extLst>
          </p:cNvPr>
          <p:cNvSpPr>
            <a:spLocks xmlns:a="http://schemas.openxmlformats.org/drawingml/2006/main" noGrp="1"/>
          </p:cNvSpPr>
          <p:nvPr/>
        </p:nvSpPr>
        <p:spPr>
          <a:xfrm xmlns:a="http://schemas.openxmlformats.org/drawingml/2006/main">
            <a:off x="933450" y="48387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36" name="">
            <a:extLst xmlns:a="http://schemas.openxmlformats.org/drawingml/2006/main">
              <a:ext uri="{FF2B5EF4-FFF2-40B4-BE49-F238E27FC236}">
                <a16:creationId xmlns:a16="http://schemas.microsoft.com/office/drawing/2014/main" id="{DB2C7C27-F955-4268-AE81-42B79DBAB190}"/>
              </a:ext>
            </a:extLst>
          </p:cNvPr>
          <p:cNvSpPr>
            <a:spLocks xmlns:a="http://schemas.openxmlformats.org/drawingml/2006/main" noGrp="1"/>
          </p:cNvSpPr>
          <p:nvPr/>
        </p:nvSpPr>
        <p:spPr>
          <a:xfrm xmlns:a="http://schemas.openxmlformats.org/drawingml/2006/main">
            <a:off x="1123950" y="4762500"/>
            <a:ext cx="4191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243B53"/>
                </a:solidFill>
              </a:defRPr>
            </a:pPr>
            <a:r>
              <a:rPr sz="1050" b="0">
                <a:solidFill>
                  <a:srgbClr val="243B53"/>
                </a:solidFill>
              </a:rPr>
              <a:t>支持申请审批、报销审批与成果信息管理。</a:t>
            </a:r>
          </a:p>
        </p:txBody>
      </p:sp>
      <p:sp>
        <p:nvSpPr>
          <p:cNvPr id="37" name="">
            <a:extLst xmlns:a="http://schemas.openxmlformats.org/drawingml/2006/main">
              <a:ext uri="{FF2B5EF4-FFF2-40B4-BE49-F238E27FC236}">
                <a16:creationId xmlns:a16="http://schemas.microsoft.com/office/drawing/2014/main" id="{449894BD-E884-41B6-9F86-861593BC63F4}"/>
              </a:ext>
            </a:extLst>
          </p:cNvPr>
          <p:cNvSpPr>
            <a:spLocks xmlns:a="http://schemas.openxmlformats.org/drawingml/2006/main" noGrp="1"/>
          </p:cNvSpPr>
          <p:nvPr/>
        </p:nvSpPr>
        <p:spPr>
          <a:xfrm xmlns:a="http://schemas.openxmlformats.org/drawingml/2006/main">
            <a:off x="933450" y="52387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38" name="">
            <a:extLst xmlns:a="http://schemas.openxmlformats.org/drawingml/2006/main">
              <a:ext uri="{FF2B5EF4-FFF2-40B4-BE49-F238E27FC236}">
                <a16:creationId xmlns:a16="http://schemas.microsoft.com/office/drawing/2014/main" id="{6B815715-4A29-4BE9-8FD8-8FC9B91693DA}"/>
              </a:ext>
            </a:extLst>
          </p:cNvPr>
          <p:cNvSpPr>
            <a:spLocks xmlns:a="http://schemas.openxmlformats.org/drawingml/2006/main" noGrp="1"/>
          </p:cNvSpPr>
          <p:nvPr/>
        </p:nvSpPr>
        <p:spPr>
          <a:xfrm xmlns:a="http://schemas.openxmlformats.org/drawingml/2006/main">
            <a:off x="1123950" y="5162550"/>
            <a:ext cx="4191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243B53"/>
                </a:solidFill>
              </a:defRPr>
            </a:pPr>
            <a:r>
              <a:rPr sz="1050" b="0">
                <a:solidFill>
                  <a:srgbClr val="243B53"/>
                </a:solidFill>
              </a:rPr>
              <a:t>支持根据角色控制菜单可见性、默认首页与路由访问权限。</a:t>
            </a:r>
          </a:p>
        </p:txBody>
      </p:sp>
      <p:sp>
        <p:nvSpPr>
          <p:cNvPr id="39" name="">
            <a:extLst xmlns:a="http://schemas.openxmlformats.org/drawingml/2006/main">
              <a:ext uri="{FF2B5EF4-FFF2-40B4-BE49-F238E27FC236}">
                <a16:creationId xmlns:a16="http://schemas.microsoft.com/office/drawing/2014/main" id="{53CCEC77-BBFC-4ACC-9236-7697974F8F29}"/>
              </a:ext>
            </a:extLst>
          </p:cNvPr>
          <p:cNvSpPr>
            <a:spLocks xmlns:a="http://schemas.openxmlformats.org/drawingml/2006/main" noGrp="1"/>
          </p:cNvSpPr>
          <p:nvPr/>
        </p:nvSpPr>
        <p:spPr>
          <a:xfrm xmlns:a="http://schemas.openxmlformats.org/drawingml/2006/main">
            <a:off x="5962650" y="3352800"/>
            <a:ext cx="4857750" cy="2247900"/>
          </a:xfrm>
          <a:prstGeom xmlns:a="http://schemas.openxmlformats.org/drawingml/2006/main" prst="roundRect">
            <a:avLst>
              <a:gd name="adj" fmla="val 3390"/>
            </a:avLst>
          </a:prstGeom>
          <a:solidFill xmlns:a="http://schemas.openxmlformats.org/drawingml/2006/main">
            <a:srgbClr val="FFFFFF"/>
          </a:solidFill>
          <a:ln xmlns:a="http://schemas.openxmlformats.org/drawingml/2006/main" w="9525">
            <a:solidFill>
              <a:srgbClr val="D9E2EC"/>
            </a:solidFill>
            <a:prstDash val="solid"/>
          </a:ln>
        </p:spPr>
      </p:sp>
      <p:sp>
        <p:nvSpPr>
          <p:cNvPr id="40" name="">
            <a:extLst xmlns:a="http://schemas.openxmlformats.org/drawingml/2006/main">
              <a:ext uri="{FF2B5EF4-FFF2-40B4-BE49-F238E27FC236}">
                <a16:creationId xmlns:a16="http://schemas.microsoft.com/office/drawing/2014/main" id="{399498BF-BA48-465D-84EE-AAC82C060B92}"/>
              </a:ext>
            </a:extLst>
          </p:cNvPr>
          <p:cNvSpPr>
            <a:spLocks xmlns:a="http://schemas.openxmlformats.org/drawingml/2006/main" noGrp="1"/>
          </p:cNvSpPr>
          <p:nvPr/>
        </p:nvSpPr>
        <p:spPr>
          <a:xfrm xmlns:a="http://schemas.openxmlformats.org/drawingml/2006/main">
            <a:off x="6191250" y="3581400"/>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建设目标</a:t>
            </a:r>
          </a:p>
        </p:txBody>
      </p:sp>
      <p:sp>
        <p:nvSpPr>
          <p:cNvPr id="41" name="">
            <a:extLst xmlns:a="http://schemas.openxmlformats.org/drawingml/2006/main">
              <a:ext uri="{FF2B5EF4-FFF2-40B4-BE49-F238E27FC236}">
                <a16:creationId xmlns:a16="http://schemas.microsoft.com/office/drawing/2014/main" id="{F32ADA57-3252-4A5C-B132-0C44F8A6B673}"/>
              </a:ext>
            </a:extLst>
          </p:cNvPr>
          <p:cNvSpPr>
            <a:spLocks xmlns:a="http://schemas.openxmlformats.org/drawingml/2006/main" noGrp="1"/>
          </p:cNvSpPr>
          <p:nvPr/>
        </p:nvSpPr>
        <p:spPr>
          <a:xfrm xmlns:a="http://schemas.openxmlformats.org/drawingml/2006/main">
            <a:off x="6191250" y="3943350"/>
            <a:ext cx="2057400" cy="685800"/>
          </a:xfrm>
          <a:prstGeom xmlns:a="http://schemas.openxmlformats.org/drawingml/2006/main" prst="roundRect">
            <a:avLst>
              <a:gd name="adj" fmla="val 1111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7C8361C5-0B4E-485A-AB3A-9DDD050B70CD}"/>
              </a:ext>
            </a:extLst>
          </p:cNvPr>
          <p:cNvSpPr>
            <a:spLocks xmlns:a="http://schemas.openxmlformats.org/drawingml/2006/main" noGrp="1"/>
          </p:cNvSpPr>
          <p:nvPr/>
        </p:nvSpPr>
        <p:spPr>
          <a:xfrm xmlns:a="http://schemas.openxmlformats.org/drawingml/2006/main">
            <a:off x="6343650" y="40576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8B6B0"/>
                </a:solidFill>
              </a:defRPr>
            </a:pPr>
            <a:r>
              <a:rPr sz="1125" b="1">
                <a:solidFill>
                  <a:srgbClr val="18B6B0"/>
                </a:solidFill>
              </a:rPr>
              <a:t>权限隔离</a:t>
            </a:r>
          </a:p>
        </p:txBody>
      </p:sp>
      <p:sp>
        <p:nvSpPr>
          <p:cNvPr id="43" name="">
            <a:extLst xmlns:a="http://schemas.openxmlformats.org/drawingml/2006/main">
              <a:ext uri="{FF2B5EF4-FFF2-40B4-BE49-F238E27FC236}">
                <a16:creationId xmlns:a16="http://schemas.microsoft.com/office/drawing/2014/main" id="{7F1715D5-C7D0-4071-B10B-64F3776B4343}"/>
              </a:ext>
            </a:extLst>
          </p:cNvPr>
          <p:cNvSpPr>
            <a:spLocks xmlns:a="http://schemas.openxmlformats.org/drawingml/2006/main" noGrp="1"/>
          </p:cNvSpPr>
          <p:nvPr/>
        </p:nvSpPr>
        <p:spPr>
          <a:xfrm xmlns:a="http://schemas.openxmlformats.org/drawingml/2006/main">
            <a:off x="6343650" y="42672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243B53"/>
                </a:solidFill>
              </a:defRPr>
            </a:pPr>
            <a:r>
              <a:rPr sz="825" b="0">
                <a:solidFill>
                  <a:srgbClr val="243B53"/>
                </a:solidFill>
              </a:rPr>
              <a:t>不同角色只能访问对应模块与接口。</a:t>
            </a:r>
          </a:p>
        </p:txBody>
      </p:sp>
      <p:sp>
        <p:nvSpPr>
          <p:cNvPr id="44" name="">
            <a:extLst xmlns:a="http://schemas.openxmlformats.org/drawingml/2006/main">
              <a:ext uri="{FF2B5EF4-FFF2-40B4-BE49-F238E27FC236}">
                <a16:creationId xmlns:a16="http://schemas.microsoft.com/office/drawing/2014/main" id="{3A04C1A1-A88A-4C98-8ABA-330971AEBD57}"/>
              </a:ext>
            </a:extLst>
          </p:cNvPr>
          <p:cNvSpPr>
            <a:spLocks xmlns:a="http://schemas.openxmlformats.org/drawingml/2006/main" noGrp="1"/>
          </p:cNvSpPr>
          <p:nvPr/>
        </p:nvSpPr>
        <p:spPr>
          <a:xfrm xmlns:a="http://schemas.openxmlformats.org/drawingml/2006/main">
            <a:off x="8477250" y="3943350"/>
            <a:ext cx="2057400" cy="685800"/>
          </a:xfrm>
          <a:prstGeom xmlns:a="http://schemas.openxmlformats.org/drawingml/2006/main" prst="roundRect">
            <a:avLst>
              <a:gd name="adj" fmla="val 1111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60B93916-2205-434A-A458-E6175EE57876}"/>
              </a:ext>
            </a:extLst>
          </p:cNvPr>
          <p:cNvSpPr>
            <a:spLocks xmlns:a="http://schemas.openxmlformats.org/drawingml/2006/main" noGrp="1"/>
          </p:cNvSpPr>
          <p:nvPr/>
        </p:nvSpPr>
        <p:spPr>
          <a:xfrm xmlns:a="http://schemas.openxmlformats.org/drawingml/2006/main">
            <a:off x="8629650" y="40576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2B35E"/>
                </a:solidFill>
              </a:defRPr>
            </a:pPr>
            <a:r>
              <a:rPr sz="1125" b="1">
                <a:solidFill>
                  <a:srgbClr val="F2B35E"/>
                </a:solidFill>
              </a:rPr>
              <a:t>流程闭环</a:t>
            </a:r>
          </a:p>
        </p:txBody>
      </p:sp>
      <p:sp>
        <p:nvSpPr>
          <p:cNvPr id="46" name="">
            <a:extLst xmlns:a="http://schemas.openxmlformats.org/drawingml/2006/main">
              <a:ext uri="{FF2B5EF4-FFF2-40B4-BE49-F238E27FC236}">
                <a16:creationId xmlns:a16="http://schemas.microsoft.com/office/drawing/2014/main" id="{0ADF3766-4087-421E-81C6-44CAEA7C80E9}"/>
              </a:ext>
            </a:extLst>
          </p:cNvPr>
          <p:cNvSpPr>
            <a:spLocks xmlns:a="http://schemas.openxmlformats.org/drawingml/2006/main" noGrp="1"/>
          </p:cNvSpPr>
          <p:nvPr/>
        </p:nvSpPr>
        <p:spPr>
          <a:xfrm xmlns:a="http://schemas.openxmlformats.org/drawingml/2006/main">
            <a:off x="8629650" y="42672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243B53"/>
                </a:solidFill>
              </a:defRPr>
            </a:pPr>
            <a:r>
              <a:rPr sz="825" b="0">
                <a:solidFill>
                  <a:srgbClr val="243B53"/>
                </a:solidFill>
              </a:rPr>
              <a:t>状态推进与节点提交具有先后约束。</a:t>
            </a:r>
          </a:p>
        </p:txBody>
      </p:sp>
      <p:sp>
        <p:nvSpPr>
          <p:cNvPr id="47" name="">
            <a:extLst xmlns:a="http://schemas.openxmlformats.org/drawingml/2006/main">
              <a:ext uri="{FF2B5EF4-FFF2-40B4-BE49-F238E27FC236}">
                <a16:creationId xmlns:a16="http://schemas.microsoft.com/office/drawing/2014/main" id="{BA151721-D731-4469-AA69-E4A147A65DB7}"/>
              </a:ext>
            </a:extLst>
          </p:cNvPr>
          <p:cNvSpPr>
            <a:spLocks xmlns:a="http://schemas.openxmlformats.org/drawingml/2006/main" noGrp="1"/>
          </p:cNvSpPr>
          <p:nvPr/>
        </p:nvSpPr>
        <p:spPr>
          <a:xfrm xmlns:a="http://schemas.openxmlformats.org/drawingml/2006/main">
            <a:off x="6191250" y="4781550"/>
            <a:ext cx="2057400" cy="685800"/>
          </a:xfrm>
          <a:prstGeom xmlns:a="http://schemas.openxmlformats.org/drawingml/2006/main" prst="roundRect">
            <a:avLst>
              <a:gd name="adj" fmla="val 1111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26238C90-D597-477A-9661-2751BEBBD1EE}"/>
              </a:ext>
            </a:extLst>
          </p:cNvPr>
          <p:cNvSpPr>
            <a:spLocks xmlns:a="http://schemas.openxmlformats.org/drawingml/2006/main" noGrp="1"/>
          </p:cNvSpPr>
          <p:nvPr/>
        </p:nvSpPr>
        <p:spPr>
          <a:xfrm xmlns:a="http://schemas.openxmlformats.org/drawingml/2006/main">
            <a:off x="6343650" y="48958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1765B"/>
                </a:solidFill>
              </a:defRPr>
            </a:pPr>
            <a:r>
              <a:rPr sz="1125" b="1">
                <a:solidFill>
                  <a:srgbClr val="F1765B"/>
                </a:solidFill>
              </a:rPr>
              <a:t>经费透明</a:t>
            </a:r>
          </a:p>
        </p:txBody>
      </p:sp>
      <p:sp>
        <p:nvSpPr>
          <p:cNvPr id="49" name="">
            <a:extLst xmlns:a="http://schemas.openxmlformats.org/drawingml/2006/main">
              <a:ext uri="{FF2B5EF4-FFF2-40B4-BE49-F238E27FC236}">
                <a16:creationId xmlns:a16="http://schemas.microsoft.com/office/drawing/2014/main" id="{9D464572-1965-4587-93B8-E9AE70ECAAAF}"/>
              </a:ext>
            </a:extLst>
          </p:cNvPr>
          <p:cNvSpPr>
            <a:spLocks xmlns:a="http://schemas.openxmlformats.org/drawingml/2006/main" noGrp="1"/>
          </p:cNvSpPr>
          <p:nvPr/>
        </p:nvSpPr>
        <p:spPr>
          <a:xfrm xmlns:a="http://schemas.openxmlformats.org/drawingml/2006/main">
            <a:off x="6343650" y="51054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6814"/>
          </a:bodyPr>
          <a:lstStyle xmlns:a="http://schemas.openxmlformats.org/drawingml/2006/main"/>
          <a:p xmlns:a="http://schemas.openxmlformats.org/drawingml/2006/main">
            <a:pPr algn="l">
              <a:defRPr sz="825" b="0">
                <a:solidFill>
                  <a:srgbClr val="243B53"/>
                </a:solidFill>
              </a:defRPr>
            </a:pPr>
            <a:r>
              <a:rPr sz="825" b="0">
                <a:solidFill>
                  <a:srgbClr val="243B53"/>
                </a:solidFill>
              </a:rPr>
              <a:t>预算、报销与审批记录能够统一追踪。</a:t>
            </a:r>
          </a:p>
        </p:txBody>
      </p:sp>
      <p:sp>
        <p:nvSpPr>
          <p:cNvPr id="50" name="">
            <a:extLst xmlns:a="http://schemas.openxmlformats.org/drawingml/2006/main">
              <a:ext uri="{FF2B5EF4-FFF2-40B4-BE49-F238E27FC236}">
                <a16:creationId xmlns:a16="http://schemas.microsoft.com/office/drawing/2014/main" id="{3959164D-9D9D-4BC1-A8A9-A6256DE3CD76}"/>
              </a:ext>
            </a:extLst>
          </p:cNvPr>
          <p:cNvSpPr>
            <a:spLocks xmlns:a="http://schemas.openxmlformats.org/drawingml/2006/main" noGrp="1"/>
          </p:cNvSpPr>
          <p:nvPr/>
        </p:nvSpPr>
        <p:spPr>
          <a:xfrm xmlns:a="http://schemas.openxmlformats.org/drawingml/2006/main">
            <a:off x="8477250" y="4781550"/>
            <a:ext cx="2057400" cy="685800"/>
          </a:xfrm>
          <a:prstGeom xmlns:a="http://schemas.openxmlformats.org/drawingml/2006/main" prst="roundRect">
            <a:avLst>
              <a:gd name="adj" fmla="val 1111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EEFABB04-A9C3-4AD0-BBCD-704B0890F5F9}"/>
              </a:ext>
            </a:extLst>
          </p:cNvPr>
          <p:cNvSpPr>
            <a:spLocks xmlns:a="http://schemas.openxmlformats.org/drawingml/2006/main" noGrp="1"/>
          </p:cNvSpPr>
          <p:nvPr/>
        </p:nvSpPr>
        <p:spPr>
          <a:xfrm xmlns:a="http://schemas.openxmlformats.org/drawingml/2006/main">
            <a:off x="8629650" y="48958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2BB673"/>
                </a:solidFill>
              </a:defRPr>
            </a:pPr>
            <a:r>
              <a:rPr sz="1125" b="1">
                <a:solidFill>
                  <a:srgbClr val="2BB673"/>
                </a:solidFill>
              </a:rPr>
              <a:t>易于扩展</a:t>
            </a:r>
          </a:p>
        </p:txBody>
      </p:sp>
      <p:sp>
        <p:nvSpPr>
          <p:cNvPr id="52" name="">
            <a:extLst xmlns:a="http://schemas.openxmlformats.org/drawingml/2006/main">
              <a:ext uri="{FF2B5EF4-FFF2-40B4-BE49-F238E27FC236}">
                <a16:creationId xmlns:a16="http://schemas.microsoft.com/office/drawing/2014/main" id="{A3027639-2A00-423D-92E2-1684AACEACF0}"/>
              </a:ext>
            </a:extLst>
          </p:cNvPr>
          <p:cNvSpPr>
            <a:spLocks xmlns:a="http://schemas.openxmlformats.org/drawingml/2006/main" noGrp="1"/>
          </p:cNvSpPr>
          <p:nvPr/>
        </p:nvSpPr>
        <p:spPr>
          <a:xfrm xmlns:a="http://schemas.openxmlformats.org/drawingml/2006/main">
            <a:off x="8629650" y="5105400"/>
            <a:ext cx="1695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6814"/>
          </a:bodyPr>
          <a:lstStyle xmlns:a="http://schemas.openxmlformats.org/drawingml/2006/main"/>
          <a:p xmlns:a="http://schemas.openxmlformats.org/drawingml/2006/main">
            <a:pPr algn="l">
              <a:defRPr sz="825" b="0">
                <a:solidFill>
                  <a:srgbClr val="243B53"/>
                </a:solidFill>
              </a:defRPr>
            </a:pPr>
            <a:r>
              <a:rPr sz="825" b="0">
                <a:solidFill>
                  <a:srgbClr val="243B53"/>
                </a:solidFill>
              </a:rPr>
              <a:t>保留 AI、导出与文档处理等扩展能力。</a:t>
            </a:r>
          </a:p>
        </p:txBody>
      </p:sp>
    </p:spTree>
    <p:extLst>
      <p:ext uri="{BB962C8B-B14F-4D97-AF65-F5344CB8AC3E}">
        <p14:creationId xmlns:p14="http://schemas.microsoft.com/office/powerpoint/2010/main" val="1638694039"/>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E1BD53E-3D28-46D1-B789-D61CBAA203DE}"/>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B58BA5C-1BF7-484D-B8C6-26766F54B52D}"/>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3AD58A6-F4C9-41CD-942C-156BC3564731}"/>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ARCHITECTURE</a:t>
            </a:r>
          </a:p>
        </p:txBody>
      </p:sp>
      <p:sp>
        <p:nvSpPr>
          <p:cNvPr id="5" name="">
            <a:extLst xmlns:a="http://schemas.openxmlformats.org/drawingml/2006/main">
              <a:ext uri="{FF2B5EF4-FFF2-40B4-BE49-F238E27FC236}">
                <a16:creationId xmlns:a16="http://schemas.microsoft.com/office/drawing/2014/main" id="{8D9DFC38-051C-4140-AF5C-F809387FD72C}"/>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05</a:t>
            </a:r>
          </a:p>
        </p:txBody>
      </p:sp>
      <p:sp>
        <p:nvSpPr>
          <p:cNvPr id="6" name="">
            <a:extLst xmlns:a="http://schemas.openxmlformats.org/drawingml/2006/main">
              <a:ext uri="{FF2B5EF4-FFF2-40B4-BE49-F238E27FC236}">
                <a16:creationId xmlns:a16="http://schemas.microsoft.com/office/drawing/2014/main" id="{7D1D38B5-5FFF-4FAB-A18E-AF5F04A6303B}"/>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系统总体架构与技术路线</a:t>
            </a:r>
          </a:p>
        </p:txBody>
      </p:sp>
      <p:sp>
        <p:nvSpPr>
          <p:cNvPr id="7" name="">
            <a:extLst xmlns:a="http://schemas.openxmlformats.org/drawingml/2006/main">
              <a:ext uri="{FF2B5EF4-FFF2-40B4-BE49-F238E27FC236}">
                <a16:creationId xmlns:a16="http://schemas.microsoft.com/office/drawing/2014/main" id="{8F9C58F2-337E-4CF5-BB26-01A42FE0E015}"/>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采用前后端分离架构，以 Vue 3 构建管理端，以 Spring Boot 提供业务服务与安全控制。</a:t>
            </a:r>
          </a:p>
        </p:txBody>
      </p:sp>
      <p:sp>
        <p:nvSpPr>
          <p:cNvPr id="8" name="">
            <a:extLst xmlns:a="http://schemas.openxmlformats.org/drawingml/2006/main">
              <a:ext uri="{FF2B5EF4-FFF2-40B4-BE49-F238E27FC236}">
                <a16:creationId xmlns:a16="http://schemas.microsoft.com/office/drawing/2014/main" id="{22CFD670-5D05-49B4-8FEA-CA25D4113A18}"/>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7BD4A4D-5693-40D2-9FF3-1264E1DFD0E7}"/>
              </a:ext>
            </a:extLst>
          </p:cNvPr>
          <p:cNvSpPr>
            <a:spLocks xmlns:a="http://schemas.openxmlformats.org/drawingml/2006/main" noGrp="1"/>
          </p:cNvSpPr>
          <p:nvPr/>
        </p:nvSpPr>
        <p:spPr>
          <a:xfrm xmlns:a="http://schemas.openxmlformats.org/drawingml/2006/main">
            <a:off x="685800" y="1733550"/>
            <a:ext cx="73533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A174E0B9-FF4E-43C7-99EB-7E96E2DB1F33}"/>
              </a:ext>
            </a:extLst>
          </p:cNvPr>
          <p:cNvSpPr>
            <a:spLocks xmlns:a="http://schemas.openxmlformats.org/drawingml/2006/main" noGrp="1"/>
          </p:cNvSpPr>
          <p:nvPr/>
        </p:nvSpPr>
        <p:spPr>
          <a:xfrm xmlns:a="http://schemas.openxmlformats.org/drawingml/2006/main">
            <a:off x="819150" y="1866900"/>
            <a:ext cx="1276350" cy="571500"/>
          </a:xfrm>
          <a:prstGeom xmlns:a="http://schemas.openxmlformats.org/drawingml/2006/main" prst="roundRect">
            <a:avLst>
              <a:gd name="adj" fmla="val 13333"/>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E200DCF-D1D2-40A3-A32A-820183BA444C}"/>
              </a:ext>
            </a:extLst>
          </p:cNvPr>
          <p:cNvSpPr>
            <a:spLocks xmlns:a="http://schemas.openxmlformats.org/drawingml/2006/main" noGrp="1"/>
          </p:cNvSpPr>
          <p:nvPr/>
        </p:nvSpPr>
        <p:spPr>
          <a:xfrm xmlns:a="http://schemas.openxmlformats.org/drawingml/2006/main">
            <a:off x="819150" y="2047875"/>
            <a:ext cx="1276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8B6B0"/>
                </a:solidFill>
              </a:defRPr>
            </a:pPr>
            <a:r>
              <a:rPr sz="1275" b="1">
                <a:solidFill>
                  <a:srgbClr val="18B6B0"/>
                </a:solidFill>
              </a:rPr>
              <a:t>表示层</a:t>
            </a:r>
          </a:p>
        </p:txBody>
      </p:sp>
      <p:sp>
        <p:nvSpPr>
          <p:cNvPr id="12" name="">
            <a:extLst xmlns:a="http://schemas.openxmlformats.org/drawingml/2006/main">
              <a:ext uri="{FF2B5EF4-FFF2-40B4-BE49-F238E27FC236}">
                <a16:creationId xmlns:a16="http://schemas.microsoft.com/office/drawing/2014/main" id="{ED70A5AC-9D0A-474E-A762-ED38D790C189}"/>
              </a:ext>
            </a:extLst>
          </p:cNvPr>
          <p:cNvSpPr>
            <a:spLocks xmlns:a="http://schemas.openxmlformats.org/drawingml/2006/main" noGrp="1"/>
          </p:cNvSpPr>
          <p:nvPr/>
        </p:nvSpPr>
        <p:spPr>
          <a:xfrm xmlns:a="http://schemas.openxmlformats.org/drawingml/2006/main">
            <a:off x="2286000" y="1962150"/>
            <a:ext cx="550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Vue 3 / Vite / Element Plus / Pinia / Vue Router / ECharts</a:t>
            </a:r>
          </a:p>
        </p:txBody>
      </p:sp>
      <p:sp>
        <p:nvSpPr>
          <p:cNvPr id="13" name="">
            <a:extLst xmlns:a="http://schemas.openxmlformats.org/drawingml/2006/main">
              <a:ext uri="{FF2B5EF4-FFF2-40B4-BE49-F238E27FC236}">
                <a16:creationId xmlns:a16="http://schemas.microsoft.com/office/drawing/2014/main" id="{FECFC156-0FEA-4EA9-9973-8E319086F363}"/>
              </a:ext>
            </a:extLst>
          </p:cNvPr>
          <p:cNvSpPr>
            <a:spLocks xmlns:a="http://schemas.openxmlformats.org/drawingml/2006/main" noGrp="1"/>
          </p:cNvSpPr>
          <p:nvPr/>
        </p:nvSpPr>
        <p:spPr>
          <a:xfrm xmlns:a="http://schemas.openxmlformats.org/drawingml/2006/main">
            <a:off x="4000500" y="2571750"/>
            <a:ext cx="7620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1A9E347-041F-43D7-A47D-81395F2529C3}"/>
              </a:ext>
            </a:extLst>
          </p:cNvPr>
          <p:cNvSpPr>
            <a:spLocks xmlns:a="http://schemas.openxmlformats.org/drawingml/2006/main" noGrp="1"/>
          </p:cNvSpPr>
          <p:nvPr/>
        </p:nvSpPr>
        <p:spPr>
          <a:xfrm xmlns:a="http://schemas.openxmlformats.org/drawingml/2006/main">
            <a:off x="685800" y="2762250"/>
            <a:ext cx="73533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EC"/>
            </a:solidFill>
            <a:prstDash val="solid"/>
          </a:ln>
        </p:spPr>
      </p:sp>
      <p:sp>
        <p:nvSpPr>
          <p:cNvPr id="15" name="">
            <a:extLst xmlns:a="http://schemas.openxmlformats.org/drawingml/2006/main">
              <a:ext uri="{FF2B5EF4-FFF2-40B4-BE49-F238E27FC236}">
                <a16:creationId xmlns:a16="http://schemas.microsoft.com/office/drawing/2014/main" id="{A9945032-0947-4E2E-B0FB-689A88F4887F}"/>
              </a:ext>
            </a:extLst>
          </p:cNvPr>
          <p:cNvSpPr>
            <a:spLocks xmlns:a="http://schemas.openxmlformats.org/drawingml/2006/main" noGrp="1"/>
          </p:cNvSpPr>
          <p:nvPr/>
        </p:nvSpPr>
        <p:spPr>
          <a:xfrm xmlns:a="http://schemas.openxmlformats.org/drawingml/2006/main">
            <a:off x="819150" y="2895600"/>
            <a:ext cx="1276350" cy="571500"/>
          </a:xfrm>
          <a:prstGeom xmlns:a="http://schemas.openxmlformats.org/drawingml/2006/main" prst="roundRect">
            <a:avLst>
              <a:gd name="adj" fmla="val 13333"/>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8BFC979-024E-4F08-BBB6-C887307532CA}"/>
              </a:ext>
            </a:extLst>
          </p:cNvPr>
          <p:cNvSpPr>
            <a:spLocks xmlns:a="http://schemas.openxmlformats.org/drawingml/2006/main" noGrp="1"/>
          </p:cNvSpPr>
          <p:nvPr/>
        </p:nvSpPr>
        <p:spPr>
          <a:xfrm xmlns:a="http://schemas.openxmlformats.org/drawingml/2006/main">
            <a:off x="819150" y="3076575"/>
            <a:ext cx="1276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2B35E"/>
                </a:solidFill>
              </a:defRPr>
            </a:pPr>
            <a:r>
              <a:rPr sz="1275" b="1">
                <a:solidFill>
                  <a:srgbClr val="F2B35E"/>
                </a:solidFill>
              </a:rPr>
              <a:t>业务层</a:t>
            </a:r>
          </a:p>
        </p:txBody>
      </p:sp>
      <p:sp>
        <p:nvSpPr>
          <p:cNvPr id="17" name="">
            <a:extLst xmlns:a="http://schemas.openxmlformats.org/drawingml/2006/main">
              <a:ext uri="{FF2B5EF4-FFF2-40B4-BE49-F238E27FC236}">
                <a16:creationId xmlns:a16="http://schemas.microsoft.com/office/drawing/2014/main" id="{7C1E1258-22AD-45B5-B5C6-59AF5FD37312}"/>
              </a:ext>
            </a:extLst>
          </p:cNvPr>
          <p:cNvSpPr>
            <a:spLocks xmlns:a="http://schemas.openxmlformats.org/drawingml/2006/main" noGrp="1"/>
          </p:cNvSpPr>
          <p:nvPr/>
        </p:nvSpPr>
        <p:spPr>
          <a:xfrm xmlns:a="http://schemas.openxmlformats.org/drawingml/2006/main">
            <a:off x="2286000" y="2990850"/>
            <a:ext cx="550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Controller - Service - Mapper 分层，封装项目、审批、报销、成果等业务逻辑</a:t>
            </a:r>
          </a:p>
        </p:txBody>
      </p:sp>
      <p:sp>
        <p:nvSpPr>
          <p:cNvPr id="18" name="">
            <a:extLst xmlns:a="http://schemas.openxmlformats.org/drawingml/2006/main">
              <a:ext uri="{FF2B5EF4-FFF2-40B4-BE49-F238E27FC236}">
                <a16:creationId xmlns:a16="http://schemas.microsoft.com/office/drawing/2014/main" id="{6E76EEB0-8E77-459A-B786-FB97D53BF8F2}"/>
              </a:ext>
            </a:extLst>
          </p:cNvPr>
          <p:cNvSpPr>
            <a:spLocks xmlns:a="http://schemas.openxmlformats.org/drawingml/2006/main" noGrp="1"/>
          </p:cNvSpPr>
          <p:nvPr/>
        </p:nvSpPr>
        <p:spPr>
          <a:xfrm xmlns:a="http://schemas.openxmlformats.org/drawingml/2006/main">
            <a:off x="4000500" y="3600450"/>
            <a:ext cx="7620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FF6E9FB-1081-4CE5-A7C6-5874599914DE}"/>
              </a:ext>
            </a:extLst>
          </p:cNvPr>
          <p:cNvSpPr>
            <a:spLocks xmlns:a="http://schemas.openxmlformats.org/drawingml/2006/main" noGrp="1"/>
          </p:cNvSpPr>
          <p:nvPr/>
        </p:nvSpPr>
        <p:spPr>
          <a:xfrm xmlns:a="http://schemas.openxmlformats.org/drawingml/2006/main">
            <a:off x="685800" y="3790950"/>
            <a:ext cx="73533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EC"/>
            </a:solidFill>
            <a:prstDash val="solid"/>
          </a:ln>
        </p:spPr>
      </p:sp>
      <p:sp>
        <p:nvSpPr>
          <p:cNvPr id="20" name="">
            <a:extLst xmlns:a="http://schemas.openxmlformats.org/drawingml/2006/main">
              <a:ext uri="{FF2B5EF4-FFF2-40B4-BE49-F238E27FC236}">
                <a16:creationId xmlns:a16="http://schemas.microsoft.com/office/drawing/2014/main" id="{73CB0A56-BF6A-49D4-BFC5-6FAD444B71C7}"/>
              </a:ext>
            </a:extLst>
          </p:cNvPr>
          <p:cNvSpPr>
            <a:spLocks xmlns:a="http://schemas.openxmlformats.org/drawingml/2006/main" noGrp="1"/>
          </p:cNvSpPr>
          <p:nvPr/>
        </p:nvSpPr>
        <p:spPr>
          <a:xfrm xmlns:a="http://schemas.openxmlformats.org/drawingml/2006/main">
            <a:off x="819150" y="3924300"/>
            <a:ext cx="1276350" cy="571500"/>
          </a:xfrm>
          <a:prstGeom xmlns:a="http://schemas.openxmlformats.org/drawingml/2006/main" prst="roundRect">
            <a:avLst>
              <a:gd name="adj" fmla="val 13333"/>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D740193-C7CA-49F0-B277-AF42F6E8DBBA}"/>
              </a:ext>
            </a:extLst>
          </p:cNvPr>
          <p:cNvSpPr>
            <a:spLocks xmlns:a="http://schemas.openxmlformats.org/drawingml/2006/main" noGrp="1"/>
          </p:cNvSpPr>
          <p:nvPr/>
        </p:nvSpPr>
        <p:spPr>
          <a:xfrm xmlns:a="http://schemas.openxmlformats.org/drawingml/2006/main">
            <a:off x="819150" y="4105275"/>
            <a:ext cx="1276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1765B"/>
                </a:solidFill>
              </a:defRPr>
            </a:pPr>
            <a:r>
              <a:rPr sz="1275" b="1">
                <a:solidFill>
                  <a:srgbClr val="F1765B"/>
                </a:solidFill>
              </a:rPr>
              <a:t>数据与安全层</a:t>
            </a:r>
          </a:p>
        </p:txBody>
      </p:sp>
      <p:sp>
        <p:nvSpPr>
          <p:cNvPr id="22" name="">
            <a:extLst xmlns:a="http://schemas.openxmlformats.org/drawingml/2006/main">
              <a:ext uri="{FF2B5EF4-FFF2-40B4-BE49-F238E27FC236}">
                <a16:creationId xmlns:a16="http://schemas.microsoft.com/office/drawing/2014/main" id="{07AEF4EE-D2D0-452A-A638-1A278DF4306A}"/>
              </a:ext>
            </a:extLst>
          </p:cNvPr>
          <p:cNvSpPr>
            <a:spLocks xmlns:a="http://schemas.openxmlformats.org/drawingml/2006/main" noGrp="1"/>
          </p:cNvSpPr>
          <p:nvPr/>
        </p:nvSpPr>
        <p:spPr>
          <a:xfrm xmlns:a="http://schemas.openxmlformats.org/drawingml/2006/main">
            <a:off x="2286000" y="4019550"/>
            <a:ext cx="550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MyBatis + MySQL + Spring Security + JWT，实现持久化与接口鉴权</a:t>
            </a:r>
          </a:p>
        </p:txBody>
      </p:sp>
      <p:sp>
        <p:nvSpPr>
          <p:cNvPr id="23" name="">
            <a:extLst xmlns:a="http://schemas.openxmlformats.org/drawingml/2006/main">
              <a:ext uri="{FF2B5EF4-FFF2-40B4-BE49-F238E27FC236}">
                <a16:creationId xmlns:a16="http://schemas.microsoft.com/office/drawing/2014/main" id="{6F032693-9884-4686-83B9-A623CEC788B3}"/>
              </a:ext>
            </a:extLst>
          </p:cNvPr>
          <p:cNvSpPr>
            <a:spLocks xmlns:a="http://schemas.openxmlformats.org/drawingml/2006/main" noGrp="1"/>
          </p:cNvSpPr>
          <p:nvPr/>
        </p:nvSpPr>
        <p:spPr>
          <a:xfrm xmlns:a="http://schemas.openxmlformats.org/drawingml/2006/main">
            <a:off x="4000500" y="4629150"/>
            <a:ext cx="7620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77ED5510-1872-448C-97F7-F4CD8AF4AC83}"/>
              </a:ext>
            </a:extLst>
          </p:cNvPr>
          <p:cNvSpPr>
            <a:spLocks xmlns:a="http://schemas.openxmlformats.org/drawingml/2006/main" noGrp="1"/>
          </p:cNvSpPr>
          <p:nvPr/>
        </p:nvSpPr>
        <p:spPr>
          <a:xfrm xmlns:a="http://schemas.openxmlformats.org/drawingml/2006/main">
            <a:off x="685800" y="4819650"/>
            <a:ext cx="73533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E2EC"/>
            </a:solidFill>
            <a:prstDash val="solid"/>
          </a:ln>
        </p:spPr>
      </p:sp>
      <p:sp>
        <p:nvSpPr>
          <p:cNvPr id="25" name="">
            <a:extLst xmlns:a="http://schemas.openxmlformats.org/drawingml/2006/main">
              <a:ext uri="{FF2B5EF4-FFF2-40B4-BE49-F238E27FC236}">
                <a16:creationId xmlns:a16="http://schemas.microsoft.com/office/drawing/2014/main" id="{630EDB25-3E25-4D82-B809-2EB33E1FFDE8}"/>
              </a:ext>
            </a:extLst>
          </p:cNvPr>
          <p:cNvSpPr>
            <a:spLocks xmlns:a="http://schemas.openxmlformats.org/drawingml/2006/main" noGrp="1"/>
          </p:cNvSpPr>
          <p:nvPr/>
        </p:nvSpPr>
        <p:spPr>
          <a:xfrm xmlns:a="http://schemas.openxmlformats.org/drawingml/2006/main">
            <a:off x="819150" y="4953000"/>
            <a:ext cx="1276350" cy="571500"/>
          </a:xfrm>
          <a:prstGeom xmlns:a="http://schemas.openxmlformats.org/drawingml/2006/main" prst="roundRect">
            <a:avLst>
              <a:gd name="adj" fmla="val 13333"/>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D1EBA1F-C7E5-44F5-B5A7-AA5F40B39DFB}"/>
              </a:ext>
            </a:extLst>
          </p:cNvPr>
          <p:cNvSpPr>
            <a:spLocks xmlns:a="http://schemas.openxmlformats.org/drawingml/2006/main" noGrp="1"/>
          </p:cNvSpPr>
          <p:nvPr/>
        </p:nvSpPr>
        <p:spPr>
          <a:xfrm xmlns:a="http://schemas.openxmlformats.org/drawingml/2006/main">
            <a:off x="819150" y="5133975"/>
            <a:ext cx="12763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2BB673"/>
                </a:solidFill>
              </a:defRPr>
            </a:pPr>
            <a:r>
              <a:rPr sz="1275" b="1">
                <a:solidFill>
                  <a:srgbClr val="2BB673"/>
                </a:solidFill>
              </a:rPr>
              <a:t>扩展集成层</a:t>
            </a:r>
          </a:p>
        </p:txBody>
      </p:sp>
      <p:sp>
        <p:nvSpPr>
          <p:cNvPr id="27" name="">
            <a:extLst xmlns:a="http://schemas.openxmlformats.org/drawingml/2006/main">
              <a:ext uri="{FF2B5EF4-FFF2-40B4-BE49-F238E27FC236}">
                <a16:creationId xmlns:a16="http://schemas.microsoft.com/office/drawing/2014/main" id="{7E72B6B4-2AC0-4921-AAF9-F4A1545B62FA}"/>
              </a:ext>
            </a:extLst>
          </p:cNvPr>
          <p:cNvSpPr>
            <a:spLocks xmlns:a="http://schemas.openxmlformats.org/drawingml/2006/main" noGrp="1"/>
          </p:cNvSpPr>
          <p:nvPr/>
        </p:nvSpPr>
        <p:spPr>
          <a:xfrm xmlns:a="http://schemas.openxmlformats.org/drawingml/2006/main">
            <a:off x="2286000" y="5048250"/>
            <a:ext cx="550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Swagger / EasyExcel / Apache POI / iText / Qwen API / SSE 流式响应</a:t>
            </a:r>
          </a:p>
        </p:txBody>
      </p:sp>
      <p:sp>
        <p:nvSpPr>
          <p:cNvPr id="28" name="">
            <a:extLst xmlns:a="http://schemas.openxmlformats.org/drawingml/2006/main">
              <a:ext uri="{FF2B5EF4-FFF2-40B4-BE49-F238E27FC236}">
                <a16:creationId xmlns:a16="http://schemas.microsoft.com/office/drawing/2014/main" id="{9EC2E29D-6ED5-4B13-BB98-C09423EDE1F0}"/>
              </a:ext>
            </a:extLst>
          </p:cNvPr>
          <p:cNvSpPr>
            <a:spLocks xmlns:a="http://schemas.openxmlformats.org/drawingml/2006/main" noGrp="1"/>
          </p:cNvSpPr>
          <p:nvPr/>
        </p:nvSpPr>
        <p:spPr>
          <a:xfrm xmlns:a="http://schemas.openxmlformats.org/drawingml/2006/main">
            <a:off x="8458200" y="1752600"/>
            <a:ext cx="3124200" cy="1771650"/>
          </a:xfrm>
          <a:prstGeom xmlns:a="http://schemas.openxmlformats.org/drawingml/2006/main" prst="roundRect">
            <a:avLst>
              <a:gd name="adj" fmla="val 4301"/>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F9150AEB-EFDB-44E6-947F-3C61E206BE66}"/>
              </a:ext>
            </a:extLst>
          </p:cNvPr>
          <p:cNvSpPr>
            <a:spLocks xmlns:a="http://schemas.openxmlformats.org/drawingml/2006/main" noGrp="1"/>
          </p:cNvSpPr>
          <p:nvPr/>
        </p:nvSpPr>
        <p:spPr>
          <a:xfrm xmlns:a="http://schemas.openxmlformats.org/drawingml/2006/main">
            <a:off x="8686800" y="19812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defRPr>
            </a:pPr>
            <a:r>
              <a:rPr sz="1350" b="1">
                <a:solidFill>
                  <a:srgbClr val="FFFFFF"/>
                </a:solidFill>
              </a:rPr>
              <a:t>架构特点</a:t>
            </a:r>
          </a:p>
        </p:txBody>
      </p:sp>
      <p:sp>
        <p:nvSpPr>
          <p:cNvPr id="30" name="">
            <a:extLst xmlns:a="http://schemas.openxmlformats.org/drawingml/2006/main">
              <a:ext uri="{FF2B5EF4-FFF2-40B4-BE49-F238E27FC236}">
                <a16:creationId xmlns:a16="http://schemas.microsoft.com/office/drawing/2014/main" id="{59BB66FD-DDCA-4386-B5CC-DA7670B28444}"/>
              </a:ext>
            </a:extLst>
          </p:cNvPr>
          <p:cNvSpPr>
            <a:spLocks xmlns:a="http://schemas.openxmlformats.org/drawingml/2006/main" noGrp="1"/>
          </p:cNvSpPr>
          <p:nvPr/>
        </p:nvSpPr>
        <p:spPr>
          <a:xfrm xmlns:a="http://schemas.openxmlformats.org/drawingml/2006/main">
            <a:off x="8686800" y="241935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31" name="">
            <a:extLst xmlns:a="http://schemas.openxmlformats.org/drawingml/2006/main">
              <a:ext uri="{FF2B5EF4-FFF2-40B4-BE49-F238E27FC236}">
                <a16:creationId xmlns:a16="http://schemas.microsoft.com/office/drawing/2014/main" id="{B24748FD-26E3-4EF6-AE3B-AD2688DAFE5C}"/>
              </a:ext>
            </a:extLst>
          </p:cNvPr>
          <p:cNvSpPr>
            <a:spLocks xmlns:a="http://schemas.openxmlformats.org/drawingml/2006/main" noGrp="1"/>
          </p:cNvSpPr>
          <p:nvPr/>
        </p:nvSpPr>
        <p:spPr>
          <a:xfrm xmlns:a="http://schemas.openxmlformats.org/drawingml/2006/main">
            <a:off x="8877300" y="2343150"/>
            <a:ext cx="2381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E8F4F8"/>
                </a:solidFill>
              </a:defRPr>
            </a:pPr>
            <a:r>
              <a:rPr sz="975" b="0">
                <a:solidFill>
                  <a:srgbClr val="E8F4F8"/>
                </a:solidFill>
              </a:rPr>
              <a:t>前后端分离，接口职责边界清晰</a:t>
            </a:r>
          </a:p>
        </p:txBody>
      </p:sp>
      <p:sp>
        <p:nvSpPr>
          <p:cNvPr id="32" name="">
            <a:extLst xmlns:a="http://schemas.openxmlformats.org/drawingml/2006/main">
              <a:ext uri="{FF2B5EF4-FFF2-40B4-BE49-F238E27FC236}">
                <a16:creationId xmlns:a16="http://schemas.microsoft.com/office/drawing/2014/main" id="{DBFBF451-6407-4C80-AC00-FD4FB37D8333}"/>
              </a:ext>
            </a:extLst>
          </p:cNvPr>
          <p:cNvSpPr>
            <a:spLocks xmlns:a="http://schemas.openxmlformats.org/drawingml/2006/main" noGrp="1"/>
          </p:cNvSpPr>
          <p:nvPr/>
        </p:nvSpPr>
        <p:spPr>
          <a:xfrm xmlns:a="http://schemas.openxmlformats.org/drawingml/2006/main">
            <a:off x="8686800" y="278130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33" name="">
            <a:extLst xmlns:a="http://schemas.openxmlformats.org/drawingml/2006/main">
              <a:ext uri="{FF2B5EF4-FFF2-40B4-BE49-F238E27FC236}">
                <a16:creationId xmlns:a16="http://schemas.microsoft.com/office/drawing/2014/main" id="{78608FC0-0772-452C-AF8E-53E43F71C5B4}"/>
              </a:ext>
            </a:extLst>
          </p:cNvPr>
          <p:cNvSpPr>
            <a:spLocks xmlns:a="http://schemas.openxmlformats.org/drawingml/2006/main" noGrp="1"/>
          </p:cNvSpPr>
          <p:nvPr/>
        </p:nvSpPr>
        <p:spPr>
          <a:xfrm xmlns:a="http://schemas.openxmlformats.org/drawingml/2006/main">
            <a:off x="8877300" y="2705100"/>
            <a:ext cx="2381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E8F4F8"/>
                </a:solidFill>
              </a:defRPr>
            </a:pPr>
            <a:r>
              <a:rPr sz="975" b="0">
                <a:solidFill>
                  <a:srgbClr val="E8F4F8"/>
                </a:solidFill>
              </a:rPr>
              <a:t>路由守卫与 JWT 双重校验访问</a:t>
            </a:r>
          </a:p>
        </p:txBody>
      </p:sp>
      <p:sp>
        <p:nvSpPr>
          <p:cNvPr id="34" name="">
            <a:extLst xmlns:a="http://schemas.openxmlformats.org/drawingml/2006/main">
              <a:ext uri="{FF2B5EF4-FFF2-40B4-BE49-F238E27FC236}">
                <a16:creationId xmlns:a16="http://schemas.microsoft.com/office/drawing/2014/main" id="{E8C7719B-3C6D-48E0-BB25-2DDA1D9F3175}"/>
              </a:ext>
            </a:extLst>
          </p:cNvPr>
          <p:cNvSpPr>
            <a:spLocks xmlns:a="http://schemas.openxmlformats.org/drawingml/2006/main" noGrp="1"/>
          </p:cNvSpPr>
          <p:nvPr/>
        </p:nvSpPr>
        <p:spPr>
          <a:xfrm xmlns:a="http://schemas.openxmlformats.org/drawingml/2006/main">
            <a:off x="8686800" y="314325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35" name="">
            <a:extLst xmlns:a="http://schemas.openxmlformats.org/drawingml/2006/main">
              <a:ext uri="{FF2B5EF4-FFF2-40B4-BE49-F238E27FC236}">
                <a16:creationId xmlns:a16="http://schemas.microsoft.com/office/drawing/2014/main" id="{BDAA24FE-9551-4F42-84ED-B81F29B7A863}"/>
              </a:ext>
            </a:extLst>
          </p:cNvPr>
          <p:cNvSpPr>
            <a:spLocks xmlns:a="http://schemas.openxmlformats.org/drawingml/2006/main" noGrp="1"/>
          </p:cNvSpPr>
          <p:nvPr/>
        </p:nvSpPr>
        <p:spPr>
          <a:xfrm xmlns:a="http://schemas.openxmlformats.org/drawingml/2006/main">
            <a:off x="8877300" y="3067050"/>
            <a:ext cx="2381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E8F4F8"/>
                </a:solidFill>
              </a:defRPr>
            </a:pPr>
            <a:r>
              <a:rPr sz="975" b="0">
                <a:solidFill>
                  <a:srgbClr val="E8F4F8"/>
                </a:solidFill>
              </a:rPr>
              <a:t>保留 AI、导出和文档处理能力</a:t>
            </a:r>
          </a:p>
        </p:txBody>
      </p:sp>
      <p:sp>
        <p:nvSpPr>
          <p:cNvPr id="36" name="">
            <a:extLst xmlns:a="http://schemas.openxmlformats.org/drawingml/2006/main">
              <a:ext uri="{FF2B5EF4-FFF2-40B4-BE49-F238E27FC236}">
                <a16:creationId xmlns:a16="http://schemas.microsoft.com/office/drawing/2014/main" id="{870062F0-EF7A-4C5B-9D77-65E3754D40C0}"/>
              </a:ext>
            </a:extLst>
          </p:cNvPr>
          <p:cNvSpPr>
            <a:spLocks xmlns:a="http://schemas.openxmlformats.org/drawingml/2006/main" noGrp="1"/>
          </p:cNvSpPr>
          <p:nvPr/>
        </p:nvSpPr>
        <p:spPr>
          <a:xfrm xmlns:a="http://schemas.openxmlformats.org/drawingml/2006/main">
            <a:off x="8458200" y="3733800"/>
            <a:ext cx="3124200" cy="1885950"/>
          </a:xfrm>
          <a:prstGeom xmlns:a="http://schemas.openxmlformats.org/drawingml/2006/main" prst="roundRect">
            <a:avLst>
              <a:gd name="adj" fmla="val 4040"/>
            </a:avLst>
          </a:prstGeom>
          <a:solidFill xmlns:a="http://schemas.openxmlformats.org/drawingml/2006/main">
            <a:srgbClr val="FFFFFF"/>
          </a:solidFill>
          <a:ln xmlns:a="http://schemas.openxmlformats.org/drawingml/2006/main" w="9525">
            <a:solidFill>
              <a:srgbClr val="D9E2EC"/>
            </a:solidFill>
            <a:prstDash val="solid"/>
          </a:ln>
        </p:spPr>
      </p:sp>
      <p:sp>
        <p:nvSpPr>
          <p:cNvPr id="37" name="">
            <a:extLst xmlns:a="http://schemas.openxmlformats.org/drawingml/2006/main">
              <a:ext uri="{FF2B5EF4-FFF2-40B4-BE49-F238E27FC236}">
                <a16:creationId xmlns:a16="http://schemas.microsoft.com/office/drawing/2014/main" id="{CA1F8583-3165-4CFE-B09E-C7583611ED1C}"/>
              </a:ext>
            </a:extLst>
          </p:cNvPr>
          <p:cNvSpPr>
            <a:spLocks xmlns:a="http://schemas.openxmlformats.org/drawingml/2006/main" noGrp="1"/>
          </p:cNvSpPr>
          <p:nvPr/>
        </p:nvSpPr>
        <p:spPr>
          <a:xfrm xmlns:a="http://schemas.openxmlformats.org/drawingml/2006/main">
            <a:off x="8686800" y="396240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关键技术栈</a:t>
            </a:r>
          </a:p>
        </p:txBody>
      </p:sp>
      <p:sp>
        <p:nvSpPr>
          <p:cNvPr id="38" name="">
            <a:extLst xmlns:a="http://schemas.openxmlformats.org/drawingml/2006/main">
              <a:ext uri="{FF2B5EF4-FFF2-40B4-BE49-F238E27FC236}">
                <a16:creationId xmlns:a16="http://schemas.microsoft.com/office/drawing/2014/main" id="{5481E24B-CFE4-4D29-B20E-5208569604C0}"/>
              </a:ext>
            </a:extLst>
          </p:cNvPr>
          <p:cNvSpPr>
            <a:spLocks xmlns:a="http://schemas.openxmlformats.org/drawingml/2006/main" noGrp="1"/>
          </p:cNvSpPr>
          <p:nvPr/>
        </p:nvSpPr>
        <p:spPr>
          <a:xfrm xmlns:a="http://schemas.openxmlformats.org/drawingml/2006/main">
            <a:off x="8686800" y="4305300"/>
            <a:ext cx="1257300" cy="3048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9525">
            <a:solidFill>
              <a:srgbClr val="D9E2EC"/>
            </a:solidFill>
            <a:prstDash val="solid"/>
          </a:ln>
        </p:spPr>
      </p:sp>
      <p:sp>
        <p:nvSpPr>
          <p:cNvPr id="39" name="">
            <a:extLst xmlns:a="http://schemas.openxmlformats.org/drawingml/2006/main">
              <a:ext uri="{FF2B5EF4-FFF2-40B4-BE49-F238E27FC236}">
                <a16:creationId xmlns:a16="http://schemas.microsoft.com/office/drawing/2014/main" id="{924B56B7-F1B4-4D9E-8964-9701D29478C6}"/>
              </a:ext>
            </a:extLst>
          </p:cNvPr>
          <p:cNvSpPr>
            <a:spLocks xmlns:a="http://schemas.openxmlformats.org/drawingml/2006/main" noGrp="1"/>
          </p:cNvSpPr>
          <p:nvPr/>
        </p:nvSpPr>
        <p:spPr>
          <a:xfrm xmlns:a="http://schemas.openxmlformats.org/drawingml/2006/main">
            <a:off x="8782050" y="4381500"/>
            <a:ext cx="457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8B6B0"/>
                </a:solidFill>
              </a:defRPr>
            </a:pPr>
            <a:r>
              <a:rPr sz="750" b="1">
                <a:solidFill>
                  <a:srgbClr val="18B6B0"/>
                </a:solidFill>
              </a:rPr>
              <a:t>前端</a:t>
            </a:r>
          </a:p>
        </p:txBody>
      </p:sp>
      <p:sp>
        <p:nvSpPr>
          <p:cNvPr id="40" name="">
            <a:extLst xmlns:a="http://schemas.openxmlformats.org/drawingml/2006/main">
              <a:ext uri="{FF2B5EF4-FFF2-40B4-BE49-F238E27FC236}">
                <a16:creationId xmlns:a16="http://schemas.microsoft.com/office/drawing/2014/main" id="{725DF508-52E5-41E2-969D-0B668D7EC5BE}"/>
              </a:ext>
            </a:extLst>
          </p:cNvPr>
          <p:cNvSpPr>
            <a:spLocks xmlns:a="http://schemas.openxmlformats.org/drawingml/2006/main" noGrp="1"/>
          </p:cNvSpPr>
          <p:nvPr/>
        </p:nvSpPr>
        <p:spPr>
          <a:xfrm xmlns:a="http://schemas.openxmlformats.org/drawingml/2006/main">
            <a:off x="9239250" y="4381500"/>
            <a:ext cx="590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00" b="0">
                <a:solidFill>
                  <a:srgbClr val="243B53"/>
                </a:solidFill>
              </a:defRPr>
            </a:pPr>
            <a:r>
              <a:rPr sz="600" b="0">
                <a:solidFill>
                  <a:srgbClr val="243B53"/>
                </a:solidFill>
              </a:rPr>
              <a:t>Vue 3 + Vite</a:t>
            </a:r>
          </a:p>
        </p:txBody>
      </p:sp>
      <p:sp>
        <p:nvSpPr>
          <p:cNvPr id="41" name="">
            <a:extLst xmlns:a="http://schemas.openxmlformats.org/drawingml/2006/main">
              <a:ext uri="{FF2B5EF4-FFF2-40B4-BE49-F238E27FC236}">
                <a16:creationId xmlns:a16="http://schemas.microsoft.com/office/drawing/2014/main" id="{9C1BA599-E8D1-4E6E-9D78-DB1B8E0E3570}"/>
              </a:ext>
            </a:extLst>
          </p:cNvPr>
          <p:cNvSpPr>
            <a:spLocks xmlns:a="http://schemas.openxmlformats.org/drawingml/2006/main" noGrp="1"/>
          </p:cNvSpPr>
          <p:nvPr/>
        </p:nvSpPr>
        <p:spPr>
          <a:xfrm xmlns:a="http://schemas.openxmlformats.org/drawingml/2006/main">
            <a:off x="10077450" y="4305300"/>
            <a:ext cx="1257300" cy="3048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9525">
            <a:solidFill>
              <a:srgbClr val="D9E2EC"/>
            </a:solidFill>
            <a:prstDash val="solid"/>
          </a:ln>
        </p:spPr>
      </p:sp>
      <p:sp>
        <p:nvSpPr>
          <p:cNvPr id="42" name="">
            <a:extLst xmlns:a="http://schemas.openxmlformats.org/drawingml/2006/main">
              <a:ext uri="{FF2B5EF4-FFF2-40B4-BE49-F238E27FC236}">
                <a16:creationId xmlns:a16="http://schemas.microsoft.com/office/drawing/2014/main" id="{94CCD7E8-A8B2-4643-BA84-BEF4731EAE41}"/>
              </a:ext>
            </a:extLst>
          </p:cNvPr>
          <p:cNvSpPr>
            <a:spLocks xmlns:a="http://schemas.openxmlformats.org/drawingml/2006/main" noGrp="1"/>
          </p:cNvSpPr>
          <p:nvPr/>
        </p:nvSpPr>
        <p:spPr>
          <a:xfrm xmlns:a="http://schemas.openxmlformats.org/drawingml/2006/main">
            <a:off x="10172700" y="4381500"/>
            <a:ext cx="457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8B6B0"/>
                </a:solidFill>
              </a:defRPr>
            </a:pPr>
            <a:r>
              <a:rPr sz="750" b="1">
                <a:solidFill>
                  <a:srgbClr val="18B6B0"/>
                </a:solidFill>
              </a:rPr>
              <a:t>后端</a:t>
            </a:r>
          </a:p>
        </p:txBody>
      </p:sp>
      <p:sp>
        <p:nvSpPr>
          <p:cNvPr id="43" name="">
            <a:extLst xmlns:a="http://schemas.openxmlformats.org/drawingml/2006/main">
              <a:ext uri="{FF2B5EF4-FFF2-40B4-BE49-F238E27FC236}">
                <a16:creationId xmlns:a16="http://schemas.microsoft.com/office/drawing/2014/main" id="{ED8DA4D0-0575-4044-B8DA-945E646D99C4}"/>
              </a:ext>
            </a:extLst>
          </p:cNvPr>
          <p:cNvSpPr>
            <a:spLocks xmlns:a="http://schemas.openxmlformats.org/drawingml/2006/main" noGrp="1"/>
          </p:cNvSpPr>
          <p:nvPr/>
        </p:nvSpPr>
        <p:spPr>
          <a:xfrm xmlns:a="http://schemas.openxmlformats.org/drawingml/2006/main">
            <a:off x="10629900" y="4381500"/>
            <a:ext cx="590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6719"/>
          </a:bodyPr>
          <a:lstStyle xmlns:a="http://schemas.openxmlformats.org/drawingml/2006/main"/>
          <a:p xmlns:a="http://schemas.openxmlformats.org/drawingml/2006/main">
            <a:pPr algn="l">
              <a:defRPr sz="600" b="0">
                <a:solidFill>
                  <a:srgbClr val="243B53"/>
                </a:solidFill>
              </a:defRPr>
            </a:pPr>
            <a:r>
              <a:rPr sz="600" b="0">
                <a:solidFill>
                  <a:srgbClr val="243B53"/>
                </a:solidFill>
              </a:rPr>
              <a:t>Spring Boot + MyBatis</a:t>
            </a:r>
          </a:p>
        </p:txBody>
      </p:sp>
      <p:sp>
        <p:nvSpPr>
          <p:cNvPr id="44" name="">
            <a:extLst xmlns:a="http://schemas.openxmlformats.org/drawingml/2006/main">
              <a:ext uri="{FF2B5EF4-FFF2-40B4-BE49-F238E27FC236}">
                <a16:creationId xmlns:a16="http://schemas.microsoft.com/office/drawing/2014/main" id="{5F7A7BAA-BFF3-4252-A103-7BB621EFD7A3}"/>
              </a:ext>
            </a:extLst>
          </p:cNvPr>
          <p:cNvSpPr>
            <a:spLocks xmlns:a="http://schemas.openxmlformats.org/drawingml/2006/main" noGrp="1"/>
          </p:cNvSpPr>
          <p:nvPr/>
        </p:nvSpPr>
        <p:spPr>
          <a:xfrm xmlns:a="http://schemas.openxmlformats.org/drawingml/2006/main">
            <a:off x="8686800" y="4724400"/>
            <a:ext cx="1257300" cy="3048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9525">
            <a:solidFill>
              <a:srgbClr val="D9E2EC"/>
            </a:solidFill>
            <a:prstDash val="solid"/>
          </a:ln>
        </p:spPr>
      </p:sp>
      <p:sp>
        <p:nvSpPr>
          <p:cNvPr id="45" name="">
            <a:extLst xmlns:a="http://schemas.openxmlformats.org/drawingml/2006/main">
              <a:ext uri="{FF2B5EF4-FFF2-40B4-BE49-F238E27FC236}">
                <a16:creationId xmlns:a16="http://schemas.microsoft.com/office/drawing/2014/main" id="{CCDBA0D4-16DE-439B-AFC8-3E2761005173}"/>
              </a:ext>
            </a:extLst>
          </p:cNvPr>
          <p:cNvSpPr>
            <a:spLocks xmlns:a="http://schemas.openxmlformats.org/drawingml/2006/main" noGrp="1"/>
          </p:cNvSpPr>
          <p:nvPr/>
        </p:nvSpPr>
        <p:spPr>
          <a:xfrm xmlns:a="http://schemas.openxmlformats.org/drawingml/2006/main">
            <a:off x="8782050" y="4800600"/>
            <a:ext cx="457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8B6B0"/>
                </a:solidFill>
              </a:defRPr>
            </a:pPr>
            <a:r>
              <a:rPr sz="750" b="1">
                <a:solidFill>
                  <a:srgbClr val="18B6B0"/>
                </a:solidFill>
              </a:rPr>
              <a:t>鉴权</a:t>
            </a:r>
          </a:p>
        </p:txBody>
      </p:sp>
      <p:sp>
        <p:nvSpPr>
          <p:cNvPr id="46" name="">
            <a:extLst xmlns:a="http://schemas.openxmlformats.org/drawingml/2006/main">
              <a:ext uri="{FF2B5EF4-FFF2-40B4-BE49-F238E27FC236}">
                <a16:creationId xmlns:a16="http://schemas.microsoft.com/office/drawing/2014/main" id="{7A14C135-DC73-41C5-BEC3-3C2EF533C77C}"/>
              </a:ext>
            </a:extLst>
          </p:cNvPr>
          <p:cNvSpPr>
            <a:spLocks xmlns:a="http://schemas.openxmlformats.org/drawingml/2006/main" noGrp="1"/>
          </p:cNvSpPr>
          <p:nvPr/>
        </p:nvSpPr>
        <p:spPr>
          <a:xfrm xmlns:a="http://schemas.openxmlformats.org/drawingml/2006/main">
            <a:off x="9239250" y="4800600"/>
            <a:ext cx="590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89094"/>
          </a:bodyPr>
          <a:lstStyle xmlns:a="http://schemas.openxmlformats.org/drawingml/2006/main"/>
          <a:p xmlns:a="http://schemas.openxmlformats.org/drawingml/2006/main">
            <a:pPr algn="l">
              <a:defRPr sz="600" b="0">
                <a:solidFill>
                  <a:srgbClr val="243B53"/>
                </a:solidFill>
              </a:defRPr>
            </a:pPr>
            <a:r>
              <a:rPr sz="600" b="0">
                <a:solidFill>
                  <a:srgbClr val="243B53"/>
                </a:solidFill>
              </a:rPr>
              <a:t>Spring Security + JWT</a:t>
            </a:r>
          </a:p>
        </p:txBody>
      </p:sp>
      <p:sp>
        <p:nvSpPr>
          <p:cNvPr id="47" name="">
            <a:extLst xmlns:a="http://schemas.openxmlformats.org/drawingml/2006/main">
              <a:ext uri="{FF2B5EF4-FFF2-40B4-BE49-F238E27FC236}">
                <a16:creationId xmlns:a16="http://schemas.microsoft.com/office/drawing/2014/main" id="{D6942772-83F8-4945-805B-49FCF0345112}"/>
              </a:ext>
            </a:extLst>
          </p:cNvPr>
          <p:cNvSpPr>
            <a:spLocks xmlns:a="http://schemas.openxmlformats.org/drawingml/2006/main" noGrp="1"/>
          </p:cNvSpPr>
          <p:nvPr/>
        </p:nvSpPr>
        <p:spPr>
          <a:xfrm xmlns:a="http://schemas.openxmlformats.org/drawingml/2006/main">
            <a:off x="10077450" y="4724400"/>
            <a:ext cx="1257300" cy="3048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9525">
            <a:solidFill>
              <a:srgbClr val="D9E2EC"/>
            </a:solidFill>
            <a:prstDash val="solid"/>
          </a:ln>
        </p:spPr>
      </p:sp>
      <p:sp>
        <p:nvSpPr>
          <p:cNvPr id="48" name="">
            <a:extLst xmlns:a="http://schemas.openxmlformats.org/drawingml/2006/main">
              <a:ext uri="{FF2B5EF4-FFF2-40B4-BE49-F238E27FC236}">
                <a16:creationId xmlns:a16="http://schemas.microsoft.com/office/drawing/2014/main" id="{8000518A-8DBF-45EA-8AF1-522E0473CAE8}"/>
              </a:ext>
            </a:extLst>
          </p:cNvPr>
          <p:cNvSpPr>
            <a:spLocks xmlns:a="http://schemas.openxmlformats.org/drawingml/2006/main" noGrp="1"/>
          </p:cNvSpPr>
          <p:nvPr/>
        </p:nvSpPr>
        <p:spPr>
          <a:xfrm xmlns:a="http://schemas.openxmlformats.org/drawingml/2006/main">
            <a:off x="10172700" y="4800600"/>
            <a:ext cx="457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8B6B0"/>
                </a:solidFill>
              </a:defRPr>
            </a:pPr>
            <a:r>
              <a:rPr sz="750" b="1">
                <a:solidFill>
                  <a:srgbClr val="18B6B0"/>
                </a:solidFill>
              </a:rPr>
              <a:t>接口文档</a:t>
            </a:r>
          </a:p>
        </p:txBody>
      </p:sp>
      <p:sp>
        <p:nvSpPr>
          <p:cNvPr id="49" name="">
            <a:extLst xmlns:a="http://schemas.openxmlformats.org/drawingml/2006/main">
              <a:ext uri="{FF2B5EF4-FFF2-40B4-BE49-F238E27FC236}">
                <a16:creationId xmlns:a16="http://schemas.microsoft.com/office/drawing/2014/main" id="{608F2FE2-14C8-4581-AE62-EE0BBB8DF5D7}"/>
              </a:ext>
            </a:extLst>
          </p:cNvPr>
          <p:cNvSpPr>
            <a:spLocks xmlns:a="http://schemas.openxmlformats.org/drawingml/2006/main" noGrp="1"/>
          </p:cNvSpPr>
          <p:nvPr/>
        </p:nvSpPr>
        <p:spPr>
          <a:xfrm xmlns:a="http://schemas.openxmlformats.org/drawingml/2006/main">
            <a:off x="10629900" y="4800600"/>
            <a:ext cx="590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9156"/>
          </a:bodyPr>
          <a:lstStyle xmlns:a="http://schemas.openxmlformats.org/drawingml/2006/main"/>
          <a:p xmlns:a="http://schemas.openxmlformats.org/drawingml/2006/main">
            <a:pPr algn="l">
              <a:defRPr sz="600" b="0">
                <a:solidFill>
                  <a:srgbClr val="243B53"/>
                </a:solidFill>
              </a:defRPr>
            </a:pPr>
            <a:r>
              <a:rPr sz="600" b="0">
                <a:solidFill>
                  <a:srgbClr val="243B53"/>
                </a:solidFill>
              </a:rPr>
              <a:t>Swagger / OpenAPI</a:t>
            </a:r>
          </a:p>
        </p:txBody>
      </p:sp>
      <p:sp>
        <p:nvSpPr>
          <p:cNvPr id="50" name="">
            <a:extLst xmlns:a="http://schemas.openxmlformats.org/drawingml/2006/main">
              <a:ext uri="{FF2B5EF4-FFF2-40B4-BE49-F238E27FC236}">
                <a16:creationId xmlns:a16="http://schemas.microsoft.com/office/drawing/2014/main" id="{0EA7FD27-8E5D-4D21-9A75-81A7CC7A8250}"/>
              </a:ext>
            </a:extLst>
          </p:cNvPr>
          <p:cNvSpPr>
            <a:spLocks xmlns:a="http://schemas.openxmlformats.org/drawingml/2006/main" noGrp="1"/>
          </p:cNvSpPr>
          <p:nvPr/>
        </p:nvSpPr>
        <p:spPr>
          <a:xfrm xmlns:a="http://schemas.openxmlformats.org/drawingml/2006/main">
            <a:off x="8686800" y="5143500"/>
            <a:ext cx="1257300" cy="3048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9525">
            <a:solidFill>
              <a:srgbClr val="D9E2EC"/>
            </a:solidFill>
            <a:prstDash val="solid"/>
          </a:ln>
        </p:spPr>
      </p:sp>
      <p:sp>
        <p:nvSpPr>
          <p:cNvPr id="51" name="">
            <a:extLst xmlns:a="http://schemas.openxmlformats.org/drawingml/2006/main">
              <a:ext uri="{FF2B5EF4-FFF2-40B4-BE49-F238E27FC236}">
                <a16:creationId xmlns:a16="http://schemas.microsoft.com/office/drawing/2014/main" id="{F17AC6FB-5F8A-4883-ADFC-E7E312D0E347}"/>
              </a:ext>
            </a:extLst>
          </p:cNvPr>
          <p:cNvSpPr>
            <a:spLocks xmlns:a="http://schemas.openxmlformats.org/drawingml/2006/main" noGrp="1"/>
          </p:cNvSpPr>
          <p:nvPr/>
        </p:nvSpPr>
        <p:spPr>
          <a:xfrm xmlns:a="http://schemas.openxmlformats.org/drawingml/2006/main">
            <a:off x="8782050" y="5219700"/>
            <a:ext cx="457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8B6B0"/>
                </a:solidFill>
              </a:defRPr>
            </a:pPr>
            <a:r>
              <a:rPr sz="750" b="1">
                <a:solidFill>
                  <a:srgbClr val="18B6B0"/>
                </a:solidFill>
              </a:rPr>
              <a:t>AI 扩展</a:t>
            </a:r>
          </a:p>
        </p:txBody>
      </p:sp>
      <p:sp>
        <p:nvSpPr>
          <p:cNvPr id="52" name="">
            <a:extLst xmlns:a="http://schemas.openxmlformats.org/drawingml/2006/main">
              <a:ext uri="{FF2B5EF4-FFF2-40B4-BE49-F238E27FC236}">
                <a16:creationId xmlns:a16="http://schemas.microsoft.com/office/drawing/2014/main" id="{2FBF369A-6069-4497-B0DF-0CD632112A38}"/>
              </a:ext>
            </a:extLst>
          </p:cNvPr>
          <p:cNvSpPr>
            <a:spLocks xmlns:a="http://schemas.openxmlformats.org/drawingml/2006/main" noGrp="1"/>
          </p:cNvSpPr>
          <p:nvPr/>
        </p:nvSpPr>
        <p:spPr>
          <a:xfrm xmlns:a="http://schemas.openxmlformats.org/drawingml/2006/main">
            <a:off x="9239250" y="5219700"/>
            <a:ext cx="590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00" b="0">
                <a:solidFill>
                  <a:srgbClr val="243B53"/>
                </a:solidFill>
              </a:defRPr>
            </a:pPr>
            <a:r>
              <a:rPr sz="600" b="0">
                <a:solidFill>
                  <a:srgbClr val="243B53"/>
                </a:solidFill>
              </a:rPr>
              <a:t>Qwen + SSE</a:t>
            </a:r>
          </a:p>
        </p:txBody>
      </p:sp>
      <p:sp>
        <p:nvSpPr>
          <p:cNvPr id="53" name="">
            <a:extLst xmlns:a="http://schemas.openxmlformats.org/drawingml/2006/main">
              <a:ext uri="{FF2B5EF4-FFF2-40B4-BE49-F238E27FC236}">
                <a16:creationId xmlns:a16="http://schemas.microsoft.com/office/drawing/2014/main" id="{74A20620-FBDD-4343-85AE-CE76775F0F0D}"/>
              </a:ext>
            </a:extLst>
          </p:cNvPr>
          <p:cNvSpPr>
            <a:spLocks xmlns:a="http://schemas.openxmlformats.org/drawingml/2006/main" noGrp="1"/>
          </p:cNvSpPr>
          <p:nvPr/>
        </p:nvSpPr>
        <p:spPr>
          <a:xfrm xmlns:a="http://schemas.openxmlformats.org/drawingml/2006/main">
            <a:off x="10077450" y="5143500"/>
            <a:ext cx="1257300" cy="304800"/>
          </a:xfrm>
          <a:prstGeom xmlns:a="http://schemas.openxmlformats.org/drawingml/2006/main" prst="roundRect">
            <a:avLst>
              <a:gd name="adj" fmla="val 25000"/>
            </a:avLst>
          </a:prstGeom>
          <a:solidFill xmlns:a="http://schemas.openxmlformats.org/drawingml/2006/main">
            <a:srgbClr val="F8FAFC"/>
          </a:solidFill>
          <a:ln xmlns:a="http://schemas.openxmlformats.org/drawingml/2006/main" w="9525">
            <a:solidFill>
              <a:srgbClr val="D9E2EC"/>
            </a:solidFill>
            <a:prstDash val="solid"/>
          </a:ln>
        </p:spPr>
      </p:sp>
      <p:sp>
        <p:nvSpPr>
          <p:cNvPr id="54" name="">
            <a:extLst xmlns:a="http://schemas.openxmlformats.org/drawingml/2006/main">
              <a:ext uri="{FF2B5EF4-FFF2-40B4-BE49-F238E27FC236}">
                <a16:creationId xmlns:a16="http://schemas.microsoft.com/office/drawing/2014/main" id="{5FE97083-03E2-4452-9457-24D0ABC6413F}"/>
              </a:ext>
            </a:extLst>
          </p:cNvPr>
          <p:cNvSpPr>
            <a:spLocks xmlns:a="http://schemas.openxmlformats.org/drawingml/2006/main" noGrp="1"/>
          </p:cNvSpPr>
          <p:nvPr/>
        </p:nvSpPr>
        <p:spPr>
          <a:xfrm xmlns:a="http://schemas.openxmlformats.org/drawingml/2006/main">
            <a:off x="10172700" y="5219700"/>
            <a:ext cx="457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8B6B0"/>
                </a:solidFill>
              </a:defRPr>
            </a:pPr>
            <a:r>
              <a:rPr sz="750" b="1">
                <a:solidFill>
                  <a:srgbClr val="18B6B0"/>
                </a:solidFill>
              </a:rPr>
              <a:t>导出能力</a:t>
            </a:r>
          </a:p>
        </p:txBody>
      </p:sp>
      <p:sp>
        <p:nvSpPr>
          <p:cNvPr id="55" name="">
            <a:extLst xmlns:a="http://schemas.openxmlformats.org/drawingml/2006/main">
              <a:ext uri="{FF2B5EF4-FFF2-40B4-BE49-F238E27FC236}">
                <a16:creationId xmlns:a16="http://schemas.microsoft.com/office/drawing/2014/main" id="{E489EC62-23DE-4A63-9428-DC8BF67396CD}"/>
              </a:ext>
            </a:extLst>
          </p:cNvPr>
          <p:cNvSpPr>
            <a:spLocks xmlns:a="http://schemas.openxmlformats.org/drawingml/2006/main" noGrp="1"/>
          </p:cNvSpPr>
          <p:nvPr/>
        </p:nvSpPr>
        <p:spPr>
          <a:xfrm xmlns:a="http://schemas.openxmlformats.org/drawingml/2006/main">
            <a:off x="10629900" y="5219700"/>
            <a:ext cx="590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0956"/>
          </a:bodyPr>
          <a:lstStyle xmlns:a="http://schemas.openxmlformats.org/drawingml/2006/main"/>
          <a:p xmlns:a="http://schemas.openxmlformats.org/drawingml/2006/main">
            <a:pPr algn="l">
              <a:defRPr sz="600" b="0">
                <a:solidFill>
                  <a:srgbClr val="243B53"/>
                </a:solidFill>
              </a:defRPr>
            </a:pPr>
            <a:r>
              <a:rPr sz="600" b="0">
                <a:solidFill>
                  <a:srgbClr val="243B53"/>
                </a:solidFill>
              </a:rPr>
              <a:t>EasyExcel / POI / PDF</a:t>
            </a:r>
          </a:p>
        </p:txBody>
      </p:sp>
    </p:spTree>
    <p:extLst>
      <p:ext uri="{BB962C8B-B14F-4D97-AF65-F5344CB8AC3E}">
        <p14:creationId xmlns:p14="http://schemas.microsoft.com/office/powerpoint/2010/main" val="668412286"/>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B746F3-30D5-4377-8650-32192FEB30FF}"/>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FB53BA0-736D-457B-B6BF-AA3ADD5EE164}"/>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36EDCF0-00F0-4A96-A153-31EEDE5DDE3C}"/>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MODULES</a:t>
            </a:r>
          </a:p>
        </p:txBody>
      </p:sp>
      <p:sp>
        <p:nvSpPr>
          <p:cNvPr id="5" name="">
            <a:extLst xmlns:a="http://schemas.openxmlformats.org/drawingml/2006/main">
              <a:ext uri="{FF2B5EF4-FFF2-40B4-BE49-F238E27FC236}">
                <a16:creationId xmlns:a16="http://schemas.microsoft.com/office/drawing/2014/main" id="{77BE1B2B-1786-49C2-9E65-A2673C6D09B9}"/>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06</a:t>
            </a:r>
          </a:p>
        </p:txBody>
      </p:sp>
      <p:sp>
        <p:nvSpPr>
          <p:cNvPr id="6" name="">
            <a:extLst xmlns:a="http://schemas.openxmlformats.org/drawingml/2006/main">
              <a:ext uri="{FF2B5EF4-FFF2-40B4-BE49-F238E27FC236}">
                <a16:creationId xmlns:a16="http://schemas.microsoft.com/office/drawing/2014/main" id="{D7F2FB80-D5B2-4B49-AC3A-44190ABF0B3F}"/>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功能模块设计</a:t>
            </a:r>
          </a:p>
        </p:txBody>
      </p:sp>
      <p:sp>
        <p:nvSpPr>
          <p:cNvPr id="7" name="">
            <a:extLst xmlns:a="http://schemas.openxmlformats.org/drawingml/2006/main">
              <a:ext uri="{FF2B5EF4-FFF2-40B4-BE49-F238E27FC236}">
                <a16:creationId xmlns:a16="http://schemas.microsoft.com/office/drawing/2014/main" id="{43D20E2E-9CF7-4576-9E40-8BECAEE8E165}"/>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围绕“项目”为主轴，将权限、审批、经费、成果与 AI 扩展形成协同体系。</a:t>
            </a:r>
          </a:p>
        </p:txBody>
      </p:sp>
      <p:sp>
        <p:nvSpPr>
          <p:cNvPr id="8" name="">
            <a:extLst xmlns:a="http://schemas.openxmlformats.org/drawingml/2006/main">
              <a:ext uri="{FF2B5EF4-FFF2-40B4-BE49-F238E27FC236}">
                <a16:creationId xmlns:a16="http://schemas.microsoft.com/office/drawing/2014/main" id="{83F84F5B-9779-4635-B3BC-20BB3CDDCE4E}"/>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DAA1291-4323-4655-B567-A88678F654D1}"/>
              </a:ext>
            </a:extLst>
          </p:cNvPr>
          <p:cNvSpPr>
            <a:spLocks xmlns:a="http://schemas.openxmlformats.org/drawingml/2006/main" noGrp="1"/>
          </p:cNvSpPr>
          <p:nvPr/>
        </p:nvSpPr>
        <p:spPr>
          <a:xfrm xmlns:a="http://schemas.openxmlformats.org/drawingml/2006/main">
            <a:off x="685800" y="18669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83514DA2-836B-4979-9A2A-C625EE3E88CA}"/>
              </a:ext>
            </a:extLst>
          </p:cNvPr>
          <p:cNvSpPr>
            <a:spLocks xmlns:a="http://schemas.openxmlformats.org/drawingml/2006/main" noGrp="1"/>
          </p:cNvSpPr>
          <p:nvPr/>
        </p:nvSpPr>
        <p:spPr>
          <a:xfrm xmlns:a="http://schemas.openxmlformats.org/drawingml/2006/main">
            <a:off x="685800" y="1866900"/>
            <a:ext cx="76200" cy="112395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AD07E02-E544-41CC-8DE8-D417200D335E}"/>
              </a:ext>
            </a:extLst>
          </p:cNvPr>
          <p:cNvSpPr>
            <a:spLocks xmlns:a="http://schemas.openxmlformats.org/drawingml/2006/main" noGrp="1"/>
          </p:cNvSpPr>
          <p:nvPr/>
        </p:nvSpPr>
        <p:spPr>
          <a:xfrm xmlns:a="http://schemas.openxmlformats.org/drawingml/2006/main">
            <a:off x="914400" y="20383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登录与权限</a:t>
            </a:r>
          </a:p>
        </p:txBody>
      </p:sp>
      <p:sp>
        <p:nvSpPr>
          <p:cNvPr id="12" name="">
            <a:extLst xmlns:a="http://schemas.openxmlformats.org/drawingml/2006/main">
              <a:ext uri="{FF2B5EF4-FFF2-40B4-BE49-F238E27FC236}">
                <a16:creationId xmlns:a16="http://schemas.microsoft.com/office/drawing/2014/main" id="{96C19ABD-DDEB-4AFF-8F9A-6CD877B52A98}"/>
              </a:ext>
            </a:extLst>
          </p:cNvPr>
          <p:cNvSpPr>
            <a:spLocks xmlns:a="http://schemas.openxmlformats.org/drawingml/2006/main" noGrp="1"/>
          </p:cNvSpPr>
          <p:nvPr/>
        </p:nvSpPr>
        <p:spPr>
          <a:xfrm xmlns:a="http://schemas.openxmlformats.org/drawingml/2006/main">
            <a:off x="914400" y="232410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登录、退出、用户信息获取、默认首页分发</a:t>
            </a:r>
          </a:p>
        </p:txBody>
      </p:sp>
      <p:sp>
        <p:nvSpPr>
          <p:cNvPr id="13" name="">
            <a:extLst xmlns:a="http://schemas.openxmlformats.org/drawingml/2006/main">
              <a:ext uri="{FF2B5EF4-FFF2-40B4-BE49-F238E27FC236}">
                <a16:creationId xmlns:a16="http://schemas.microsoft.com/office/drawing/2014/main" id="{64E02BCA-C229-441B-93C9-79414A01FA31}"/>
              </a:ext>
            </a:extLst>
          </p:cNvPr>
          <p:cNvSpPr>
            <a:spLocks xmlns:a="http://schemas.openxmlformats.org/drawingml/2006/main" noGrp="1"/>
          </p:cNvSpPr>
          <p:nvPr/>
        </p:nvSpPr>
        <p:spPr>
          <a:xfrm xmlns:a="http://schemas.openxmlformats.org/drawingml/2006/main">
            <a:off x="2419350" y="2019300"/>
            <a:ext cx="7239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B1E63FD-7E6F-4E2F-B390-614C7D062305}"/>
              </a:ext>
            </a:extLst>
          </p:cNvPr>
          <p:cNvSpPr>
            <a:spLocks xmlns:a="http://schemas.openxmlformats.org/drawingml/2006/main" noGrp="1"/>
          </p:cNvSpPr>
          <p:nvPr/>
        </p:nvSpPr>
        <p:spPr>
          <a:xfrm xmlns:a="http://schemas.openxmlformats.org/drawingml/2006/main">
            <a:off x="2533650" y="20574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核心模块</a:t>
            </a:r>
          </a:p>
        </p:txBody>
      </p:sp>
      <p:sp>
        <p:nvSpPr>
          <p:cNvPr id="15" name="">
            <a:extLst xmlns:a="http://schemas.openxmlformats.org/drawingml/2006/main">
              <a:ext uri="{FF2B5EF4-FFF2-40B4-BE49-F238E27FC236}">
                <a16:creationId xmlns:a16="http://schemas.microsoft.com/office/drawing/2014/main" id="{9090A4C9-8131-486C-8F90-22ACF76D5D21}"/>
              </a:ext>
            </a:extLst>
          </p:cNvPr>
          <p:cNvSpPr>
            <a:spLocks xmlns:a="http://schemas.openxmlformats.org/drawingml/2006/main" noGrp="1"/>
          </p:cNvSpPr>
          <p:nvPr/>
        </p:nvSpPr>
        <p:spPr>
          <a:xfrm xmlns:a="http://schemas.openxmlformats.org/drawingml/2006/main">
            <a:off x="4038600" y="18669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16" name="">
            <a:extLst xmlns:a="http://schemas.openxmlformats.org/drawingml/2006/main">
              <a:ext uri="{FF2B5EF4-FFF2-40B4-BE49-F238E27FC236}">
                <a16:creationId xmlns:a16="http://schemas.microsoft.com/office/drawing/2014/main" id="{8BFBEF95-E1AD-4989-A07A-610985BD1796}"/>
              </a:ext>
            </a:extLst>
          </p:cNvPr>
          <p:cNvSpPr>
            <a:spLocks xmlns:a="http://schemas.openxmlformats.org/drawingml/2006/main" noGrp="1"/>
          </p:cNvSpPr>
          <p:nvPr/>
        </p:nvSpPr>
        <p:spPr>
          <a:xfrm xmlns:a="http://schemas.openxmlformats.org/drawingml/2006/main">
            <a:off x="4038600" y="1866900"/>
            <a:ext cx="76200" cy="112395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7BDF315-F952-4D25-8B27-DDB3E7E5B37A}"/>
              </a:ext>
            </a:extLst>
          </p:cNvPr>
          <p:cNvSpPr>
            <a:spLocks xmlns:a="http://schemas.openxmlformats.org/drawingml/2006/main" noGrp="1"/>
          </p:cNvSpPr>
          <p:nvPr/>
        </p:nvSpPr>
        <p:spPr>
          <a:xfrm xmlns:a="http://schemas.openxmlformats.org/drawingml/2006/main">
            <a:off x="4267200" y="20383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首页工作台</a:t>
            </a:r>
          </a:p>
        </p:txBody>
      </p:sp>
      <p:sp>
        <p:nvSpPr>
          <p:cNvPr id="18" name="">
            <a:extLst xmlns:a="http://schemas.openxmlformats.org/drawingml/2006/main">
              <a:ext uri="{FF2B5EF4-FFF2-40B4-BE49-F238E27FC236}">
                <a16:creationId xmlns:a16="http://schemas.microsoft.com/office/drawing/2014/main" id="{181489DF-95BA-4414-B43E-77E156703599}"/>
              </a:ext>
            </a:extLst>
          </p:cNvPr>
          <p:cNvSpPr>
            <a:spLocks xmlns:a="http://schemas.openxmlformats.org/drawingml/2006/main" noGrp="1"/>
          </p:cNvSpPr>
          <p:nvPr/>
        </p:nvSpPr>
        <p:spPr>
          <a:xfrm xmlns:a="http://schemas.openxmlformats.org/drawingml/2006/main">
            <a:off x="4267200" y="232410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项目概览、待办汇总、预算对比图表</a:t>
            </a:r>
          </a:p>
        </p:txBody>
      </p:sp>
      <p:sp>
        <p:nvSpPr>
          <p:cNvPr id="19" name="">
            <a:extLst xmlns:a="http://schemas.openxmlformats.org/drawingml/2006/main">
              <a:ext uri="{FF2B5EF4-FFF2-40B4-BE49-F238E27FC236}">
                <a16:creationId xmlns:a16="http://schemas.microsoft.com/office/drawing/2014/main" id="{4029638E-4C99-4DD3-A6B8-C25BCC3D39AD}"/>
              </a:ext>
            </a:extLst>
          </p:cNvPr>
          <p:cNvSpPr>
            <a:spLocks xmlns:a="http://schemas.openxmlformats.org/drawingml/2006/main" noGrp="1"/>
          </p:cNvSpPr>
          <p:nvPr/>
        </p:nvSpPr>
        <p:spPr>
          <a:xfrm xmlns:a="http://schemas.openxmlformats.org/drawingml/2006/main">
            <a:off x="5772150" y="2019300"/>
            <a:ext cx="7239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7C4277D-05A9-4742-ABDB-A50D1B546AF8}"/>
              </a:ext>
            </a:extLst>
          </p:cNvPr>
          <p:cNvSpPr>
            <a:spLocks xmlns:a="http://schemas.openxmlformats.org/drawingml/2006/main" noGrp="1"/>
          </p:cNvSpPr>
          <p:nvPr/>
        </p:nvSpPr>
        <p:spPr>
          <a:xfrm xmlns:a="http://schemas.openxmlformats.org/drawingml/2006/main">
            <a:off x="5886450" y="20574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核心模块</a:t>
            </a:r>
          </a:p>
        </p:txBody>
      </p:sp>
      <p:sp>
        <p:nvSpPr>
          <p:cNvPr id="21" name="">
            <a:extLst xmlns:a="http://schemas.openxmlformats.org/drawingml/2006/main">
              <a:ext uri="{FF2B5EF4-FFF2-40B4-BE49-F238E27FC236}">
                <a16:creationId xmlns:a16="http://schemas.microsoft.com/office/drawing/2014/main" id="{6FE5080B-6C9A-47F9-A10B-6B4C97646646}"/>
              </a:ext>
            </a:extLst>
          </p:cNvPr>
          <p:cNvSpPr>
            <a:spLocks xmlns:a="http://schemas.openxmlformats.org/drawingml/2006/main" noGrp="1"/>
          </p:cNvSpPr>
          <p:nvPr/>
        </p:nvSpPr>
        <p:spPr>
          <a:xfrm xmlns:a="http://schemas.openxmlformats.org/drawingml/2006/main">
            <a:off x="7391400" y="18669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22" name="">
            <a:extLst xmlns:a="http://schemas.openxmlformats.org/drawingml/2006/main">
              <a:ext uri="{FF2B5EF4-FFF2-40B4-BE49-F238E27FC236}">
                <a16:creationId xmlns:a16="http://schemas.microsoft.com/office/drawing/2014/main" id="{1289A71D-12A0-4A8F-8CBD-44C544F427A7}"/>
              </a:ext>
            </a:extLst>
          </p:cNvPr>
          <p:cNvSpPr>
            <a:spLocks xmlns:a="http://schemas.openxmlformats.org/drawingml/2006/main" noGrp="1"/>
          </p:cNvSpPr>
          <p:nvPr/>
        </p:nvSpPr>
        <p:spPr>
          <a:xfrm xmlns:a="http://schemas.openxmlformats.org/drawingml/2006/main">
            <a:off x="7391400" y="1866900"/>
            <a:ext cx="76200" cy="112395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A46D02A-CAAD-4686-839E-C29E87414ECE}"/>
              </a:ext>
            </a:extLst>
          </p:cNvPr>
          <p:cNvSpPr>
            <a:spLocks xmlns:a="http://schemas.openxmlformats.org/drawingml/2006/main" noGrp="1"/>
          </p:cNvSpPr>
          <p:nvPr/>
        </p:nvSpPr>
        <p:spPr>
          <a:xfrm xmlns:a="http://schemas.openxmlformats.org/drawingml/2006/main">
            <a:off x="7620000" y="20383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用户/角色</a:t>
            </a:r>
          </a:p>
        </p:txBody>
      </p:sp>
      <p:sp>
        <p:nvSpPr>
          <p:cNvPr id="24" name="">
            <a:extLst xmlns:a="http://schemas.openxmlformats.org/drawingml/2006/main">
              <a:ext uri="{FF2B5EF4-FFF2-40B4-BE49-F238E27FC236}">
                <a16:creationId xmlns:a16="http://schemas.microsoft.com/office/drawing/2014/main" id="{591EAA00-0781-4456-8CCB-5E667992DDBA}"/>
              </a:ext>
            </a:extLst>
          </p:cNvPr>
          <p:cNvSpPr>
            <a:spLocks xmlns:a="http://schemas.openxmlformats.org/drawingml/2006/main" noGrp="1"/>
          </p:cNvSpPr>
          <p:nvPr/>
        </p:nvSpPr>
        <p:spPr>
          <a:xfrm xmlns:a="http://schemas.openxmlformats.org/drawingml/2006/main">
            <a:off x="7620000" y="232410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用户、角色、部门树维护与导出</a:t>
            </a:r>
          </a:p>
        </p:txBody>
      </p:sp>
      <p:sp>
        <p:nvSpPr>
          <p:cNvPr id="25" name="">
            <a:extLst xmlns:a="http://schemas.openxmlformats.org/drawingml/2006/main">
              <a:ext uri="{FF2B5EF4-FFF2-40B4-BE49-F238E27FC236}">
                <a16:creationId xmlns:a16="http://schemas.microsoft.com/office/drawing/2014/main" id="{597A6F5B-38D1-40F8-A951-A9AA392F20D0}"/>
              </a:ext>
            </a:extLst>
          </p:cNvPr>
          <p:cNvSpPr>
            <a:spLocks xmlns:a="http://schemas.openxmlformats.org/drawingml/2006/main" noGrp="1"/>
          </p:cNvSpPr>
          <p:nvPr/>
        </p:nvSpPr>
        <p:spPr>
          <a:xfrm xmlns:a="http://schemas.openxmlformats.org/drawingml/2006/main">
            <a:off x="9124950" y="2019300"/>
            <a:ext cx="723900" cy="266700"/>
          </a:xfrm>
          <a:prstGeom xmlns:a="http://schemas.openxmlformats.org/drawingml/2006/main" prst="roundRect">
            <a:avLst>
              <a:gd name="adj" fmla="val 2857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E9F5A2C-AB19-4AE1-981F-B4356285ECAD}"/>
              </a:ext>
            </a:extLst>
          </p:cNvPr>
          <p:cNvSpPr>
            <a:spLocks xmlns:a="http://schemas.openxmlformats.org/drawingml/2006/main" noGrp="1"/>
          </p:cNvSpPr>
          <p:nvPr/>
        </p:nvSpPr>
        <p:spPr>
          <a:xfrm xmlns:a="http://schemas.openxmlformats.org/drawingml/2006/main">
            <a:off x="9239250" y="20574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1765B"/>
                </a:solidFill>
              </a:defRPr>
            </a:pPr>
            <a:r>
              <a:rPr sz="900" b="1">
                <a:solidFill>
                  <a:srgbClr val="F1765B"/>
                </a:solidFill>
              </a:rPr>
              <a:t>核心模块</a:t>
            </a:r>
          </a:p>
        </p:txBody>
      </p:sp>
      <p:sp>
        <p:nvSpPr>
          <p:cNvPr id="27" name="">
            <a:extLst xmlns:a="http://schemas.openxmlformats.org/drawingml/2006/main">
              <a:ext uri="{FF2B5EF4-FFF2-40B4-BE49-F238E27FC236}">
                <a16:creationId xmlns:a16="http://schemas.microsoft.com/office/drawing/2014/main" id="{E054AF8A-6002-4C86-86FC-8920C2400C91}"/>
              </a:ext>
            </a:extLst>
          </p:cNvPr>
          <p:cNvSpPr>
            <a:spLocks xmlns:a="http://schemas.openxmlformats.org/drawingml/2006/main" noGrp="1"/>
          </p:cNvSpPr>
          <p:nvPr/>
        </p:nvSpPr>
        <p:spPr>
          <a:xfrm xmlns:a="http://schemas.openxmlformats.org/drawingml/2006/main">
            <a:off x="685800" y="344805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28" name="">
            <a:extLst xmlns:a="http://schemas.openxmlformats.org/drawingml/2006/main">
              <a:ext uri="{FF2B5EF4-FFF2-40B4-BE49-F238E27FC236}">
                <a16:creationId xmlns:a16="http://schemas.microsoft.com/office/drawing/2014/main" id="{23C0BA46-DB09-42FB-AA0A-BA3DF3236DFC}"/>
              </a:ext>
            </a:extLst>
          </p:cNvPr>
          <p:cNvSpPr>
            <a:spLocks xmlns:a="http://schemas.openxmlformats.org/drawingml/2006/main" noGrp="1"/>
          </p:cNvSpPr>
          <p:nvPr/>
        </p:nvSpPr>
        <p:spPr>
          <a:xfrm xmlns:a="http://schemas.openxmlformats.org/drawingml/2006/main">
            <a:off x="685800" y="3448050"/>
            <a:ext cx="76200" cy="1123950"/>
          </a:xfrm>
          <a:prstGeom xmlns:a="http://schemas.openxmlformats.org/drawingml/2006/main" prst="rect">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F42676A2-7360-4804-AA7E-E6D3391FFDD4}"/>
              </a:ext>
            </a:extLst>
          </p:cNvPr>
          <p:cNvSpPr>
            <a:spLocks xmlns:a="http://schemas.openxmlformats.org/drawingml/2006/main" noGrp="1"/>
          </p:cNvSpPr>
          <p:nvPr/>
        </p:nvSpPr>
        <p:spPr>
          <a:xfrm xmlns:a="http://schemas.openxmlformats.org/drawingml/2006/main">
            <a:off x="914400" y="361950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项目管理</a:t>
            </a:r>
          </a:p>
        </p:txBody>
      </p:sp>
      <p:sp>
        <p:nvSpPr>
          <p:cNvPr id="30" name="">
            <a:extLst xmlns:a="http://schemas.openxmlformats.org/drawingml/2006/main">
              <a:ext uri="{FF2B5EF4-FFF2-40B4-BE49-F238E27FC236}">
                <a16:creationId xmlns:a16="http://schemas.microsoft.com/office/drawing/2014/main" id="{D2E7A980-0EE4-4985-ABC1-267C35E10F7E}"/>
              </a:ext>
            </a:extLst>
          </p:cNvPr>
          <p:cNvSpPr>
            <a:spLocks xmlns:a="http://schemas.openxmlformats.org/drawingml/2006/main" noGrp="1"/>
          </p:cNvSpPr>
          <p:nvPr/>
        </p:nvSpPr>
        <p:spPr>
          <a:xfrm xmlns:a="http://schemas.openxmlformats.org/drawingml/2006/main">
            <a:off x="914400" y="390525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项目列表、详情查看、增删改导出</a:t>
            </a:r>
          </a:p>
        </p:txBody>
      </p:sp>
      <p:sp>
        <p:nvSpPr>
          <p:cNvPr id="31" name="">
            <a:extLst xmlns:a="http://schemas.openxmlformats.org/drawingml/2006/main">
              <a:ext uri="{FF2B5EF4-FFF2-40B4-BE49-F238E27FC236}">
                <a16:creationId xmlns:a16="http://schemas.microsoft.com/office/drawing/2014/main" id="{D5C54C66-95D6-40C5-A11D-007AFF3C6AEC}"/>
              </a:ext>
            </a:extLst>
          </p:cNvPr>
          <p:cNvSpPr>
            <a:spLocks xmlns:a="http://schemas.openxmlformats.org/drawingml/2006/main" noGrp="1"/>
          </p:cNvSpPr>
          <p:nvPr/>
        </p:nvSpPr>
        <p:spPr>
          <a:xfrm xmlns:a="http://schemas.openxmlformats.org/drawingml/2006/main">
            <a:off x="2419350" y="3600450"/>
            <a:ext cx="7239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A72C9079-44EE-4E0D-8D2D-CDD67F9EF9BF}"/>
              </a:ext>
            </a:extLst>
          </p:cNvPr>
          <p:cNvSpPr>
            <a:spLocks xmlns:a="http://schemas.openxmlformats.org/drawingml/2006/main" noGrp="1"/>
          </p:cNvSpPr>
          <p:nvPr/>
        </p:nvSpPr>
        <p:spPr>
          <a:xfrm xmlns:a="http://schemas.openxmlformats.org/drawingml/2006/main">
            <a:off x="2533650" y="36385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核心模块</a:t>
            </a:r>
          </a:p>
        </p:txBody>
      </p:sp>
      <p:sp>
        <p:nvSpPr>
          <p:cNvPr id="33" name="">
            <a:extLst xmlns:a="http://schemas.openxmlformats.org/drawingml/2006/main">
              <a:ext uri="{FF2B5EF4-FFF2-40B4-BE49-F238E27FC236}">
                <a16:creationId xmlns:a16="http://schemas.microsoft.com/office/drawing/2014/main" id="{0702FFB9-5FA8-42BF-B2F7-C0B0E5B4B43A}"/>
              </a:ext>
            </a:extLst>
          </p:cNvPr>
          <p:cNvSpPr>
            <a:spLocks xmlns:a="http://schemas.openxmlformats.org/drawingml/2006/main" noGrp="1"/>
          </p:cNvSpPr>
          <p:nvPr/>
        </p:nvSpPr>
        <p:spPr>
          <a:xfrm xmlns:a="http://schemas.openxmlformats.org/drawingml/2006/main">
            <a:off x="7391400" y="344805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34" name="">
            <a:extLst xmlns:a="http://schemas.openxmlformats.org/drawingml/2006/main">
              <a:ext uri="{FF2B5EF4-FFF2-40B4-BE49-F238E27FC236}">
                <a16:creationId xmlns:a16="http://schemas.microsoft.com/office/drawing/2014/main" id="{794B3202-9432-4D31-B32E-3E730DCF0604}"/>
              </a:ext>
            </a:extLst>
          </p:cNvPr>
          <p:cNvSpPr>
            <a:spLocks xmlns:a="http://schemas.openxmlformats.org/drawingml/2006/main" noGrp="1"/>
          </p:cNvSpPr>
          <p:nvPr/>
        </p:nvSpPr>
        <p:spPr>
          <a:xfrm xmlns:a="http://schemas.openxmlformats.org/drawingml/2006/main">
            <a:off x="7391400" y="3448050"/>
            <a:ext cx="76200" cy="112395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BF05883A-19CF-44BA-9727-6EF610B27B52}"/>
              </a:ext>
            </a:extLst>
          </p:cNvPr>
          <p:cNvSpPr>
            <a:spLocks xmlns:a="http://schemas.openxmlformats.org/drawingml/2006/main" noGrp="1"/>
          </p:cNvSpPr>
          <p:nvPr/>
        </p:nvSpPr>
        <p:spPr>
          <a:xfrm xmlns:a="http://schemas.openxmlformats.org/drawingml/2006/main">
            <a:off x="7620000" y="361950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流程审批</a:t>
            </a:r>
          </a:p>
        </p:txBody>
      </p:sp>
      <p:sp>
        <p:nvSpPr>
          <p:cNvPr id="36" name="">
            <a:extLst xmlns:a="http://schemas.openxmlformats.org/drawingml/2006/main">
              <a:ext uri="{FF2B5EF4-FFF2-40B4-BE49-F238E27FC236}">
                <a16:creationId xmlns:a16="http://schemas.microsoft.com/office/drawing/2014/main" id="{32FA789D-89B9-4032-9D4B-1D26E46EB9D1}"/>
              </a:ext>
            </a:extLst>
          </p:cNvPr>
          <p:cNvSpPr>
            <a:spLocks xmlns:a="http://schemas.openxmlformats.org/drawingml/2006/main" noGrp="1"/>
          </p:cNvSpPr>
          <p:nvPr/>
        </p:nvSpPr>
        <p:spPr>
          <a:xfrm xmlns:a="http://schemas.openxmlformats.org/drawingml/2006/main">
            <a:off x="7620000" y="390525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多级审批、意见回写、状态推进</a:t>
            </a:r>
          </a:p>
        </p:txBody>
      </p:sp>
      <p:sp>
        <p:nvSpPr>
          <p:cNvPr id="37" name="">
            <a:extLst xmlns:a="http://schemas.openxmlformats.org/drawingml/2006/main">
              <a:ext uri="{FF2B5EF4-FFF2-40B4-BE49-F238E27FC236}">
                <a16:creationId xmlns:a16="http://schemas.microsoft.com/office/drawing/2014/main" id="{08708C8E-56DB-4B7C-94C4-C75B3F212D2C}"/>
              </a:ext>
            </a:extLst>
          </p:cNvPr>
          <p:cNvSpPr>
            <a:spLocks xmlns:a="http://schemas.openxmlformats.org/drawingml/2006/main" noGrp="1"/>
          </p:cNvSpPr>
          <p:nvPr/>
        </p:nvSpPr>
        <p:spPr>
          <a:xfrm xmlns:a="http://schemas.openxmlformats.org/drawingml/2006/main">
            <a:off x="9124950" y="3600450"/>
            <a:ext cx="7239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707F2F87-F842-457D-BB67-907EACC74237}"/>
              </a:ext>
            </a:extLst>
          </p:cNvPr>
          <p:cNvSpPr>
            <a:spLocks xmlns:a="http://schemas.openxmlformats.org/drawingml/2006/main" noGrp="1"/>
          </p:cNvSpPr>
          <p:nvPr/>
        </p:nvSpPr>
        <p:spPr>
          <a:xfrm xmlns:a="http://schemas.openxmlformats.org/drawingml/2006/main">
            <a:off x="9239250" y="36385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核心模块</a:t>
            </a:r>
          </a:p>
        </p:txBody>
      </p:sp>
      <p:sp>
        <p:nvSpPr>
          <p:cNvPr id="39" name="">
            <a:extLst xmlns:a="http://schemas.openxmlformats.org/drawingml/2006/main">
              <a:ext uri="{FF2B5EF4-FFF2-40B4-BE49-F238E27FC236}">
                <a16:creationId xmlns:a16="http://schemas.microsoft.com/office/drawing/2014/main" id="{45F7D9C8-B5CB-45A4-A194-C09724F8FF4D}"/>
              </a:ext>
            </a:extLst>
          </p:cNvPr>
          <p:cNvSpPr>
            <a:spLocks xmlns:a="http://schemas.openxmlformats.org/drawingml/2006/main" noGrp="1"/>
          </p:cNvSpPr>
          <p:nvPr/>
        </p:nvSpPr>
        <p:spPr>
          <a:xfrm xmlns:a="http://schemas.openxmlformats.org/drawingml/2006/main">
            <a:off x="685800" y="50292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40" name="">
            <a:extLst xmlns:a="http://schemas.openxmlformats.org/drawingml/2006/main">
              <a:ext uri="{FF2B5EF4-FFF2-40B4-BE49-F238E27FC236}">
                <a16:creationId xmlns:a16="http://schemas.microsoft.com/office/drawing/2014/main" id="{AEACD5DE-5491-467B-8255-54BD83871CEA}"/>
              </a:ext>
            </a:extLst>
          </p:cNvPr>
          <p:cNvSpPr>
            <a:spLocks xmlns:a="http://schemas.openxmlformats.org/drawingml/2006/main" noGrp="1"/>
          </p:cNvSpPr>
          <p:nvPr/>
        </p:nvSpPr>
        <p:spPr>
          <a:xfrm xmlns:a="http://schemas.openxmlformats.org/drawingml/2006/main">
            <a:off x="685800" y="5029200"/>
            <a:ext cx="76200" cy="112395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4EC2D461-F1CC-4C28-A654-81994055734E}"/>
              </a:ext>
            </a:extLst>
          </p:cNvPr>
          <p:cNvSpPr>
            <a:spLocks xmlns:a="http://schemas.openxmlformats.org/drawingml/2006/main" noGrp="1"/>
          </p:cNvSpPr>
          <p:nvPr/>
        </p:nvSpPr>
        <p:spPr>
          <a:xfrm xmlns:a="http://schemas.openxmlformats.org/drawingml/2006/main">
            <a:off x="914400" y="52006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报销管理</a:t>
            </a:r>
          </a:p>
        </p:txBody>
      </p:sp>
      <p:sp>
        <p:nvSpPr>
          <p:cNvPr id="42" name="">
            <a:extLst xmlns:a="http://schemas.openxmlformats.org/drawingml/2006/main">
              <a:ext uri="{FF2B5EF4-FFF2-40B4-BE49-F238E27FC236}">
                <a16:creationId xmlns:a16="http://schemas.microsoft.com/office/drawing/2014/main" id="{F8DC0D08-9165-479F-8809-8048B539441F}"/>
              </a:ext>
            </a:extLst>
          </p:cNvPr>
          <p:cNvSpPr>
            <a:spLocks xmlns:a="http://schemas.openxmlformats.org/drawingml/2006/main" noGrp="1"/>
          </p:cNvSpPr>
          <p:nvPr/>
        </p:nvSpPr>
        <p:spPr>
          <a:xfrm xmlns:a="http://schemas.openxmlformats.org/drawingml/2006/main">
            <a:off x="914400" y="548640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金额审核、附件查看、通过/驳回</a:t>
            </a:r>
          </a:p>
        </p:txBody>
      </p:sp>
      <p:sp>
        <p:nvSpPr>
          <p:cNvPr id="43" name="">
            <a:extLst xmlns:a="http://schemas.openxmlformats.org/drawingml/2006/main">
              <a:ext uri="{FF2B5EF4-FFF2-40B4-BE49-F238E27FC236}">
                <a16:creationId xmlns:a16="http://schemas.microsoft.com/office/drawing/2014/main" id="{D948C001-3C55-456D-AF3F-F4A7D1600747}"/>
              </a:ext>
            </a:extLst>
          </p:cNvPr>
          <p:cNvSpPr>
            <a:spLocks xmlns:a="http://schemas.openxmlformats.org/drawingml/2006/main" noGrp="1"/>
          </p:cNvSpPr>
          <p:nvPr/>
        </p:nvSpPr>
        <p:spPr>
          <a:xfrm xmlns:a="http://schemas.openxmlformats.org/drawingml/2006/main">
            <a:off x="2419350" y="5181600"/>
            <a:ext cx="7239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51775B4A-5EAC-4AA4-B2E5-8D8E7ED3FDA3}"/>
              </a:ext>
            </a:extLst>
          </p:cNvPr>
          <p:cNvSpPr>
            <a:spLocks xmlns:a="http://schemas.openxmlformats.org/drawingml/2006/main" noGrp="1"/>
          </p:cNvSpPr>
          <p:nvPr/>
        </p:nvSpPr>
        <p:spPr>
          <a:xfrm xmlns:a="http://schemas.openxmlformats.org/drawingml/2006/main">
            <a:off x="2533650" y="52197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核心模块</a:t>
            </a:r>
          </a:p>
        </p:txBody>
      </p:sp>
      <p:sp>
        <p:nvSpPr>
          <p:cNvPr id="45" name="">
            <a:extLst xmlns:a="http://schemas.openxmlformats.org/drawingml/2006/main">
              <a:ext uri="{FF2B5EF4-FFF2-40B4-BE49-F238E27FC236}">
                <a16:creationId xmlns:a16="http://schemas.microsoft.com/office/drawing/2014/main" id="{80934B85-92AD-478D-95B2-A0E07F6B5A72}"/>
              </a:ext>
            </a:extLst>
          </p:cNvPr>
          <p:cNvSpPr>
            <a:spLocks xmlns:a="http://schemas.openxmlformats.org/drawingml/2006/main" noGrp="1"/>
          </p:cNvSpPr>
          <p:nvPr/>
        </p:nvSpPr>
        <p:spPr>
          <a:xfrm xmlns:a="http://schemas.openxmlformats.org/drawingml/2006/main">
            <a:off x="4038600" y="50292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46" name="">
            <a:extLst xmlns:a="http://schemas.openxmlformats.org/drawingml/2006/main">
              <a:ext uri="{FF2B5EF4-FFF2-40B4-BE49-F238E27FC236}">
                <a16:creationId xmlns:a16="http://schemas.microsoft.com/office/drawing/2014/main" id="{657846CE-74E9-42E6-B84E-EA4425932162}"/>
              </a:ext>
            </a:extLst>
          </p:cNvPr>
          <p:cNvSpPr>
            <a:spLocks xmlns:a="http://schemas.openxmlformats.org/drawingml/2006/main" noGrp="1"/>
          </p:cNvSpPr>
          <p:nvPr/>
        </p:nvSpPr>
        <p:spPr>
          <a:xfrm xmlns:a="http://schemas.openxmlformats.org/drawingml/2006/main">
            <a:off x="4038600" y="5029200"/>
            <a:ext cx="76200" cy="112395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0CE97767-365E-40BB-9993-FA295A6509EA}"/>
              </a:ext>
            </a:extLst>
          </p:cNvPr>
          <p:cNvSpPr>
            <a:spLocks xmlns:a="http://schemas.openxmlformats.org/drawingml/2006/main" noGrp="1"/>
          </p:cNvSpPr>
          <p:nvPr/>
        </p:nvSpPr>
        <p:spPr>
          <a:xfrm xmlns:a="http://schemas.openxmlformats.org/drawingml/2006/main">
            <a:off x="4267200" y="52006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成果管理</a:t>
            </a:r>
          </a:p>
        </p:txBody>
      </p:sp>
      <p:sp>
        <p:nvSpPr>
          <p:cNvPr id="48" name="">
            <a:extLst xmlns:a="http://schemas.openxmlformats.org/drawingml/2006/main">
              <a:ext uri="{FF2B5EF4-FFF2-40B4-BE49-F238E27FC236}">
                <a16:creationId xmlns:a16="http://schemas.microsoft.com/office/drawing/2014/main" id="{31124233-936E-4A57-91C9-8BA15D2BC29F}"/>
              </a:ext>
            </a:extLst>
          </p:cNvPr>
          <p:cNvSpPr>
            <a:spLocks xmlns:a="http://schemas.openxmlformats.org/drawingml/2006/main" noGrp="1"/>
          </p:cNvSpPr>
          <p:nvPr/>
        </p:nvSpPr>
        <p:spPr>
          <a:xfrm xmlns:a="http://schemas.openxmlformats.org/drawingml/2006/main">
            <a:off x="4267200" y="548640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成果维护、统计分析与导出</a:t>
            </a:r>
          </a:p>
        </p:txBody>
      </p:sp>
      <p:sp>
        <p:nvSpPr>
          <p:cNvPr id="49" name="">
            <a:extLst xmlns:a="http://schemas.openxmlformats.org/drawingml/2006/main">
              <a:ext uri="{FF2B5EF4-FFF2-40B4-BE49-F238E27FC236}">
                <a16:creationId xmlns:a16="http://schemas.microsoft.com/office/drawing/2014/main" id="{064B1E83-231F-423E-9FDE-11E21FCC9535}"/>
              </a:ext>
            </a:extLst>
          </p:cNvPr>
          <p:cNvSpPr>
            <a:spLocks xmlns:a="http://schemas.openxmlformats.org/drawingml/2006/main" noGrp="1"/>
          </p:cNvSpPr>
          <p:nvPr/>
        </p:nvSpPr>
        <p:spPr>
          <a:xfrm xmlns:a="http://schemas.openxmlformats.org/drawingml/2006/main">
            <a:off x="5772150" y="5181600"/>
            <a:ext cx="723900" cy="266700"/>
          </a:xfrm>
          <a:prstGeom xmlns:a="http://schemas.openxmlformats.org/drawingml/2006/main" prst="roundRect">
            <a:avLst>
              <a:gd name="adj" fmla="val 2857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53EEB580-EEAC-4CB0-B468-421BDE031C22}"/>
              </a:ext>
            </a:extLst>
          </p:cNvPr>
          <p:cNvSpPr>
            <a:spLocks xmlns:a="http://schemas.openxmlformats.org/drawingml/2006/main" noGrp="1"/>
          </p:cNvSpPr>
          <p:nvPr/>
        </p:nvSpPr>
        <p:spPr>
          <a:xfrm xmlns:a="http://schemas.openxmlformats.org/drawingml/2006/main">
            <a:off x="5886450" y="52197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1765B"/>
                </a:solidFill>
              </a:defRPr>
            </a:pPr>
            <a:r>
              <a:rPr sz="900" b="1">
                <a:solidFill>
                  <a:srgbClr val="F1765B"/>
                </a:solidFill>
              </a:rPr>
              <a:t>核心模块</a:t>
            </a:r>
          </a:p>
        </p:txBody>
      </p:sp>
      <p:sp>
        <p:nvSpPr>
          <p:cNvPr id="51" name="">
            <a:extLst xmlns:a="http://schemas.openxmlformats.org/drawingml/2006/main">
              <a:ext uri="{FF2B5EF4-FFF2-40B4-BE49-F238E27FC236}">
                <a16:creationId xmlns:a16="http://schemas.microsoft.com/office/drawing/2014/main" id="{0E10F2D6-376D-44FE-8292-920D9E718D01}"/>
              </a:ext>
            </a:extLst>
          </p:cNvPr>
          <p:cNvSpPr>
            <a:spLocks xmlns:a="http://schemas.openxmlformats.org/drawingml/2006/main" noGrp="1"/>
          </p:cNvSpPr>
          <p:nvPr/>
        </p:nvSpPr>
        <p:spPr>
          <a:xfrm xmlns:a="http://schemas.openxmlformats.org/drawingml/2006/main">
            <a:off x="7391400" y="5029200"/>
            <a:ext cx="2667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9E2EC"/>
            </a:solidFill>
            <a:prstDash val="solid"/>
          </a:ln>
        </p:spPr>
      </p:sp>
      <p:sp>
        <p:nvSpPr>
          <p:cNvPr id="52" name="">
            <a:extLst xmlns:a="http://schemas.openxmlformats.org/drawingml/2006/main">
              <a:ext uri="{FF2B5EF4-FFF2-40B4-BE49-F238E27FC236}">
                <a16:creationId xmlns:a16="http://schemas.microsoft.com/office/drawing/2014/main" id="{8CDF1C3D-C8FE-44AA-AD92-151C1C934198}"/>
              </a:ext>
            </a:extLst>
          </p:cNvPr>
          <p:cNvSpPr>
            <a:spLocks xmlns:a="http://schemas.openxmlformats.org/drawingml/2006/main" noGrp="1"/>
          </p:cNvSpPr>
          <p:nvPr/>
        </p:nvSpPr>
        <p:spPr>
          <a:xfrm xmlns:a="http://schemas.openxmlformats.org/drawingml/2006/main">
            <a:off x="7391400" y="5029200"/>
            <a:ext cx="76200" cy="1123950"/>
          </a:xfrm>
          <a:prstGeom xmlns:a="http://schemas.openxmlformats.org/drawingml/2006/main" prst="rect">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C3BE05D5-FDF5-40DC-83FB-CB3DA1F55E50}"/>
              </a:ext>
            </a:extLst>
          </p:cNvPr>
          <p:cNvSpPr>
            <a:spLocks xmlns:a="http://schemas.openxmlformats.org/drawingml/2006/main" noGrp="1"/>
          </p:cNvSpPr>
          <p:nvPr/>
        </p:nvSpPr>
        <p:spPr>
          <a:xfrm xmlns:a="http://schemas.openxmlformats.org/drawingml/2006/main">
            <a:off x="7620000" y="52006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AI 助手</a:t>
            </a:r>
          </a:p>
        </p:txBody>
      </p:sp>
      <p:sp>
        <p:nvSpPr>
          <p:cNvPr id="54" name="">
            <a:extLst xmlns:a="http://schemas.openxmlformats.org/drawingml/2006/main">
              <a:ext uri="{FF2B5EF4-FFF2-40B4-BE49-F238E27FC236}">
                <a16:creationId xmlns:a16="http://schemas.microsoft.com/office/drawing/2014/main" id="{B3F7A9DE-4947-420A-BBF8-8F207D303D51}"/>
              </a:ext>
            </a:extLst>
          </p:cNvPr>
          <p:cNvSpPr>
            <a:spLocks xmlns:a="http://schemas.openxmlformats.org/drawingml/2006/main" noGrp="1"/>
          </p:cNvSpPr>
          <p:nvPr/>
        </p:nvSpPr>
        <p:spPr>
          <a:xfrm xmlns:a="http://schemas.openxmlformats.org/drawingml/2006/main">
            <a:off x="7620000" y="5486400"/>
            <a:ext cx="2190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调用千问模型，支持普通/流式问答</a:t>
            </a:r>
          </a:p>
        </p:txBody>
      </p:sp>
      <p:sp>
        <p:nvSpPr>
          <p:cNvPr id="55" name="">
            <a:extLst xmlns:a="http://schemas.openxmlformats.org/drawingml/2006/main">
              <a:ext uri="{FF2B5EF4-FFF2-40B4-BE49-F238E27FC236}">
                <a16:creationId xmlns:a16="http://schemas.microsoft.com/office/drawing/2014/main" id="{E5689CB5-139B-4669-BE94-EC27A478110A}"/>
              </a:ext>
            </a:extLst>
          </p:cNvPr>
          <p:cNvSpPr>
            <a:spLocks xmlns:a="http://schemas.openxmlformats.org/drawingml/2006/main" noGrp="1"/>
          </p:cNvSpPr>
          <p:nvPr/>
        </p:nvSpPr>
        <p:spPr>
          <a:xfrm xmlns:a="http://schemas.openxmlformats.org/drawingml/2006/main">
            <a:off x="9124950" y="5181600"/>
            <a:ext cx="7239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28850AAE-2946-4C07-9FC6-315C6120DAAB}"/>
              </a:ext>
            </a:extLst>
          </p:cNvPr>
          <p:cNvSpPr>
            <a:spLocks xmlns:a="http://schemas.openxmlformats.org/drawingml/2006/main" noGrp="1"/>
          </p:cNvSpPr>
          <p:nvPr/>
        </p:nvSpPr>
        <p:spPr>
          <a:xfrm xmlns:a="http://schemas.openxmlformats.org/drawingml/2006/main">
            <a:off x="9239250" y="521970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核心模块</a:t>
            </a:r>
          </a:p>
        </p:txBody>
      </p:sp>
      <p:sp>
        <p:nvSpPr>
          <p:cNvPr id="57" name="">
            <a:extLst xmlns:a="http://schemas.openxmlformats.org/drawingml/2006/main">
              <a:ext uri="{FF2B5EF4-FFF2-40B4-BE49-F238E27FC236}">
                <a16:creationId xmlns:a16="http://schemas.microsoft.com/office/drawing/2014/main" id="{9FCD26BE-3D5E-4211-9CA3-1CF9CC2EE1CD}"/>
              </a:ext>
            </a:extLst>
          </p:cNvPr>
          <p:cNvSpPr>
            <a:spLocks xmlns:a="http://schemas.openxmlformats.org/drawingml/2006/main" noGrp="1"/>
          </p:cNvSpPr>
          <p:nvPr/>
        </p:nvSpPr>
        <p:spPr>
          <a:xfrm xmlns:a="http://schemas.openxmlformats.org/drawingml/2006/main">
            <a:off x="4057650" y="3390900"/>
            <a:ext cx="2647950" cy="1181100"/>
          </a:xfrm>
          <a:prstGeom xmlns:a="http://schemas.openxmlformats.org/drawingml/2006/main" prst="roundRect">
            <a:avLst>
              <a:gd name="adj" fmla="val 6452"/>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A426F23C-9AAF-46FC-92AD-239CCF31C033}"/>
              </a:ext>
            </a:extLst>
          </p:cNvPr>
          <p:cNvSpPr>
            <a:spLocks xmlns:a="http://schemas.openxmlformats.org/drawingml/2006/main" noGrp="1"/>
          </p:cNvSpPr>
          <p:nvPr/>
        </p:nvSpPr>
        <p:spPr>
          <a:xfrm xmlns:a="http://schemas.openxmlformats.org/drawingml/2006/main">
            <a:off x="4057650" y="3714750"/>
            <a:ext cx="26479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FFF"/>
                </a:solidFill>
              </a:defRPr>
            </a:pPr>
            <a:r>
              <a:rPr sz="2100" b="1">
                <a:solidFill>
                  <a:srgbClr val="FFFFFF"/>
                </a:solidFill>
              </a:rPr>
              <a:t>高校科研</a:t>
            </a:r>
          </a:p>
          <a:p xmlns:a="http://schemas.openxmlformats.org/drawingml/2006/main">
            <a:pPr algn="ctr">
              <a:defRPr sz="2100" b="1">
                <a:solidFill>
                  <a:srgbClr val="FFFFFF"/>
                </a:solidFill>
              </a:defRPr>
            </a:pPr>
            <a:r>
              <a:rPr sz="2100" b="1">
                <a:solidFill>
                  <a:srgbClr val="FFFFFF"/>
                </a:solidFill>
              </a:rPr>
              <a:t>管理系统</a:t>
            </a:r>
          </a:p>
        </p:txBody>
      </p:sp>
      <p:sp>
        <p:nvSpPr>
          <p:cNvPr id="59" name="">
            <a:extLst xmlns:a="http://schemas.openxmlformats.org/drawingml/2006/main">
              <a:ext uri="{FF2B5EF4-FFF2-40B4-BE49-F238E27FC236}">
                <a16:creationId xmlns:a16="http://schemas.microsoft.com/office/drawing/2014/main" id="{9E540000-D917-49D0-AFF6-D2878C827D31}"/>
              </a:ext>
            </a:extLst>
          </p:cNvPr>
          <p:cNvSpPr>
            <a:spLocks xmlns:a="http://schemas.openxmlformats.org/drawingml/2006/main" noGrp="1"/>
          </p:cNvSpPr>
          <p:nvPr/>
        </p:nvSpPr>
        <p:spPr>
          <a:xfrm xmlns:a="http://schemas.openxmlformats.org/drawingml/2006/main">
            <a:off x="4305300" y="4248150"/>
            <a:ext cx="2152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D9F7F4"/>
                </a:solidFill>
              </a:defRPr>
            </a:pPr>
            <a:r>
              <a:rPr sz="900" b="0">
                <a:solidFill>
                  <a:srgbClr val="D9F7F4"/>
                </a:solidFill>
              </a:rPr>
              <a:t>以项目生命周期为主线，连接审批、报销与成果归档</a:t>
            </a:r>
          </a:p>
        </p:txBody>
      </p:sp>
    </p:spTree>
    <p:extLst>
      <p:ext uri="{BB962C8B-B14F-4D97-AF65-F5344CB8AC3E}">
        <p14:creationId xmlns:p14="http://schemas.microsoft.com/office/powerpoint/2010/main" val="1387198249"/>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DB3C77E-2C66-4181-A006-F06E302DF199}"/>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782C965-8FF6-454C-B626-997E8D211BBB}"/>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0E0E57E-98F3-450C-A148-5BAA6A872B74}"/>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PERMISSION</a:t>
            </a:r>
          </a:p>
        </p:txBody>
      </p:sp>
      <p:sp>
        <p:nvSpPr>
          <p:cNvPr id="5" name="">
            <a:extLst xmlns:a="http://schemas.openxmlformats.org/drawingml/2006/main">
              <a:ext uri="{FF2B5EF4-FFF2-40B4-BE49-F238E27FC236}">
                <a16:creationId xmlns:a16="http://schemas.microsoft.com/office/drawing/2014/main" id="{475E2701-6C3C-492C-BB4A-346F8A7BA7FF}"/>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07</a:t>
            </a:r>
          </a:p>
        </p:txBody>
      </p:sp>
      <p:sp>
        <p:nvSpPr>
          <p:cNvPr id="6" name="">
            <a:extLst xmlns:a="http://schemas.openxmlformats.org/drawingml/2006/main">
              <a:ext uri="{FF2B5EF4-FFF2-40B4-BE49-F238E27FC236}">
                <a16:creationId xmlns:a16="http://schemas.microsoft.com/office/drawing/2014/main" id="{0BEA5668-8B9F-463A-A4AF-7652033FD752}"/>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角色与权限控制设计</a:t>
            </a:r>
          </a:p>
        </p:txBody>
      </p:sp>
      <p:sp>
        <p:nvSpPr>
          <p:cNvPr id="7" name="">
            <a:extLst xmlns:a="http://schemas.openxmlformats.org/drawingml/2006/main">
              <a:ext uri="{FF2B5EF4-FFF2-40B4-BE49-F238E27FC236}">
                <a16:creationId xmlns:a16="http://schemas.microsoft.com/office/drawing/2014/main" id="{61F4C6BA-2653-4E50-9395-097BC5DB55D3}"/>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前端通过路由守卫和 moduleKey 过滤菜单，后端通过 Spring Security 与 JWT 鉴别接口访问。</a:t>
            </a:r>
          </a:p>
        </p:txBody>
      </p:sp>
      <p:sp>
        <p:nvSpPr>
          <p:cNvPr id="8" name="">
            <a:extLst xmlns:a="http://schemas.openxmlformats.org/drawingml/2006/main">
              <a:ext uri="{FF2B5EF4-FFF2-40B4-BE49-F238E27FC236}">
                <a16:creationId xmlns:a16="http://schemas.microsoft.com/office/drawing/2014/main" id="{DB2D1496-9C5D-44D8-83AB-1D1DA35AFBF0}"/>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333A30B-2E62-485E-92C3-76D85AE5D4E7}"/>
              </a:ext>
            </a:extLst>
          </p:cNvPr>
          <p:cNvSpPr>
            <a:spLocks xmlns:a="http://schemas.openxmlformats.org/drawingml/2006/main" noGrp="1"/>
          </p:cNvSpPr>
          <p:nvPr/>
        </p:nvSpPr>
        <p:spPr>
          <a:xfrm xmlns:a="http://schemas.openxmlformats.org/drawingml/2006/main">
            <a:off x="685800" y="1752600"/>
            <a:ext cx="34290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192E6AB1-66F6-4C8C-BD4D-26950BC2FC75}"/>
              </a:ext>
            </a:extLst>
          </p:cNvPr>
          <p:cNvSpPr>
            <a:spLocks xmlns:a="http://schemas.openxmlformats.org/drawingml/2006/main" noGrp="1"/>
          </p:cNvSpPr>
          <p:nvPr/>
        </p:nvSpPr>
        <p:spPr>
          <a:xfrm xmlns:a="http://schemas.openxmlformats.org/drawingml/2006/main">
            <a:off x="914400" y="19812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权限机制</a:t>
            </a:r>
          </a:p>
        </p:txBody>
      </p:sp>
      <p:sp>
        <p:nvSpPr>
          <p:cNvPr id="11" name="">
            <a:extLst xmlns:a="http://schemas.openxmlformats.org/drawingml/2006/main">
              <a:ext uri="{FF2B5EF4-FFF2-40B4-BE49-F238E27FC236}">
                <a16:creationId xmlns:a16="http://schemas.microsoft.com/office/drawing/2014/main" id="{78806235-38DE-41E3-89DB-49BEEA914E16}"/>
              </a:ext>
            </a:extLst>
          </p:cNvPr>
          <p:cNvSpPr>
            <a:spLocks xmlns:a="http://schemas.openxmlformats.org/drawingml/2006/main" noGrp="1"/>
          </p:cNvSpPr>
          <p:nvPr/>
        </p:nvSpPr>
        <p:spPr>
          <a:xfrm xmlns:a="http://schemas.openxmlformats.org/drawingml/2006/main">
            <a:off x="933450" y="24003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12" name="">
            <a:extLst xmlns:a="http://schemas.openxmlformats.org/drawingml/2006/main">
              <a:ext uri="{FF2B5EF4-FFF2-40B4-BE49-F238E27FC236}">
                <a16:creationId xmlns:a16="http://schemas.microsoft.com/office/drawing/2014/main" id="{0F865A19-23C2-4AE1-977A-C2F074F25CA1}"/>
              </a:ext>
            </a:extLst>
          </p:cNvPr>
          <p:cNvSpPr>
            <a:spLocks xmlns:a="http://schemas.openxmlformats.org/drawingml/2006/main" noGrp="1"/>
          </p:cNvSpPr>
          <p:nvPr/>
        </p:nvSpPr>
        <p:spPr>
          <a:xfrm xmlns:a="http://schemas.openxmlformats.org/drawingml/2006/main">
            <a:off x="1123950" y="2324100"/>
            <a:ext cx="2667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登录成功后获取 token 与当前用户角色信息。</a:t>
            </a:r>
          </a:p>
        </p:txBody>
      </p:sp>
      <p:sp>
        <p:nvSpPr>
          <p:cNvPr id="13" name="">
            <a:extLst xmlns:a="http://schemas.openxmlformats.org/drawingml/2006/main">
              <a:ext uri="{FF2B5EF4-FFF2-40B4-BE49-F238E27FC236}">
                <a16:creationId xmlns:a16="http://schemas.microsoft.com/office/drawing/2014/main" id="{A8C22130-146D-48D1-8018-EAA5DD8541FC}"/>
              </a:ext>
            </a:extLst>
          </p:cNvPr>
          <p:cNvSpPr>
            <a:spLocks xmlns:a="http://schemas.openxmlformats.org/drawingml/2006/main" noGrp="1"/>
          </p:cNvSpPr>
          <p:nvPr/>
        </p:nvSpPr>
        <p:spPr>
          <a:xfrm xmlns:a="http://schemas.openxmlformats.org/drawingml/2006/main">
            <a:off x="933450" y="27622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14" name="">
            <a:extLst xmlns:a="http://schemas.openxmlformats.org/drawingml/2006/main">
              <a:ext uri="{FF2B5EF4-FFF2-40B4-BE49-F238E27FC236}">
                <a16:creationId xmlns:a16="http://schemas.microsoft.com/office/drawing/2014/main" id="{D6B73649-1B40-4580-8B72-90C7D0BF9CE7}"/>
              </a:ext>
            </a:extLst>
          </p:cNvPr>
          <p:cNvSpPr>
            <a:spLocks xmlns:a="http://schemas.openxmlformats.org/drawingml/2006/main" noGrp="1"/>
          </p:cNvSpPr>
          <p:nvPr/>
        </p:nvSpPr>
        <p:spPr>
          <a:xfrm xmlns:a="http://schemas.openxmlformats.org/drawingml/2006/main">
            <a:off x="1123950" y="2686050"/>
            <a:ext cx="2667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前端根据 roleKey 自动分配默认首页并拦截非法路由。</a:t>
            </a:r>
          </a:p>
        </p:txBody>
      </p:sp>
      <p:sp>
        <p:nvSpPr>
          <p:cNvPr id="15" name="">
            <a:extLst xmlns:a="http://schemas.openxmlformats.org/drawingml/2006/main">
              <a:ext uri="{FF2B5EF4-FFF2-40B4-BE49-F238E27FC236}">
                <a16:creationId xmlns:a16="http://schemas.microsoft.com/office/drawing/2014/main" id="{6F8A6B12-B90E-472C-B20B-49362AC8DDA9}"/>
              </a:ext>
            </a:extLst>
          </p:cNvPr>
          <p:cNvSpPr>
            <a:spLocks xmlns:a="http://schemas.openxmlformats.org/drawingml/2006/main" noGrp="1"/>
          </p:cNvSpPr>
          <p:nvPr/>
        </p:nvSpPr>
        <p:spPr>
          <a:xfrm xmlns:a="http://schemas.openxmlformats.org/drawingml/2006/main">
            <a:off x="933450" y="31242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16" name="">
            <a:extLst xmlns:a="http://schemas.openxmlformats.org/drawingml/2006/main">
              <a:ext uri="{FF2B5EF4-FFF2-40B4-BE49-F238E27FC236}">
                <a16:creationId xmlns:a16="http://schemas.microsoft.com/office/drawing/2014/main" id="{8962458D-FC8E-4854-BA19-33BA309B96D4}"/>
              </a:ext>
            </a:extLst>
          </p:cNvPr>
          <p:cNvSpPr>
            <a:spLocks xmlns:a="http://schemas.openxmlformats.org/drawingml/2006/main" noGrp="1"/>
          </p:cNvSpPr>
          <p:nvPr/>
        </p:nvSpPr>
        <p:spPr>
          <a:xfrm xmlns:a="http://schemas.openxmlformats.org/drawingml/2006/main">
            <a:off x="1123950" y="3048000"/>
            <a:ext cx="2667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后端未登录请求返回 401，核心接口需要认证后访问。</a:t>
            </a:r>
          </a:p>
        </p:txBody>
      </p:sp>
      <p:sp>
        <p:nvSpPr>
          <p:cNvPr id="17" name="">
            <a:extLst xmlns:a="http://schemas.openxmlformats.org/drawingml/2006/main">
              <a:ext uri="{FF2B5EF4-FFF2-40B4-BE49-F238E27FC236}">
                <a16:creationId xmlns:a16="http://schemas.microsoft.com/office/drawing/2014/main" id="{80DF4EEA-9BFC-4B40-862C-0280CC34EDDD}"/>
              </a:ext>
            </a:extLst>
          </p:cNvPr>
          <p:cNvSpPr>
            <a:spLocks xmlns:a="http://schemas.openxmlformats.org/drawingml/2006/main" noGrp="1"/>
          </p:cNvSpPr>
          <p:nvPr/>
        </p:nvSpPr>
        <p:spPr>
          <a:xfrm xmlns:a="http://schemas.openxmlformats.org/drawingml/2006/main">
            <a:off x="685800" y="3714750"/>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prstDash val="solid"/>
          </a:ln>
        </p:spPr>
      </p:sp>
      <p:sp>
        <p:nvSpPr>
          <p:cNvPr id="18" name="">
            <a:extLst xmlns:a="http://schemas.openxmlformats.org/drawingml/2006/main">
              <a:ext uri="{FF2B5EF4-FFF2-40B4-BE49-F238E27FC236}">
                <a16:creationId xmlns:a16="http://schemas.microsoft.com/office/drawing/2014/main" id="{13350F84-9945-4E93-B2AD-5BBC5E6F050A}"/>
              </a:ext>
            </a:extLst>
          </p:cNvPr>
          <p:cNvSpPr>
            <a:spLocks xmlns:a="http://schemas.openxmlformats.org/drawingml/2006/main" noGrp="1"/>
          </p:cNvSpPr>
          <p:nvPr/>
        </p:nvSpPr>
        <p:spPr>
          <a:xfrm xmlns:a="http://schemas.openxmlformats.org/drawingml/2006/main">
            <a:off x="914400" y="394335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A43"/>
                </a:solidFill>
              </a:defRPr>
            </a:pPr>
            <a:r>
              <a:rPr sz="1200" b="1">
                <a:solidFill>
                  <a:srgbClr val="102A43"/>
                </a:solidFill>
              </a:rPr>
              <a:t>权限分发路径</a:t>
            </a:r>
          </a:p>
        </p:txBody>
      </p:sp>
      <p:sp>
        <p:nvSpPr>
          <p:cNvPr id="19" name="">
            <a:extLst xmlns:a="http://schemas.openxmlformats.org/drawingml/2006/main">
              <a:ext uri="{FF2B5EF4-FFF2-40B4-BE49-F238E27FC236}">
                <a16:creationId xmlns:a16="http://schemas.microsoft.com/office/drawing/2014/main" id="{06F1C25B-BC84-4ED8-AFFA-16DA346B20E6}"/>
              </a:ext>
            </a:extLst>
          </p:cNvPr>
          <p:cNvSpPr>
            <a:spLocks xmlns:a="http://schemas.openxmlformats.org/drawingml/2006/main" noGrp="1"/>
          </p:cNvSpPr>
          <p:nvPr/>
        </p:nvSpPr>
        <p:spPr>
          <a:xfrm xmlns:a="http://schemas.openxmlformats.org/drawingml/2006/main">
            <a:off x="914400" y="4324350"/>
            <a:ext cx="876300" cy="400050"/>
          </a:xfrm>
          <a:prstGeom xmlns:a="http://schemas.openxmlformats.org/drawingml/2006/main" prst="roundRect">
            <a:avLst>
              <a:gd name="adj" fmla="val 19048"/>
            </a:avLst>
          </a:prstGeom>
          <a:solidFill xmlns:a="http://schemas.openxmlformats.org/drawingml/2006/main">
            <a:srgbClr val="F8FAFC"/>
          </a:solidFill>
          <a:ln xmlns:a="http://schemas.openxmlformats.org/drawingml/2006/main" w="9525">
            <a:solidFill>
              <a:srgbClr val="D9E2EC"/>
            </a:solidFill>
            <a:prstDash val="solid"/>
          </a:ln>
        </p:spPr>
      </p:sp>
      <p:sp>
        <p:nvSpPr>
          <p:cNvPr id="20" name="">
            <a:extLst xmlns:a="http://schemas.openxmlformats.org/drawingml/2006/main">
              <a:ext uri="{FF2B5EF4-FFF2-40B4-BE49-F238E27FC236}">
                <a16:creationId xmlns:a16="http://schemas.microsoft.com/office/drawing/2014/main" id="{73A1F5CC-CAA6-4DA6-8555-F73C0F7BD85E}"/>
              </a:ext>
            </a:extLst>
          </p:cNvPr>
          <p:cNvSpPr>
            <a:spLocks xmlns:a="http://schemas.openxmlformats.org/drawingml/2006/main" noGrp="1"/>
          </p:cNvSpPr>
          <p:nvPr/>
        </p:nvSpPr>
        <p:spPr>
          <a:xfrm xmlns:a="http://schemas.openxmlformats.org/drawingml/2006/main">
            <a:off x="971550" y="4419600"/>
            <a:ext cx="762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43B53"/>
                </a:solidFill>
              </a:defRPr>
            </a:pPr>
            <a:r>
              <a:rPr sz="750" b="1">
                <a:solidFill>
                  <a:srgbClr val="243B53"/>
                </a:solidFill>
              </a:rPr>
              <a:t>登录成功</a:t>
            </a:r>
          </a:p>
        </p:txBody>
      </p:sp>
      <p:sp>
        <p:nvSpPr>
          <p:cNvPr id="21" name="">
            <a:extLst xmlns:a="http://schemas.openxmlformats.org/drawingml/2006/main">
              <a:ext uri="{FF2B5EF4-FFF2-40B4-BE49-F238E27FC236}">
                <a16:creationId xmlns:a16="http://schemas.microsoft.com/office/drawing/2014/main" id="{C7712A57-2BC4-4439-BAB6-58F3D2F3A7F4}"/>
              </a:ext>
            </a:extLst>
          </p:cNvPr>
          <p:cNvSpPr>
            <a:spLocks xmlns:a="http://schemas.openxmlformats.org/drawingml/2006/main" noGrp="1"/>
          </p:cNvSpPr>
          <p:nvPr/>
        </p:nvSpPr>
        <p:spPr>
          <a:xfrm xmlns:a="http://schemas.openxmlformats.org/drawingml/2006/main">
            <a:off x="1962150" y="4324350"/>
            <a:ext cx="876300" cy="400050"/>
          </a:xfrm>
          <a:prstGeom xmlns:a="http://schemas.openxmlformats.org/drawingml/2006/main" prst="roundRect">
            <a:avLst>
              <a:gd name="adj" fmla="val 19048"/>
            </a:avLst>
          </a:prstGeom>
          <a:solidFill xmlns:a="http://schemas.openxmlformats.org/drawingml/2006/main">
            <a:srgbClr val="F8FAFC"/>
          </a:solidFill>
          <a:ln xmlns:a="http://schemas.openxmlformats.org/drawingml/2006/main" w="9525">
            <a:solidFill>
              <a:srgbClr val="D9E2EC"/>
            </a:solidFill>
            <a:prstDash val="solid"/>
          </a:ln>
        </p:spPr>
      </p:sp>
      <p:sp>
        <p:nvSpPr>
          <p:cNvPr id="22" name="">
            <a:extLst xmlns:a="http://schemas.openxmlformats.org/drawingml/2006/main">
              <a:ext uri="{FF2B5EF4-FFF2-40B4-BE49-F238E27FC236}">
                <a16:creationId xmlns:a16="http://schemas.microsoft.com/office/drawing/2014/main" id="{01E0462B-7BD7-4D3B-BFF7-A2087CBCF8BE}"/>
              </a:ext>
            </a:extLst>
          </p:cNvPr>
          <p:cNvSpPr>
            <a:spLocks xmlns:a="http://schemas.openxmlformats.org/drawingml/2006/main" noGrp="1"/>
          </p:cNvSpPr>
          <p:nvPr/>
        </p:nvSpPr>
        <p:spPr>
          <a:xfrm xmlns:a="http://schemas.openxmlformats.org/drawingml/2006/main">
            <a:off x="2019300" y="4419600"/>
            <a:ext cx="762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0112"/>
          </a:bodyPr>
          <a:lstStyle xmlns:a="http://schemas.openxmlformats.org/drawingml/2006/main"/>
          <a:p xmlns:a="http://schemas.openxmlformats.org/drawingml/2006/main">
            <a:pPr algn="ctr">
              <a:defRPr sz="750" b="1">
                <a:solidFill>
                  <a:srgbClr val="243B53"/>
                </a:solidFill>
              </a:defRPr>
            </a:pPr>
            <a:r>
              <a:rPr sz="750" b="1">
                <a:solidFill>
                  <a:srgbClr val="243B53"/>
                </a:solidFill>
              </a:rPr>
              <a:t>获取用户</a:t>
            </a:r>
          </a:p>
          <a:p xmlns:a="http://schemas.openxmlformats.org/drawingml/2006/main">
            <a:pPr algn="ctr">
              <a:defRPr sz="750" b="1">
                <a:solidFill>
                  <a:srgbClr val="243B53"/>
                </a:solidFill>
              </a:defRPr>
            </a:pPr>
            <a:r>
              <a:rPr sz="750" b="1">
                <a:solidFill>
                  <a:srgbClr val="243B53"/>
                </a:solidFill>
              </a:rPr>
              <a:t>信息</a:t>
            </a:r>
          </a:p>
        </p:txBody>
      </p:sp>
      <p:sp>
        <p:nvSpPr>
          <p:cNvPr id="23" name="">
            <a:extLst xmlns:a="http://schemas.openxmlformats.org/drawingml/2006/main">
              <a:ext uri="{FF2B5EF4-FFF2-40B4-BE49-F238E27FC236}">
                <a16:creationId xmlns:a16="http://schemas.microsoft.com/office/drawing/2014/main" id="{DAD32DF8-B074-4D40-8AF6-4D6B65DD114E}"/>
              </a:ext>
            </a:extLst>
          </p:cNvPr>
          <p:cNvSpPr>
            <a:spLocks xmlns:a="http://schemas.openxmlformats.org/drawingml/2006/main" noGrp="1"/>
          </p:cNvSpPr>
          <p:nvPr/>
        </p:nvSpPr>
        <p:spPr>
          <a:xfrm xmlns:a="http://schemas.openxmlformats.org/drawingml/2006/main">
            <a:off x="3009900" y="4324350"/>
            <a:ext cx="876300" cy="400050"/>
          </a:xfrm>
          <a:prstGeom xmlns:a="http://schemas.openxmlformats.org/drawingml/2006/main" prst="roundRect">
            <a:avLst>
              <a:gd name="adj" fmla="val 19048"/>
            </a:avLst>
          </a:prstGeom>
          <a:solidFill xmlns:a="http://schemas.openxmlformats.org/drawingml/2006/main">
            <a:srgbClr val="F8FAFC"/>
          </a:solidFill>
          <a:ln xmlns:a="http://schemas.openxmlformats.org/drawingml/2006/main" w="9525">
            <a:solidFill>
              <a:srgbClr val="D9E2EC"/>
            </a:solidFill>
            <a:prstDash val="solid"/>
          </a:ln>
        </p:spPr>
      </p:sp>
      <p:sp>
        <p:nvSpPr>
          <p:cNvPr id="24" name="">
            <a:extLst xmlns:a="http://schemas.openxmlformats.org/drawingml/2006/main">
              <a:ext uri="{FF2B5EF4-FFF2-40B4-BE49-F238E27FC236}">
                <a16:creationId xmlns:a16="http://schemas.microsoft.com/office/drawing/2014/main" id="{E9212FF1-986C-4056-8CBA-432A7B423A07}"/>
              </a:ext>
            </a:extLst>
          </p:cNvPr>
          <p:cNvSpPr>
            <a:spLocks xmlns:a="http://schemas.openxmlformats.org/drawingml/2006/main" noGrp="1"/>
          </p:cNvSpPr>
          <p:nvPr/>
        </p:nvSpPr>
        <p:spPr>
          <a:xfrm xmlns:a="http://schemas.openxmlformats.org/drawingml/2006/main">
            <a:off x="3067050" y="4419600"/>
            <a:ext cx="762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90112"/>
          </a:bodyPr>
          <a:lstStyle xmlns:a="http://schemas.openxmlformats.org/drawingml/2006/main"/>
          <a:p xmlns:a="http://schemas.openxmlformats.org/drawingml/2006/main">
            <a:pPr algn="ctr">
              <a:defRPr sz="750" b="1">
                <a:solidFill>
                  <a:srgbClr val="243B53"/>
                </a:solidFill>
              </a:defRPr>
            </a:pPr>
            <a:r>
              <a:rPr sz="750" b="1">
                <a:solidFill>
                  <a:srgbClr val="243B53"/>
                </a:solidFill>
              </a:rPr>
              <a:t>默认首页</a:t>
            </a:r>
          </a:p>
          <a:p xmlns:a="http://schemas.openxmlformats.org/drawingml/2006/main">
            <a:pPr algn="ctr">
              <a:defRPr sz="750" b="1">
                <a:solidFill>
                  <a:srgbClr val="243B53"/>
                </a:solidFill>
              </a:defRPr>
            </a:pPr>
            <a:r>
              <a:rPr sz="750" b="1">
                <a:solidFill>
                  <a:srgbClr val="243B53"/>
                </a:solidFill>
              </a:rPr>
              <a:t>分配</a:t>
            </a:r>
          </a:p>
        </p:txBody>
      </p:sp>
      <p:sp>
        <p:nvSpPr>
          <p:cNvPr id="25" name="">
            <a:extLst xmlns:a="http://schemas.openxmlformats.org/drawingml/2006/main">
              <a:ext uri="{FF2B5EF4-FFF2-40B4-BE49-F238E27FC236}">
                <a16:creationId xmlns:a16="http://schemas.microsoft.com/office/drawing/2014/main" id="{2977EBDC-DA40-4A8D-BBBB-18FAD406135E}"/>
              </a:ext>
            </a:extLst>
          </p:cNvPr>
          <p:cNvSpPr>
            <a:spLocks xmlns:a="http://schemas.openxmlformats.org/drawingml/2006/main" noGrp="1"/>
          </p:cNvSpPr>
          <p:nvPr/>
        </p:nvSpPr>
        <p:spPr>
          <a:xfrm xmlns:a="http://schemas.openxmlformats.org/drawingml/2006/main">
            <a:off x="1771650" y="4438650"/>
            <a:ext cx="171450" cy="1333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398E1F7-76AE-415E-8999-ED5535856C7D}"/>
              </a:ext>
            </a:extLst>
          </p:cNvPr>
          <p:cNvSpPr>
            <a:spLocks xmlns:a="http://schemas.openxmlformats.org/drawingml/2006/main" noGrp="1"/>
          </p:cNvSpPr>
          <p:nvPr/>
        </p:nvSpPr>
        <p:spPr>
          <a:xfrm xmlns:a="http://schemas.openxmlformats.org/drawingml/2006/main">
            <a:off x="2819400" y="4438650"/>
            <a:ext cx="171450" cy="1333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9F172D0-A11D-4EA6-AB82-CF39D6492753}"/>
              </a:ext>
            </a:extLst>
          </p:cNvPr>
          <p:cNvSpPr>
            <a:spLocks xmlns:a="http://schemas.openxmlformats.org/drawingml/2006/main" noGrp="1"/>
          </p:cNvSpPr>
          <p:nvPr/>
        </p:nvSpPr>
        <p:spPr>
          <a:xfrm xmlns:a="http://schemas.openxmlformats.org/drawingml/2006/main">
            <a:off x="1123950" y="4953000"/>
            <a:ext cx="2552700" cy="438150"/>
          </a:xfrm>
          <a:prstGeom xmlns:a="http://schemas.openxmlformats.org/drawingml/2006/main" prst="roundRect">
            <a:avLst>
              <a:gd name="adj" fmla="val 1739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2BF8AAC-791F-4DC0-8F70-C20E9A2CA5DE}"/>
              </a:ext>
            </a:extLst>
          </p:cNvPr>
          <p:cNvSpPr>
            <a:spLocks xmlns:a="http://schemas.openxmlformats.org/drawingml/2006/main" noGrp="1"/>
          </p:cNvSpPr>
          <p:nvPr/>
        </p:nvSpPr>
        <p:spPr>
          <a:xfrm xmlns:a="http://schemas.openxmlformats.org/drawingml/2006/main">
            <a:off x="1123950" y="5086350"/>
            <a:ext cx="2552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18B6B0"/>
                </a:solidFill>
              </a:defRPr>
            </a:pPr>
            <a:r>
              <a:rPr sz="900" b="1">
                <a:solidFill>
                  <a:srgbClr val="18B6B0"/>
                </a:solidFill>
              </a:rPr>
              <a:t>菜单与路由鉴权</a:t>
            </a:r>
          </a:p>
        </p:txBody>
      </p:sp>
      <p:sp>
        <p:nvSpPr>
          <p:cNvPr id="29" name="">
            <a:extLst xmlns:a="http://schemas.openxmlformats.org/drawingml/2006/main">
              <a:ext uri="{FF2B5EF4-FFF2-40B4-BE49-F238E27FC236}">
                <a16:creationId xmlns:a16="http://schemas.microsoft.com/office/drawing/2014/main" id="{FCA5A697-84CF-4CAD-97F4-46189D22B686}"/>
              </a:ext>
            </a:extLst>
          </p:cNvPr>
          <p:cNvSpPr>
            <a:spLocks xmlns:a="http://schemas.openxmlformats.org/drawingml/2006/main" noGrp="1"/>
          </p:cNvSpPr>
          <p:nvPr/>
        </p:nvSpPr>
        <p:spPr>
          <a:xfrm xmlns:a="http://schemas.openxmlformats.org/drawingml/2006/main">
            <a:off x="914400" y="5467350"/>
            <a:ext cx="2762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7B8794"/>
                </a:solidFill>
              </a:defRPr>
            </a:pPr>
            <a:r>
              <a:rPr sz="750" b="0">
                <a:solidFill>
                  <a:srgbClr val="7B8794"/>
                </a:solidFill>
              </a:rPr>
              <a:t>关键词：token、roleKey、moduleKey</a:t>
            </a:r>
          </a:p>
        </p:txBody>
      </p:sp>
      <p:sp>
        <p:nvSpPr>
          <p:cNvPr id="30" name="">
            <a:extLst xmlns:a="http://schemas.openxmlformats.org/drawingml/2006/main">
              <a:ext uri="{FF2B5EF4-FFF2-40B4-BE49-F238E27FC236}">
                <a16:creationId xmlns:a16="http://schemas.microsoft.com/office/drawing/2014/main" id="{9687F060-AEC6-4B3F-A107-17691200CA42}"/>
              </a:ext>
            </a:extLst>
          </p:cNvPr>
          <p:cNvSpPr>
            <a:spLocks xmlns:a="http://schemas.openxmlformats.org/drawingml/2006/main" noGrp="1"/>
          </p:cNvSpPr>
          <p:nvPr/>
        </p:nvSpPr>
        <p:spPr>
          <a:xfrm xmlns:a="http://schemas.openxmlformats.org/drawingml/2006/main">
            <a:off x="4476750" y="1752600"/>
            <a:ext cx="7067550" cy="3962400"/>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9525">
            <a:solidFill>
              <a:srgbClr val="D9E2EC"/>
            </a:solidFill>
            <a:prstDash val="solid"/>
          </a:ln>
        </p:spPr>
      </p:sp>
      <p:sp>
        <p:nvSpPr>
          <p:cNvPr id="31" name="">
            <a:extLst xmlns:a="http://schemas.openxmlformats.org/drawingml/2006/main">
              <a:ext uri="{FF2B5EF4-FFF2-40B4-BE49-F238E27FC236}">
                <a16:creationId xmlns:a16="http://schemas.microsoft.com/office/drawing/2014/main" id="{7524FF08-C225-44E1-9CD1-F44E768FBB47}"/>
              </a:ext>
            </a:extLst>
          </p:cNvPr>
          <p:cNvSpPr>
            <a:spLocks xmlns:a="http://schemas.openxmlformats.org/drawingml/2006/main" noGrp="1"/>
          </p:cNvSpPr>
          <p:nvPr/>
        </p:nvSpPr>
        <p:spPr>
          <a:xfrm xmlns:a="http://schemas.openxmlformats.org/drawingml/2006/main">
            <a:off x="4705350" y="198120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模块访问矩阵</a:t>
            </a:r>
          </a:p>
        </p:txBody>
      </p:sp>
      <p:sp>
        <p:nvSpPr>
          <p:cNvPr id="32" name="">
            <a:extLst xmlns:a="http://schemas.openxmlformats.org/drawingml/2006/main">
              <a:ext uri="{FF2B5EF4-FFF2-40B4-BE49-F238E27FC236}">
                <a16:creationId xmlns:a16="http://schemas.microsoft.com/office/drawing/2014/main" id="{25D60151-3D10-41AE-A674-45B3458020A1}"/>
              </a:ext>
            </a:extLst>
          </p:cNvPr>
          <p:cNvSpPr>
            <a:spLocks xmlns:a="http://schemas.openxmlformats.org/drawingml/2006/main" noGrp="1"/>
          </p:cNvSpPr>
          <p:nvPr/>
        </p:nvSpPr>
        <p:spPr>
          <a:xfrm xmlns:a="http://schemas.openxmlformats.org/drawingml/2006/main">
            <a:off x="4705350" y="2324100"/>
            <a:ext cx="1219200" cy="41910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33" name="">
            <a:extLst xmlns:a="http://schemas.openxmlformats.org/drawingml/2006/main">
              <a:ext uri="{FF2B5EF4-FFF2-40B4-BE49-F238E27FC236}">
                <a16:creationId xmlns:a16="http://schemas.microsoft.com/office/drawing/2014/main" id="{70448AEE-FE9C-4FB6-AD40-6145DA31F9AA}"/>
              </a:ext>
            </a:extLst>
          </p:cNvPr>
          <p:cNvSpPr>
            <a:spLocks xmlns:a="http://schemas.openxmlformats.org/drawingml/2006/main" noGrp="1"/>
          </p:cNvSpPr>
          <p:nvPr/>
        </p:nvSpPr>
        <p:spPr>
          <a:xfrm xmlns:a="http://schemas.openxmlformats.org/drawingml/2006/main">
            <a:off x="4762500" y="2381250"/>
            <a:ext cx="1104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角色/模块</a:t>
            </a:r>
          </a:p>
        </p:txBody>
      </p:sp>
      <p:sp>
        <p:nvSpPr>
          <p:cNvPr id="34" name="">
            <a:extLst xmlns:a="http://schemas.openxmlformats.org/drawingml/2006/main">
              <a:ext uri="{FF2B5EF4-FFF2-40B4-BE49-F238E27FC236}">
                <a16:creationId xmlns:a16="http://schemas.microsoft.com/office/drawing/2014/main" id="{572BB28A-8B33-4F2B-A671-6DFEDAB85CA0}"/>
              </a:ext>
            </a:extLst>
          </p:cNvPr>
          <p:cNvSpPr>
            <a:spLocks xmlns:a="http://schemas.openxmlformats.org/drawingml/2006/main" noGrp="1"/>
          </p:cNvSpPr>
          <p:nvPr/>
        </p:nvSpPr>
        <p:spPr>
          <a:xfrm xmlns:a="http://schemas.openxmlformats.org/drawingml/2006/main">
            <a:off x="5924550" y="2324100"/>
            <a:ext cx="857250" cy="41910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35" name="">
            <a:extLst xmlns:a="http://schemas.openxmlformats.org/drawingml/2006/main">
              <a:ext uri="{FF2B5EF4-FFF2-40B4-BE49-F238E27FC236}">
                <a16:creationId xmlns:a16="http://schemas.microsoft.com/office/drawing/2014/main" id="{6154D563-0001-4C08-B6E7-E9C417D3EFAF}"/>
              </a:ext>
            </a:extLst>
          </p:cNvPr>
          <p:cNvSpPr>
            <a:spLocks xmlns:a="http://schemas.openxmlformats.org/drawingml/2006/main" noGrp="1"/>
          </p:cNvSpPr>
          <p:nvPr/>
        </p:nvSpPr>
        <p:spPr>
          <a:xfrm xmlns:a="http://schemas.openxmlformats.org/drawingml/2006/main">
            <a:off x="5981700" y="23812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首页</a:t>
            </a:r>
          </a:p>
        </p:txBody>
      </p:sp>
      <p:sp>
        <p:nvSpPr>
          <p:cNvPr id="36" name="">
            <a:extLst xmlns:a="http://schemas.openxmlformats.org/drawingml/2006/main">
              <a:ext uri="{FF2B5EF4-FFF2-40B4-BE49-F238E27FC236}">
                <a16:creationId xmlns:a16="http://schemas.microsoft.com/office/drawing/2014/main" id="{FED8B9E3-9C8B-45AD-B4D1-F560478891B6}"/>
              </a:ext>
            </a:extLst>
          </p:cNvPr>
          <p:cNvSpPr>
            <a:spLocks xmlns:a="http://schemas.openxmlformats.org/drawingml/2006/main" noGrp="1"/>
          </p:cNvSpPr>
          <p:nvPr/>
        </p:nvSpPr>
        <p:spPr>
          <a:xfrm xmlns:a="http://schemas.openxmlformats.org/drawingml/2006/main">
            <a:off x="6781800" y="2324100"/>
            <a:ext cx="857250" cy="41910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37" name="">
            <a:extLst xmlns:a="http://schemas.openxmlformats.org/drawingml/2006/main">
              <a:ext uri="{FF2B5EF4-FFF2-40B4-BE49-F238E27FC236}">
                <a16:creationId xmlns:a16="http://schemas.microsoft.com/office/drawing/2014/main" id="{1DC09126-FAE0-4DB7-98BC-A19F9E781491}"/>
              </a:ext>
            </a:extLst>
          </p:cNvPr>
          <p:cNvSpPr>
            <a:spLocks xmlns:a="http://schemas.openxmlformats.org/drawingml/2006/main" noGrp="1"/>
          </p:cNvSpPr>
          <p:nvPr/>
        </p:nvSpPr>
        <p:spPr>
          <a:xfrm xmlns:a="http://schemas.openxmlformats.org/drawingml/2006/main">
            <a:off x="6838950" y="23812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项目</a:t>
            </a:r>
          </a:p>
        </p:txBody>
      </p:sp>
      <p:sp>
        <p:nvSpPr>
          <p:cNvPr id="38" name="">
            <a:extLst xmlns:a="http://schemas.openxmlformats.org/drawingml/2006/main">
              <a:ext uri="{FF2B5EF4-FFF2-40B4-BE49-F238E27FC236}">
                <a16:creationId xmlns:a16="http://schemas.microsoft.com/office/drawing/2014/main" id="{C5DB6B2D-0B07-4B49-89EC-2802A67035D7}"/>
              </a:ext>
            </a:extLst>
          </p:cNvPr>
          <p:cNvSpPr>
            <a:spLocks xmlns:a="http://schemas.openxmlformats.org/drawingml/2006/main" noGrp="1"/>
          </p:cNvSpPr>
          <p:nvPr/>
        </p:nvSpPr>
        <p:spPr>
          <a:xfrm xmlns:a="http://schemas.openxmlformats.org/drawingml/2006/main">
            <a:off x="7639050" y="2324100"/>
            <a:ext cx="857250" cy="41910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39" name="">
            <a:extLst xmlns:a="http://schemas.openxmlformats.org/drawingml/2006/main">
              <a:ext uri="{FF2B5EF4-FFF2-40B4-BE49-F238E27FC236}">
                <a16:creationId xmlns:a16="http://schemas.microsoft.com/office/drawing/2014/main" id="{D27A29FD-1CBA-4D99-9903-BCEA5CB43BB5}"/>
              </a:ext>
            </a:extLst>
          </p:cNvPr>
          <p:cNvSpPr>
            <a:spLocks xmlns:a="http://schemas.openxmlformats.org/drawingml/2006/main" noGrp="1"/>
          </p:cNvSpPr>
          <p:nvPr/>
        </p:nvSpPr>
        <p:spPr>
          <a:xfrm xmlns:a="http://schemas.openxmlformats.org/drawingml/2006/main">
            <a:off x="7696200" y="23812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审批</a:t>
            </a:r>
          </a:p>
        </p:txBody>
      </p:sp>
      <p:sp>
        <p:nvSpPr>
          <p:cNvPr id="40" name="">
            <a:extLst xmlns:a="http://schemas.openxmlformats.org/drawingml/2006/main">
              <a:ext uri="{FF2B5EF4-FFF2-40B4-BE49-F238E27FC236}">
                <a16:creationId xmlns:a16="http://schemas.microsoft.com/office/drawing/2014/main" id="{2E477924-88F7-4D95-BCB4-FB45019EC69B}"/>
              </a:ext>
            </a:extLst>
          </p:cNvPr>
          <p:cNvSpPr>
            <a:spLocks xmlns:a="http://schemas.openxmlformats.org/drawingml/2006/main" noGrp="1"/>
          </p:cNvSpPr>
          <p:nvPr/>
        </p:nvSpPr>
        <p:spPr>
          <a:xfrm xmlns:a="http://schemas.openxmlformats.org/drawingml/2006/main">
            <a:off x="8496300" y="2324100"/>
            <a:ext cx="857250" cy="41910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41" name="">
            <a:extLst xmlns:a="http://schemas.openxmlformats.org/drawingml/2006/main">
              <a:ext uri="{FF2B5EF4-FFF2-40B4-BE49-F238E27FC236}">
                <a16:creationId xmlns:a16="http://schemas.microsoft.com/office/drawing/2014/main" id="{0F13BA78-3D13-433F-9F98-C279EA11DC67}"/>
              </a:ext>
            </a:extLst>
          </p:cNvPr>
          <p:cNvSpPr>
            <a:spLocks xmlns:a="http://schemas.openxmlformats.org/drawingml/2006/main" noGrp="1"/>
          </p:cNvSpPr>
          <p:nvPr/>
        </p:nvSpPr>
        <p:spPr>
          <a:xfrm xmlns:a="http://schemas.openxmlformats.org/drawingml/2006/main">
            <a:off x="8553450" y="23812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报销</a:t>
            </a:r>
          </a:p>
        </p:txBody>
      </p:sp>
      <p:sp>
        <p:nvSpPr>
          <p:cNvPr id="42" name="">
            <a:extLst xmlns:a="http://schemas.openxmlformats.org/drawingml/2006/main">
              <a:ext uri="{FF2B5EF4-FFF2-40B4-BE49-F238E27FC236}">
                <a16:creationId xmlns:a16="http://schemas.microsoft.com/office/drawing/2014/main" id="{DE9007AF-5FAB-40E2-99EC-037F1EBCE716}"/>
              </a:ext>
            </a:extLst>
          </p:cNvPr>
          <p:cNvSpPr>
            <a:spLocks xmlns:a="http://schemas.openxmlformats.org/drawingml/2006/main" noGrp="1"/>
          </p:cNvSpPr>
          <p:nvPr/>
        </p:nvSpPr>
        <p:spPr>
          <a:xfrm xmlns:a="http://schemas.openxmlformats.org/drawingml/2006/main">
            <a:off x="9353550" y="2324100"/>
            <a:ext cx="857250" cy="41910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43" name="">
            <a:extLst xmlns:a="http://schemas.openxmlformats.org/drawingml/2006/main">
              <a:ext uri="{FF2B5EF4-FFF2-40B4-BE49-F238E27FC236}">
                <a16:creationId xmlns:a16="http://schemas.microsoft.com/office/drawing/2014/main" id="{2EBA5379-911D-4210-AD49-43262FEBE22E}"/>
              </a:ext>
            </a:extLst>
          </p:cNvPr>
          <p:cNvSpPr>
            <a:spLocks xmlns:a="http://schemas.openxmlformats.org/drawingml/2006/main" noGrp="1"/>
          </p:cNvSpPr>
          <p:nvPr/>
        </p:nvSpPr>
        <p:spPr>
          <a:xfrm xmlns:a="http://schemas.openxmlformats.org/drawingml/2006/main">
            <a:off x="9410700" y="23812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成果</a:t>
            </a:r>
          </a:p>
        </p:txBody>
      </p:sp>
      <p:sp>
        <p:nvSpPr>
          <p:cNvPr id="44" name="">
            <a:extLst xmlns:a="http://schemas.openxmlformats.org/drawingml/2006/main">
              <a:ext uri="{FF2B5EF4-FFF2-40B4-BE49-F238E27FC236}">
                <a16:creationId xmlns:a16="http://schemas.microsoft.com/office/drawing/2014/main" id="{67ECA473-486F-4B93-B3EB-3C5898B8AD08}"/>
              </a:ext>
            </a:extLst>
          </p:cNvPr>
          <p:cNvSpPr>
            <a:spLocks xmlns:a="http://schemas.openxmlformats.org/drawingml/2006/main" noGrp="1"/>
          </p:cNvSpPr>
          <p:nvPr/>
        </p:nvSpPr>
        <p:spPr>
          <a:xfrm xmlns:a="http://schemas.openxmlformats.org/drawingml/2006/main">
            <a:off x="10210800" y="2324100"/>
            <a:ext cx="857250" cy="41910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45" name="">
            <a:extLst xmlns:a="http://schemas.openxmlformats.org/drawingml/2006/main">
              <a:ext uri="{FF2B5EF4-FFF2-40B4-BE49-F238E27FC236}">
                <a16:creationId xmlns:a16="http://schemas.microsoft.com/office/drawing/2014/main" id="{801A4181-F735-465C-857D-237CD3ECDD69}"/>
              </a:ext>
            </a:extLst>
          </p:cNvPr>
          <p:cNvSpPr>
            <a:spLocks xmlns:a="http://schemas.openxmlformats.org/drawingml/2006/main" noGrp="1"/>
          </p:cNvSpPr>
          <p:nvPr/>
        </p:nvSpPr>
        <p:spPr>
          <a:xfrm xmlns:a="http://schemas.openxmlformats.org/drawingml/2006/main">
            <a:off x="10267950" y="23812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用户角色</a:t>
            </a:r>
          </a:p>
        </p:txBody>
      </p:sp>
      <p:sp>
        <p:nvSpPr>
          <p:cNvPr id="46" name="">
            <a:extLst xmlns:a="http://schemas.openxmlformats.org/drawingml/2006/main">
              <a:ext uri="{FF2B5EF4-FFF2-40B4-BE49-F238E27FC236}">
                <a16:creationId xmlns:a16="http://schemas.microsoft.com/office/drawing/2014/main" id="{C5165FA0-505F-4381-958A-3450A4BBC6F1}"/>
              </a:ext>
            </a:extLst>
          </p:cNvPr>
          <p:cNvSpPr>
            <a:spLocks xmlns:a="http://schemas.openxmlformats.org/drawingml/2006/main" noGrp="1"/>
          </p:cNvSpPr>
          <p:nvPr/>
        </p:nvSpPr>
        <p:spPr>
          <a:xfrm xmlns:a="http://schemas.openxmlformats.org/drawingml/2006/main">
            <a:off x="4705350" y="2743200"/>
            <a:ext cx="1219200" cy="41910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47" name="">
            <a:extLst xmlns:a="http://schemas.openxmlformats.org/drawingml/2006/main">
              <a:ext uri="{FF2B5EF4-FFF2-40B4-BE49-F238E27FC236}">
                <a16:creationId xmlns:a16="http://schemas.microsoft.com/office/drawing/2014/main" id="{87CA14AC-D4AF-4271-822F-E58989CDB810}"/>
              </a:ext>
            </a:extLst>
          </p:cNvPr>
          <p:cNvSpPr>
            <a:spLocks xmlns:a="http://schemas.openxmlformats.org/drawingml/2006/main" noGrp="1"/>
          </p:cNvSpPr>
          <p:nvPr/>
        </p:nvSpPr>
        <p:spPr>
          <a:xfrm xmlns:a="http://schemas.openxmlformats.org/drawingml/2006/main">
            <a:off x="4762500" y="2800350"/>
            <a:ext cx="1104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系统管理员</a:t>
            </a:r>
          </a:p>
        </p:txBody>
      </p:sp>
      <p:sp>
        <p:nvSpPr>
          <p:cNvPr id="48" name="">
            <a:extLst xmlns:a="http://schemas.openxmlformats.org/drawingml/2006/main">
              <a:ext uri="{FF2B5EF4-FFF2-40B4-BE49-F238E27FC236}">
                <a16:creationId xmlns:a16="http://schemas.microsoft.com/office/drawing/2014/main" id="{94CBAD81-109A-44A1-A8D0-0AC2746D7F1D}"/>
              </a:ext>
            </a:extLst>
          </p:cNvPr>
          <p:cNvSpPr>
            <a:spLocks xmlns:a="http://schemas.openxmlformats.org/drawingml/2006/main" noGrp="1"/>
          </p:cNvSpPr>
          <p:nvPr/>
        </p:nvSpPr>
        <p:spPr>
          <a:xfrm xmlns:a="http://schemas.openxmlformats.org/drawingml/2006/main">
            <a:off x="5924550" y="27432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49" name="">
            <a:extLst xmlns:a="http://schemas.openxmlformats.org/drawingml/2006/main">
              <a:ext uri="{FF2B5EF4-FFF2-40B4-BE49-F238E27FC236}">
                <a16:creationId xmlns:a16="http://schemas.microsoft.com/office/drawing/2014/main" id="{FC2ED903-8C6F-4F20-9B93-6D7CF492451D}"/>
              </a:ext>
            </a:extLst>
          </p:cNvPr>
          <p:cNvSpPr>
            <a:spLocks xmlns:a="http://schemas.openxmlformats.org/drawingml/2006/main" noGrp="1"/>
          </p:cNvSpPr>
          <p:nvPr/>
        </p:nvSpPr>
        <p:spPr>
          <a:xfrm xmlns:a="http://schemas.openxmlformats.org/drawingml/2006/main">
            <a:off x="5981700" y="28003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50" name="">
            <a:extLst xmlns:a="http://schemas.openxmlformats.org/drawingml/2006/main">
              <a:ext uri="{FF2B5EF4-FFF2-40B4-BE49-F238E27FC236}">
                <a16:creationId xmlns:a16="http://schemas.microsoft.com/office/drawing/2014/main" id="{84B6E0F3-94C4-4C8F-A819-78E335A895BC}"/>
              </a:ext>
            </a:extLst>
          </p:cNvPr>
          <p:cNvSpPr>
            <a:spLocks xmlns:a="http://schemas.openxmlformats.org/drawingml/2006/main" noGrp="1"/>
          </p:cNvSpPr>
          <p:nvPr/>
        </p:nvSpPr>
        <p:spPr>
          <a:xfrm xmlns:a="http://schemas.openxmlformats.org/drawingml/2006/main">
            <a:off x="6781800" y="27432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51" name="">
            <a:extLst xmlns:a="http://schemas.openxmlformats.org/drawingml/2006/main">
              <a:ext uri="{FF2B5EF4-FFF2-40B4-BE49-F238E27FC236}">
                <a16:creationId xmlns:a16="http://schemas.microsoft.com/office/drawing/2014/main" id="{75A6953D-373E-4C69-B148-C5B88262AADB}"/>
              </a:ext>
            </a:extLst>
          </p:cNvPr>
          <p:cNvSpPr>
            <a:spLocks xmlns:a="http://schemas.openxmlformats.org/drawingml/2006/main" noGrp="1"/>
          </p:cNvSpPr>
          <p:nvPr/>
        </p:nvSpPr>
        <p:spPr>
          <a:xfrm xmlns:a="http://schemas.openxmlformats.org/drawingml/2006/main">
            <a:off x="6838950" y="28003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52" name="">
            <a:extLst xmlns:a="http://schemas.openxmlformats.org/drawingml/2006/main">
              <a:ext uri="{FF2B5EF4-FFF2-40B4-BE49-F238E27FC236}">
                <a16:creationId xmlns:a16="http://schemas.microsoft.com/office/drawing/2014/main" id="{801F3AB0-35D8-4EA4-930D-4FF627650E1F}"/>
              </a:ext>
            </a:extLst>
          </p:cNvPr>
          <p:cNvSpPr>
            <a:spLocks xmlns:a="http://schemas.openxmlformats.org/drawingml/2006/main" noGrp="1"/>
          </p:cNvSpPr>
          <p:nvPr/>
        </p:nvSpPr>
        <p:spPr>
          <a:xfrm xmlns:a="http://schemas.openxmlformats.org/drawingml/2006/main">
            <a:off x="7639050" y="27432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53" name="">
            <a:extLst xmlns:a="http://schemas.openxmlformats.org/drawingml/2006/main">
              <a:ext uri="{FF2B5EF4-FFF2-40B4-BE49-F238E27FC236}">
                <a16:creationId xmlns:a16="http://schemas.microsoft.com/office/drawing/2014/main" id="{15C814FD-B134-4EEC-9D57-A8B2B0AC0999}"/>
              </a:ext>
            </a:extLst>
          </p:cNvPr>
          <p:cNvSpPr>
            <a:spLocks xmlns:a="http://schemas.openxmlformats.org/drawingml/2006/main" noGrp="1"/>
          </p:cNvSpPr>
          <p:nvPr/>
        </p:nvSpPr>
        <p:spPr>
          <a:xfrm xmlns:a="http://schemas.openxmlformats.org/drawingml/2006/main">
            <a:off x="7696200" y="28003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54" name="">
            <a:extLst xmlns:a="http://schemas.openxmlformats.org/drawingml/2006/main">
              <a:ext uri="{FF2B5EF4-FFF2-40B4-BE49-F238E27FC236}">
                <a16:creationId xmlns:a16="http://schemas.microsoft.com/office/drawing/2014/main" id="{555B5064-1237-4ED5-B262-EEA8DD7A1289}"/>
              </a:ext>
            </a:extLst>
          </p:cNvPr>
          <p:cNvSpPr>
            <a:spLocks xmlns:a="http://schemas.openxmlformats.org/drawingml/2006/main" noGrp="1"/>
          </p:cNvSpPr>
          <p:nvPr/>
        </p:nvSpPr>
        <p:spPr>
          <a:xfrm xmlns:a="http://schemas.openxmlformats.org/drawingml/2006/main">
            <a:off x="8496300" y="27432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55" name="">
            <a:extLst xmlns:a="http://schemas.openxmlformats.org/drawingml/2006/main">
              <a:ext uri="{FF2B5EF4-FFF2-40B4-BE49-F238E27FC236}">
                <a16:creationId xmlns:a16="http://schemas.microsoft.com/office/drawing/2014/main" id="{C80492D9-F031-4285-8DD2-2F8066A3D5A5}"/>
              </a:ext>
            </a:extLst>
          </p:cNvPr>
          <p:cNvSpPr>
            <a:spLocks xmlns:a="http://schemas.openxmlformats.org/drawingml/2006/main" noGrp="1"/>
          </p:cNvSpPr>
          <p:nvPr/>
        </p:nvSpPr>
        <p:spPr>
          <a:xfrm xmlns:a="http://schemas.openxmlformats.org/drawingml/2006/main">
            <a:off x="8553450" y="28003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56" name="">
            <a:extLst xmlns:a="http://schemas.openxmlformats.org/drawingml/2006/main">
              <a:ext uri="{FF2B5EF4-FFF2-40B4-BE49-F238E27FC236}">
                <a16:creationId xmlns:a16="http://schemas.microsoft.com/office/drawing/2014/main" id="{03CBA866-BCB4-4173-8649-CF597EF77CFD}"/>
              </a:ext>
            </a:extLst>
          </p:cNvPr>
          <p:cNvSpPr>
            <a:spLocks xmlns:a="http://schemas.openxmlformats.org/drawingml/2006/main" noGrp="1"/>
          </p:cNvSpPr>
          <p:nvPr/>
        </p:nvSpPr>
        <p:spPr>
          <a:xfrm xmlns:a="http://schemas.openxmlformats.org/drawingml/2006/main">
            <a:off x="9353550" y="27432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57" name="">
            <a:extLst xmlns:a="http://schemas.openxmlformats.org/drawingml/2006/main">
              <a:ext uri="{FF2B5EF4-FFF2-40B4-BE49-F238E27FC236}">
                <a16:creationId xmlns:a16="http://schemas.microsoft.com/office/drawing/2014/main" id="{8D710C05-8FB4-4786-BE68-ADE678E08665}"/>
              </a:ext>
            </a:extLst>
          </p:cNvPr>
          <p:cNvSpPr>
            <a:spLocks xmlns:a="http://schemas.openxmlformats.org/drawingml/2006/main" noGrp="1"/>
          </p:cNvSpPr>
          <p:nvPr/>
        </p:nvSpPr>
        <p:spPr>
          <a:xfrm xmlns:a="http://schemas.openxmlformats.org/drawingml/2006/main">
            <a:off x="9410700" y="28003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58" name="">
            <a:extLst xmlns:a="http://schemas.openxmlformats.org/drawingml/2006/main">
              <a:ext uri="{FF2B5EF4-FFF2-40B4-BE49-F238E27FC236}">
                <a16:creationId xmlns:a16="http://schemas.microsoft.com/office/drawing/2014/main" id="{B3E7EB7A-01B5-4CC2-82E4-2C6E5AB20E04}"/>
              </a:ext>
            </a:extLst>
          </p:cNvPr>
          <p:cNvSpPr>
            <a:spLocks xmlns:a="http://schemas.openxmlformats.org/drawingml/2006/main" noGrp="1"/>
          </p:cNvSpPr>
          <p:nvPr/>
        </p:nvSpPr>
        <p:spPr>
          <a:xfrm xmlns:a="http://schemas.openxmlformats.org/drawingml/2006/main">
            <a:off x="10210800" y="27432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59" name="">
            <a:extLst xmlns:a="http://schemas.openxmlformats.org/drawingml/2006/main">
              <a:ext uri="{FF2B5EF4-FFF2-40B4-BE49-F238E27FC236}">
                <a16:creationId xmlns:a16="http://schemas.microsoft.com/office/drawing/2014/main" id="{C92D93D6-EB72-41CD-9801-CD552700A8C4}"/>
              </a:ext>
            </a:extLst>
          </p:cNvPr>
          <p:cNvSpPr>
            <a:spLocks xmlns:a="http://schemas.openxmlformats.org/drawingml/2006/main" noGrp="1"/>
          </p:cNvSpPr>
          <p:nvPr/>
        </p:nvSpPr>
        <p:spPr>
          <a:xfrm xmlns:a="http://schemas.openxmlformats.org/drawingml/2006/main">
            <a:off x="10267950" y="28003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60" name="">
            <a:extLst xmlns:a="http://schemas.openxmlformats.org/drawingml/2006/main">
              <a:ext uri="{FF2B5EF4-FFF2-40B4-BE49-F238E27FC236}">
                <a16:creationId xmlns:a16="http://schemas.microsoft.com/office/drawing/2014/main" id="{1FAF1D68-13BE-4822-B1B6-E351108E812D}"/>
              </a:ext>
            </a:extLst>
          </p:cNvPr>
          <p:cNvSpPr>
            <a:spLocks xmlns:a="http://schemas.openxmlformats.org/drawingml/2006/main" noGrp="1"/>
          </p:cNvSpPr>
          <p:nvPr/>
        </p:nvSpPr>
        <p:spPr>
          <a:xfrm xmlns:a="http://schemas.openxmlformats.org/drawingml/2006/main">
            <a:off x="4705350" y="3162300"/>
            <a:ext cx="1219200" cy="41910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61" name="">
            <a:extLst xmlns:a="http://schemas.openxmlformats.org/drawingml/2006/main">
              <a:ext uri="{FF2B5EF4-FFF2-40B4-BE49-F238E27FC236}">
                <a16:creationId xmlns:a16="http://schemas.microsoft.com/office/drawing/2014/main" id="{A2DE7D03-9604-47E9-9C17-56D0F6758C61}"/>
              </a:ext>
            </a:extLst>
          </p:cNvPr>
          <p:cNvSpPr>
            <a:spLocks xmlns:a="http://schemas.openxmlformats.org/drawingml/2006/main" noGrp="1"/>
          </p:cNvSpPr>
          <p:nvPr/>
        </p:nvSpPr>
        <p:spPr>
          <a:xfrm xmlns:a="http://schemas.openxmlformats.org/drawingml/2006/main">
            <a:off x="4762500" y="3219450"/>
            <a:ext cx="1104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教师用户</a:t>
            </a:r>
          </a:p>
        </p:txBody>
      </p:sp>
      <p:sp>
        <p:nvSpPr>
          <p:cNvPr id="62" name="">
            <a:extLst xmlns:a="http://schemas.openxmlformats.org/drawingml/2006/main">
              <a:ext uri="{FF2B5EF4-FFF2-40B4-BE49-F238E27FC236}">
                <a16:creationId xmlns:a16="http://schemas.microsoft.com/office/drawing/2014/main" id="{57176A3D-341D-48F4-A086-43429B28E3EB}"/>
              </a:ext>
            </a:extLst>
          </p:cNvPr>
          <p:cNvSpPr>
            <a:spLocks xmlns:a="http://schemas.openxmlformats.org/drawingml/2006/main" noGrp="1"/>
          </p:cNvSpPr>
          <p:nvPr/>
        </p:nvSpPr>
        <p:spPr>
          <a:xfrm xmlns:a="http://schemas.openxmlformats.org/drawingml/2006/main">
            <a:off x="5924550" y="31623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63" name="">
            <a:extLst xmlns:a="http://schemas.openxmlformats.org/drawingml/2006/main">
              <a:ext uri="{FF2B5EF4-FFF2-40B4-BE49-F238E27FC236}">
                <a16:creationId xmlns:a16="http://schemas.microsoft.com/office/drawing/2014/main" id="{CAC27D43-651C-4FC8-8A23-89A41E97246C}"/>
              </a:ext>
            </a:extLst>
          </p:cNvPr>
          <p:cNvSpPr>
            <a:spLocks xmlns:a="http://schemas.openxmlformats.org/drawingml/2006/main" noGrp="1"/>
          </p:cNvSpPr>
          <p:nvPr/>
        </p:nvSpPr>
        <p:spPr>
          <a:xfrm xmlns:a="http://schemas.openxmlformats.org/drawingml/2006/main">
            <a:off x="5981700" y="32194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64" name="">
            <a:extLst xmlns:a="http://schemas.openxmlformats.org/drawingml/2006/main">
              <a:ext uri="{FF2B5EF4-FFF2-40B4-BE49-F238E27FC236}">
                <a16:creationId xmlns:a16="http://schemas.microsoft.com/office/drawing/2014/main" id="{6028525D-DAC2-43EA-9BAA-F13C4CF4B5DD}"/>
              </a:ext>
            </a:extLst>
          </p:cNvPr>
          <p:cNvSpPr>
            <a:spLocks xmlns:a="http://schemas.openxmlformats.org/drawingml/2006/main" noGrp="1"/>
          </p:cNvSpPr>
          <p:nvPr/>
        </p:nvSpPr>
        <p:spPr>
          <a:xfrm xmlns:a="http://schemas.openxmlformats.org/drawingml/2006/main">
            <a:off x="6781800" y="31623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65" name="">
            <a:extLst xmlns:a="http://schemas.openxmlformats.org/drawingml/2006/main">
              <a:ext uri="{FF2B5EF4-FFF2-40B4-BE49-F238E27FC236}">
                <a16:creationId xmlns:a16="http://schemas.microsoft.com/office/drawing/2014/main" id="{6CA089AB-3257-4D57-905C-542A3C25BA41}"/>
              </a:ext>
            </a:extLst>
          </p:cNvPr>
          <p:cNvSpPr>
            <a:spLocks xmlns:a="http://schemas.openxmlformats.org/drawingml/2006/main" noGrp="1"/>
          </p:cNvSpPr>
          <p:nvPr/>
        </p:nvSpPr>
        <p:spPr>
          <a:xfrm xmlns:a="http://schemas.openxmlformats.org/drawingml/2006/main">
            <a:off x="6838950" y="32194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66" name="">
            <a:extLst xmlns:a="http://schemas.openxmlformats.org/drawingml/2006/main">
              <a:ext uri="{FF2B5EF4-FFF2-40B4-BE49-F238E27FC236}">
                <a16:creationId xmlns:a16="http://schemas.microsoft.com/office/drawing/2014/main" id="{68019F5D-C33C-4836-9F58-D93E163574E1}"/>
              </a:ext>
            </a:extLst>
          </p:cNvPr>
          <p:cNvSpPr>
            <a:spLocks xmlns:a="http://schemas.openxmlformats.org/drawingml/2006/main" noGrp="1"/>
          </p:cNvSpPr>
          <p:nvPr/>
        </p:nvSpPr>
        <p:spPr>
          <a:xfrm xmlns:a="http://schemas.openxmlformats.org/drawingml/2006/main">
            <a:off x="7639050" y="31623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67" name="">
            <a:extLst xmlns:a="http://schemas.openxmlformats.org/drawingml/2006/main">
              <a:ext uri="{FF2B5EF4-FFF2-40B4-BE49-F238E27FC236}">
                <a16:creationId xmlns:a16="http://schemas.microsoft.com/office/drawing/2014/main" id="{388F820B-A205-420D-A451-15ECCC8EF83E}"/>
              </a:ext>
            </a:extLst>
          </p:cNvPr>
          <p:cNvSpPr>
            <a:spLocks xmlns:a="http://schemas.openxmlformats.org/drawingml/2006/main" noGrp="1"/>
          </p:cNvSpPr>
          <p:nvPr/>
        </p:nvSpPr>
        <p:spPr>
          <a:xfrm xmlns:a="http://schemas.openxmlformats.org/drawingml/2006/main">
            <a:off x="7696200" y="32194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68" name="">
            <a:extLst xmlns:a="http://schemas.openxmlformats.org/drawingml/2006/main">
              <a:ext uri="{FF2B5EF4-FFF2-40B4-BE49-F238E27FC236}">
                <a16:creationId xmlns:a16="http://schemas.microsoft.com/office/drawing/2014/main" id="{544207EB-1513-482E-9FB8-8F0F98FF3733}"/>
              </a:ext>
            </a:extLst>
          </p:cNvPr>
          <p:cNvSpPr>
            <a:spLocks xmlns:a="http://schemas.openxmlformats.org/drawingml/2006/main" noGrp="1"/>
          </p:cNvSpPr>
          <p:nvPr/>
        </p:nvSpPr>
        <p:spPr>
          <a:xfrm xmlns:a="http://schemas.openxmlformats.org/drawingml/2006/main">
            <a:off x="8496300" y="31623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69" name="">
            <a:extLst xmlns:a="http://schemas.openxmlformats.org/drawingml/2006/main">
              <a:ext uri="{FF2B5EF4-FFF2-40B4-BE49-F238E27FC236}">
                <a16:creationId xmlns:a16="http://schemas.microsoft.com/office/drawing/2014/main" id="{33D620D5-C5CC-4A9E-B597-C8B9B445D0E4}"/>
              </a:ext>
            </a:extLst>
          </p:cNvPr>
          <p:cNvSpPr>
            <a:spLocks xmlns:a="http://schemas.openxmlformats.org/drawingml/2006/main" noGrp="1"/>
          </p:cNvSpPr>
          <p:nvPr/>
        </p:nvSpPr>
        <p:spPr>
          <a:xfrm xmlns:a="http://schemas.openxmlformats.org/drawingml/2006/main">
            <a:off x="8553450" y="32194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70" name="">
            <a:extLst xmlns:a="http://schemas.openxmlformats.org/drawingml/2006/main">
              <a:ext uri="{FF2B5EF4-FFF2-40B4-BE49-F238E27FC236}">
                <a16:creationId xmlns:a16="http://schemas.microsoft.com/office/drawing/2014/main" id="{DD2EC724-2CF3-4B73-95C3-3384F3BC9DD6}"/>
              </a:ext>
            </a:extLst>
          </p:cNvPr>
          <p:cNvSpPr>
            <a:spLocks xmlns:a="http://schemas.openxmlformats.org/drawingml/2006/main" noGrp="1"/>
          </p:cNvSpPr>
          <p:nvPr/>
        </p:nvSpPr>
        <p:spPr>
          <a:xfrm xmlns:a="http://schemas.openxmlformats.org/drawingml/2006/main">
            <a:off x="9353550" y="31623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71" name="">
            <a:extLst xmlns:a="http://schemas.openxmlformats.org/drawingml/2006/main">
              <a:ext uri="{FF2B5EF4-FFF2-40B4-BE49-F238E27FC236}">
                <a16:creationId xmlns:a16="http://schemas.microsoft.com/office/drawing/2014/main" id="{0EFD23F1-C05C-4BA0-ABE7-89D94B50D8BF}"/>
              </a:ext>
            </a:extLst>
          </p:cNvPr>
          <p:cNvSpPr>
            <a:spLocks xmlns:a="http://schemas.openxmlformats.org/drawingml/2006/main" noGrp="1"/>
          </p:cNvSpPr>
          <p:nvPr/>
        </p:nvSpPr>
        <p:spPr>
          <a:xfrm xmlns:a="http://schemas.openxmlformats.org/drawingml/2006/main">
            <a:off x="9410700" y="32194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72" name="">
            <a:extLst xmlns:a="http://schemas.openxmlformats.org/drawingml/2006/main">
              <a:ext uri="{FF2B5EF4-FFF2-40B4-BE49-F238E27FC236}">
                <a16:creationId xmlns:a16="http://schemas.microsoft.com/office/drawing/2014/main" id="{47002188-4564-47CE-BFBD-1114FCFAD8D6}"/>
              </a:ext>
            </a:extLst>
          </p:cNvPr>
          <p:cNvSpPr>
            <a:spLocks xmlns:a="http://schemas.openxmlformats.org/drawingml/2006/main" noGrp="1"/>
          </p:cNvSpPr>
          <p:nvPr/>
        </p:nvSpPr>
        <p:spPr>
          <a:xfrm xmlns:a="http://schemas.openxmlformats.org/drawingml/2006/main">
            <a:off x="10210800" y="31623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73" name="">
            <a:extLst xmlns:a="http://schemas.openxmlformats.org/drawingml/2006/main">
              <a:ext uri="{FF2B5EF4-FFF2-40B4-BE49-F238E27FC236}">
                <a16:creationId xmlns:a16="http://schemas.microsoft.com/office/drawing/2014/main" id="{0E5DEC80-EF62-4929-9EE4-D36411474B07}"/>
              </a:ext>
            </a:extLst>
          </p:cNvPr>
          <p:cNvSpPr>
            <a:spLocks xmlns:a="http://schemas.openxmlformats.org/drawingml/2006/main" noGrp="1"/>
          </p:cNvSpPr>
          <p:nvPr/>
        </p:nvSpPr>
        <p:spPr>
          <a:xfrm xmlns:a="http://schemas.openxmlformats.org/drawingml/2006/main">
            <a:off x="10267950" y="32194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74" name="">
            <a:extLst xmlns:a="http://schemas.openxmlformats.org/drawingml/2006/main">
              <a:ext uri="{FF2B5EF4-FFF2-40B4-BE49-F238E27FC236}">
                <a16:creationId xmlns:a16="http://schemas.microsoft.com/office/drawing/2014/main" id="{F5485EB0-5315-4A22-BFD9-C87A209F3A45}"/>
              </a:ext>
            </a:extLst>
          </p:cNvPr>
          <p:cNvSpPr>
            <a:spLocks xmlns:a="http://schemas.openxmlformats.org/drawingml/2006/main" noGrp="1"/>
          </p:cNvSpPr>
          <p:nvPr/>
        </p:nvSpPr>
        <p:spPr>
          <a:xfrm xmlns:a="http://schemas.openxmlformats.org/drawingml/2006/main">
            <a:off x="4705350" y="3581400"/>
            <a:ext cx="1219200" cy="41910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75" name="">
            <a:extLst xmlns:a="http://schemas.openxmlformats.org/drawingml/2006/main">
              <a:ext uri="{FF2B5EF4-FFF2-40B4-BE49-F238E27FC236}">
                <a16:creationId xmlns:a16="http://schemas.microsoft.com/office/drawing/2014/main" id="{37FB7170-3812-440C-BAF3-D7F3C1E2FD50}"/>
              </a:ext>
            </a:extLst>
          </p:cNvPr>
          <p:cNvSpPr>
            <a:spLocks xmlns:a="http://schemas.openxmlformats.org/drawingml/2006/main" noGrp="1"/>
          </p:cNvSpPr>
          <p:nvPr/>
        </p:nvSpPr>
        <p:spPr>
          <a:xfrm xmlns:a="http://schemas.openxmlformats.org/drawingml/2006/main">
            <a:off x="4762500" y="3638550"/>
            <a:ext cx="1104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财务管理员</a:t>
            </a:r>
          </a:p>
        </p:txBody>
      </p:sp>
      <p:sp>
        <p:nvSpPr>
          <p:cNvPr id="76" name="">
            <a:extLst xmlns:a="http://schemas.openxmlformats.org/drawingml/2006/main">
              <a:ext uri="{FF2B5EF4-FFF2-40B4-BE49-F238E27FC236}">
                <a16:creationId xmlns:a16="http://schemas.microsoft.com/office/drawing/2014/main" id="{9ACF8FF8-A560-47A9-9CEC-944FF18221E5}"/>
              </a:ext>
            </a:extLst>
          </p:cNvPr>
          <p:cNvSpPr>
            <a:spLocks xmlns:a="http://schemas.openxmlformats.org/drawingml/2006/main" noGrp="1"/>
          </p:cNvSpPr>
          <p:nvPr/>
        </p:nvSpPr>
        <p:spPr>
          <a:xfrm xmlns:a="http://schemas.openxmlformats.org/drawingml/2006/main">
            <a:off x="5924550" y="35814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77" name="">
            <a:extLst xmlns:a="http://schemas.openxmlformats.org/drawingml/2006/main">
              <a:ext uri="{FF2B5EF4-FFF2-40B4-BE49-F238E27FC236}">
                <a16:creationId xmlns:a16="http://schemas.microsoft.com/office/drawing/2014/main" id="{C2D66CFF-CDAD-4B70-816B-AFFB8261B3E7}"/>
              </a:ext>
            </a:extLst>
          </p:cNvPr>
          <p:cNvSpPr>
            <a:spLocks xmlns:a="http://schemas.openxmlformats.org/drawingml/2006/main" noGrp="1"/>
          </p:cNvSpPr>
          <p:nvPr/>
        </p:nvSpPr>
        <p:spPr>
          <a:xfrm xmlns:a="http://schemas.openxmlformats.org/drawingml/2006/main">
            <a:off x="5981700" y="36385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78" name="">
            <a:extLst xmlns:a="http://schemas.openxmlformats.org/drawingml/2006/main">
              <a:ext uri="{FF2B5EF4-FFF2-40B4-BE49-F238E27FC236}">
                <a16:creationId xmlns:a16="http://schemas.microsoft.com/office/drawing/2014/main" id="{9202EE1F-ED5E-4207-A029-316630D179DC}"/>
              </a:ext>
            </a:extLst>
          </p:cNvPr>
          <p:cNvSpPr>
            <a:spLocks xmlns:a="http://schemas.openxmlformats.org/drawingml/2006/main" noGrp="1"/>
          </p:cNvSpPr>
          <p:nvPr/>
        </p:nvSpPr>
        <p:spPr>
          <a:xfrm xmlns:a="http://schemas.openxmlformats.org/drawingml/2006/main">
            <a:off x="6781800" y="35814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79" name="">
            <a:extLst xmlns:a="http://schemas.openxmlformats.org/drawingml/2006/main">
              <a:ext uri="{FF2B5EF4-FFF2-40B4-BE49-F238E27FC236}">
                <a16:creationId xmlns:a16="http://schemas.microsoft.com/office/drawing/2014/main" id="{DD00E569-E4DF-40A0-A5C0-DC33B7AC4640}"/>
              </a:ext>
            </a:extLst>
          </p:cNvPr>
          <p:cNvSpPr>
            <a:spLocks xmlns:a="http://schemas.openxmlformats.org/drawingml/2006/main" noGrp="1"/>
          </p:cNvSpPr>
          <p:nvPr/>
        </p:nvSpPr>
        <p:spPr>
          <a:xfrm xmlns:a="http://schemas.openxmlformats.org/drawingml/2006/main">
            <a:off x="6838950" y="36385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80" name="">
            <a:extLst xmlns:a="http://schemas.openxmlformats.org/drawingml/2006/main">
              <a:ext uri="{FF2B5EF4-FFF2-40B4-BE49-F238E27FC236}">
                <a16:creationId xmlns:a16="http://schemas.microsoft.com/office/drawing/2014/main" id="{C0A758D5-D13A-4955-AF82-0750CFF4C59E}"/>
              </a:ext>
            </a:extLst>
          </p:cNvPr>
          <p:cNvSpPr>
            <a:spLocks xmlns:a="http://schemas.openxmlformats.org/drawingml/2006/main" noGrp="1"/>
          </p:cNvSpPr>
          <p:nvPr/>
        </p:nvSpPr>
        <p:spPr>
          <a:xfrm xmlns:a="http://schemas.openxmlformats.org/drawingml/2006/main">
            <a:off x="7639050" y="35814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81" name="">
            <a:extLst xmlns:a="http://schemas.openxmlformats.org/drawingml/2006/main">
              <a:ext uri="{FF2B5EF4-FFF2-40B4-BE49-F238E27FC236}">
                <a16:creationId xmlns:a16="http://schemas.microsoft.com/office/drawing/2014/main" id="{B859156B-6664-4614-AA8C-BF85B07B6A45}"/>
              </a:ext>
            </a:extLst>
          </p:cNvPr>
          <p:cNvSpPr>
            <a:spLocks xmlns:a="http://schemas.openxmlformats.org/drawingml/2006/main" noGrp="1"/>
          </p:cNvSpPr>
          <p:nvPr/>
        </p:nvSpPr>
        <p:spPr>
          <a:xfrm xmlns:a="http://schemas.openxmlformats.org/drawingml/2006/main">
            <a:off x="7696200" y="36385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82" name="">
            <a:extLst xmlns:a="http://schemas.openxmlformats.org/drawingml/2006/main">
              <a:ext uri="{FF2B5EF4-FFF2-40B4-BE49-F238E27FC236}">
                <a16:creationId xmlns:a16="http://schemas.microsoft.com/office/drawing/2014/main" id="{72BD1B2B-5AB6-4B8A-9AA3-B74F1CE6101F}"/>
              </a:ext>
            </a:extLst>
          </p:cNvPr>
          <p:cNvSpPr>
            <a:spLocks xmlns:a="http://schemas.openxmlformats.org/drawingml/2006/main" noGrp="1"/>
          </p:cNvSpPr>
          <p:nvPr/>
        </p:nvSpPr>
        <p:spPr>
          <a:xfrm xmlns:a="http://schemas.openxmlformats.org/drawingml/2006/main">
            <a:off x="8496300" y="35814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83" name="">
            <a:extLst xmlns:a="http://schemas.openxmlformats.org/drawingml/2006/main">
              <a:ext uri="{FF2B5EF4-FFF2-40B4-BE49-F238E27FC236}">
                <a16:creationId xmlns:a16="http://schemas.microsoft.com/office/drawing/2014/main" id="{618744C9-6602-47F3-A161-26294AA9B598}"/>
              </a:ext>
            </a:extLst>
          </p:cNvPr>
          <p:cNvSpPr>
            <a:spLocks xmlns:a="http://schemas.openxmlformats.org/drawingml/2006/main" noGrp="1"/>
          </p:cNvSpPr>
          <p:nvPr/>
        </p:nvSpPr>
        <p:spPr>
          <a:xfrm xmlns:a="http://schemas.openxmlformats.org/drawingml/2006/main">
            <a:off x="8553450" y="36385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84" name="">
            <a:extLst xmlns:a="http://schemas.openxmlformats.org/drawingml/2006/main">
              <a:ext uri="{FF2B5EF4-FFF2-40B4-BE49-F238E27FC236}">
                <a16:creationId xmlns:a16="http://schemas.microsoft.com/office/drawing/2014/main" id="{3B7E8B64-90B7-4F4C-A9A1-7D660B29DDC9}"/>
              </a:ext>
            </a:extLst>
          </p:cNvPr>
          <p:cNvSpPr>
            <a:spLocks xmlns:a="http://schemas.openxmlformats.org/drawingml/2006/main" noGrp="1"/>
          </p:cNvSpPr>
          <p:nvPr/>
        </p:nvSpPr>
        <p:spPr>
          <a:xfrm xmlns:a="http://schemas.openxmlformats.org/drawingml/2006/main">
            <a:off x="9353550" y="35814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85" name="">
            <a:extLst xmlns:a="http://schemas.openxmlformats.org/drawingml/2006/main">
              <a:ext uri="{FF2B5EF4-FFF2-40B4-BE49-F238E27FC236}">
                <a16:creationId xmlns:a16="http://schemas.microsoft.com/office/drawing/2014/main" id="{0DB8D3F9-7967-4125-A6EB-A9288E7E010E}"/>
              </a:ext>
            </a:extLst>
          </p:cNvPr>
          <p:cNvSpPr>
            <a:spLocks xmlns:a="http://schemas.openxmlformats.org/drawingml/2006/main" noGrp="1"/>
          </p:cNvSpPr>
          <p:nvPr/>
        </p:nvSpPr>
        <p:spPr>
          <a:xfrm xmlns:a="http://schemas.openxmlformats.org/drawingml/2006/main">
            <a:off x="9410700" y="36385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86" name="">
            <a:extLst xmlns:a="http://schemas.openxmlformats.org/drawingml/2006/main">
              <a:ext uri="{FF2B5EF4-FFF2-40B4-BE49-F238E27FC236}">
                <a16:creationId xmlns:a16="http://schemas.microsoft.com/office/drawing/2014/main" id="{56F2245B-02DE-4CBD-AC7D-BF07E65D50E0}"/>
              </a:ext>
            </a:extLst>
          </p:cNvPr>
          <p:cNvSpPr>
            <a:spLocks xmlns:a="http://schemas.openxmlformats.org/drawingml/2006/main" noGrp="1"/>
          </p:cNvSpPr>
          <p:nvPr/>
        </p:nvSpPr>
        <p:spPr>
          <a:xfrm xmlns:a="http://schemas.openxmlformats.org/drawingml/2006/main">
            <a:off x="10210800" y="35814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87" name="">
            <a:extLst xmlns:a="http://schemas.openxmlformats.org/drawingml/2006/main">
              <a:ext uri="{FF2B5EF4-FFF2-40B4-BE49-F238E27FC236}">
                <a16:creationId xmlns:a16="http://schemas.microsoft.com/office/drawing/2014/main" id="{2941DA14-A33F-40AA-BCF6-F76B9D595160}"/>
              </a:ext>
            </a:extLst>
          </p:cNvPr>
          <p:cNvSpPr>
            <a:spLocks xmlns:a="http://schemas.openxmlformats.org/drawingml/2006/main" noGrp="1"/>
          </p:cNvSpPr>
          <p:nvPr/>
        </p:nvSpPr>
        <p:spPr>
          <a:xfrm xmlns:a="http://schemas.openxmlformats.org/drawingml/2006/main">
            <a:off x="10267950" y="36385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88" name="">
            <a:extLst xmlns:a="http://schemas.openxmlformats.org/drawingml/2006/main">
              <a:ext uri="{FF2B5EF4-FFF2-40B4-BE49-F238E27FC236}">
                <a16:creationId xmlns:a16="http://schemas.microsoft.com/office/drawing/2014/main" id="{4A18828A-96BC-4615-89F8-DBE4488D548C}"/>
              </a:ext>
            </a:extLst>
          </p:cNvPr>
          <p:cNvSpPr>
            <a:spLocks xmlns:a="http://schemas.openxmlformats.org/drawingml/2006/main" noGrp="1"/>
          </p:cNvSpPr>
          <p:nvPr/>
        </p:nvSpPr>
        <p:spPr>
          <a:xfrm xmlns:a="http://schemas.openxmlformats.org/drawingml/2006/main">
            <a:off x="4705350" y="4000500"/>
            <a:ext cx="1219200" cy="41910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89" name="">
            <a:extLst xmlns:a="http://schemas.openxmlformats.org/drawingml/2006/main">
              <a:ext uri="{FF2B5EF4-FFF2-40B4-BE49-F238E27FC236}">
                <a16:creationId xmlns:a16="http://schemas.microsoft.com/office/drawing/2014/main" id="{58A35109-D108-4841-9550-E84288A86D4C}"/>
              </a:ext>
            </a:extLst>
          </p:cNvPr>
          <p:cNvSpPr>
            <a:spLocks xmlns:a="http://schemas.openxmlformats.org/drawingml/2006/main" noGrp="1"/>
          </p:cNvSpPr>
          <p:nvPr/>
        </p:nvSpPr>
        <p:spPr>
          <a:xfrm xmlns:a="http://schemas.openxmlformats.org/drawingml/2006/main">
            <a:off x="4762500" y="4057650"/>
            <a:ext cx="1104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一级审批人</a:t>
            </a:r>
          </a:p>
        </p:txBody>
      </p:sp>
      <p:sp>
        <p:nvSpPr>
          <p:cNvPr id="90" name="">
            <a:extLst xmlns:a="http://schemas.openxmlformats.org/drawingml/2006/main">
              <a:ext uri="{FF2B5EF4-FFF2-40B4-BE49-F238E27FC236}">
                <a16:creationId xmlns:a16="http://schemas.microsoft.com/office/drawing/2014/main" id="{15A9E803-E986-45B8-A120-C0736F74550D}"/>
              </a:ext>
            </a:extLst>
          </p:cNvPr>
          <p:cNvSpPr>
            <a:spLocks xmlns:a="http://schemas.openxmlformats.org/drawingml/2006/main" noGrp="1"/>
          </p:cNvSpPr>
          <p:nvPr/>
        </p:nvSpPr>
        <p:spPr>
          <a:xfrm xmlns:a="http://schemas.openxmlformats.org/drawingml/2006/main">
            <a:off x="5924550" y="40005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91" name="">
            <a:extLst xmlns:a="http://schemas.openxmlformats.org/drawingml/2006/main">
              <a:ext uri="{FF2B5EF4-FFF2-40B4-BE49-F238E27FC236}">
                <a16:creationId xmlns:a16="http://schemas.microsoft.com/office/drawing/2014/main" id="{8DC4149F-8F13-44FE-A9A0-8F4DA6DAF8BA}"/>
              </a:ext>
            </a:extLst>
          </p:cNvPr>
          <p:cNvSpPr>
            <a:spLocks xmlns:a="http://schemas.openxmlformats.org/drawingml/2006/main" noGrp="1"/>
          </p:cNvSpPr>
          <p:nvPr/>
        </p:nvSpPr>
        <p:spPr>
          <a:xfrm xmlns:a="http://schemas.openxmlformats.org/drawingml/2006/main">
            <a:off x="5981700" y="40576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92" name="">
            <a:extLst xmlns:a="http://schemas.openxmlformats.org/drawingml/2006/main">
              <a:ext uri="{FF2B5EF4-FFF2-40B4-BE49-F238E27FC236}">
                <a16:creationId xmlns:a16="http://schemas.microsoft.com/office/drawing/2014/main" id="{0A5F9F72-986C-4202-89F9-70C14806738B}"/>
              </a:ext>
            </a:extLst>
          </p:cNvPr>
          <p:cNvSpPr>
            <a:spLocks xmlns:a="http://schemas.openxmlformats.org/drawingml/2006/main" noGrp="1"/>
          </p:cNvSpPr>
          <p:nvPr/>
        </p:nvSpPr>
        <p:spPr>
          <a:xfrm xmlns:a="http://schemas.openxmlformats.org/drawingml/2006/main">
            <a:off x="6781800" y="40005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93" name="">
            <a:extLst xmlns:a="http://schemas.openxmlformats.org/drawingml/2006/main">
              <a:ext uri="{FF2B5EF4-FFF2-40B4-BE49-F238E27FC236}">
                <a16:creationId xmlns:a16="http://schemas.microsoft.com/office/drawing/2014/main" id="{750205AC-4229-4176-851B-E0F6526C0372}"/>
              </a:ext>
            </a:extLst>
          </p:cNvPr>
          <p:cNvSpPr>
            <a:spLocks xmlns:a="http://schemas.openxmlformats.org/drawingml/2006/main" noGrp="1"/>
          </p:cNvSpPr>
          <p:nvPr/>
        </p:nvSpPr>
        <p:spPr>
          <a:xfrm xmlns:a="http://schemas.openxmlformats.org/drawingml/2006/main">
            <a:off x="6838950" y="40576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94" name="">
            <a:extLst xmlns:a="http://schemas.openxmlformats.org/drawingml/2006/main">
              <a:ext uri="{FF2B5EF4-FFF2-40B4-BE49-F238E27FC236}">
                <a16:creationId xmlns:a16="http://schemas.microsoft.com/office/drawing/2014/main" id="{5DFF6DB4-62C1-40D0-940A-F4EC1B8F6E85}"/>
              </a:ext>
            </a:extLst>
          </p:cNvPr>
          <p:cNvSpPr>
            <a:spLocks xmlns:a="http://schemas.openxmlformats.org/drawingml/2006/main" noGrp="1"/>
          </p:cNvSpPr>
          <p:nvPr/>
        </p:nvSpPr>
        <p:spPr>
          <a:xfrm xmlns:a="http://schemas.openxmlformats.org/drawingml/2006/main">
            <a:off x="7639050" y="40005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95" name="">
            <a:extLst xmlns:a="http://schemas.openxmlformats.org/drawingml/2006/main">
              <a:ext uri="{FF2B5EF4-FFF2-40B4-BE49-F238E27FC236}">
                <a16:creationId xmlns:a16="http://schemas.microsoft.com/office/drawing/2014/main" id="{B6B7395F-FB4F-41E7-9900-7581562B95C7}"/>
              </a:ext>
            </a:extLst>
          </p:cNvPr>
          <p:cNvSpPr>
            <a:spLocks xmlns:a="http://schemas.openxmlformats.org/drawingml/2006/main" noGrp="1"/>
          </p:cNvSpPr>
          <p:nvPr/>
        </p:nvSpPr>
        <p:spPr>
          <a:xfrm xmlns:a="http://schemas.openxmlformats.org/drawingml/2006/main">
            <a:off x="7696200" y="40576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96" name="">
            <a:extLst xmlns:a="http://schemas.openxmlformats.org/drawingml/2006/main">
              <a:ext uri="{FF2B5EF4-FFF2-40B4-BE49-F238E27FC236}">
                <a16:creationId xmlns:a16="http://schemas.microsoft.com/office/drawing/2014/main" id="{0703E6C4-BA2E-4EF4-9E21-1BE77B632EA1}"/>
              </a:ext>
            </a:extLst>
          </p:cNvPr>
          <p:cNvSpPr>
            <a:spLocks xmlns:a="http://schemas.openxmlformats.org/drawingml/2006/main" noGrp="1"/>
          </p:cNvSpPr>
          <p:nvPr/>
        </p:nvSpPr>
        <p:spPr>
          <a:xfrm xmlns:a="http://schemas.openxmlformats.org/drawingml/2006/main">
            <a:off x="8496300" y="40005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97" name="">
            <a:extLst xmlns:a="http://schemas.openxmlformats.org/drawingml/2006/main">
              <a:ext uri="{FF2B5EF4-FFF2-40B4-BE49-F238E27FC236}">
                <a16:creationId xmlns:a16="http://schemas.microsoft.com/office/drawing/2014/main" id="{6A0F225A-1E8E-4CE0-8AE3-0B0EED887B38}"/>
              </a:ext>
            </a:extLst>
          </p:cNvPr>
          <p:cNvSpPr>
            <a:spLocks xmlns:a="http://schemas.openxmlformats.org/drawingml/2006/main" noGrp="1"/>
          </p:cNvSpPr>
          <p:nvPr/>
        </p:nvSpPr>
        <p:spPr>
          <a:xfrm xmlns:a="http://schemas.openxmlformats.org/drawingml/2006/main">
            <a:off x="8553450" y="40576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98" name="">
            <a:extLst xmlns:a="http://schemas.openxmlformats.org/drawingml/2006/main">
              <a:ext uri="{FF2B5EF4-FFF2-40B4-BE49-F238E27FC236}">
                <a16:creationId xmlns:a16="http://schemas.microsoft.com/office/drawing/2014/main" id="{C8BB47D3-9389-4585-A058-FB6A590007CF}"/>
              </a:ext>
            </a:extLst>
          </p:cNvPr>
          <p:cNvSpPr>
            <a:spLocks xmlns:a="http://schemas.openxmlformats.org/drawingml/2006/main" noGrp="1"/>
          </p:cNvSpPr>
          <p:nvPr/>
        </p:nvSpPr>
        <p:spPr>
          <a:xfrm xmlns:a="http://schemas.openxmlformats.org/drawingml/2006/main">
            <a:off x="9353550" y="40005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99" name="">
            <a:extLst xmlns:a="http://schemas.openxmlformats.org/drawingml/2006/main">
              <a:ext uri="{FF2B5EF4-FFF2-40B4-BE49-F238E27FC236}">
                <a16:creationId xmlns:a16="http://schemas.microsoft.com/office/drawing/2014/main" id="{4EC4ED79-F57F-4A70-A17B-96E6A4BF6052}"/>
              </a:ext>
            </a:extLst>
          </p:cNvPr>
          <p:cNvSpPr>
            <a:spLocks xmlns:a="http://schemas.openxmlformats.org/drawingml/2006/main" noGrp="1"/>
          </p:cNvSpPr>
          <p:nvPr/>
        </p:nvSpPr>
        <p:spPr>
          <a:xfrm xmlns:a="http://schemas.openxmlformats.org/drawingml/2006/main">
            <a:off x="9410700" y="40576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00" name="">
            <a:extLst xmlns:a="http://schemas.openxmlformats.org/drawingml/2006/main">
              <a:ext uri="{FF2B5EF4-FFF2-40B4-BE49-F238E27FC236}">
                <a16:creationId xmlns:a16="http://schemas.microsoft.com/office/drawing/2014/main" id="{7362882F-69C9-48AD-891D-0953CF322F77}"/>
              </a:ext>
            </a:extLst>
          </p:cNvPr>
          <p:cNvSpPr>
            <a:spLocks xmlns:a="http://schemas.openxmlformats.org/drawingml/2006/main" noGrp="1"/>
          </p:cNvSpPr>
          <p:nvPr/>
        </p:nvSpPr>
        <p:spPr>
          <a:xfrm xmlns:a="http://schemas.openxmlformats.org/drawingml/2006/main">
            <a:off x="10210800" y="40005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01" name="">
            <a:extLst xmlns:a="http://schemas.openxmlformats.org/drawingml/2006/main">
              <a:ext uri="{FF2B5EF4-FFF2-40B4-BE49-F238E27FC236}">
                <a16:creationId xmlns:a16="http://schemas.microsoft.com/office/drawing/2014/main" id="{9A14F854-74A2-4C22-95B7-70E25E790194}"/>
              </a:ext>
            </a:extLst>
          </p:cNvPr>
          <p:cNvSpPr>
            <a:spLocks xmlns:a="http://schemas.openxmlformats.org/drawingml/2006/main" noGrp="1"/>
          </p:cNvSpPr>
          <p:nvPr/>
        </p:nvSpPr>
        <p:spPr>
          <a:xfrm xmlns:a="http://schemas.openxmlformats.org/drawingml/2006/main">
            <a:off x="10267950" y="40576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02" name="">
            <a:extLst xmlns:a="http://schemas.openxmlformats.org/drawingml/2006/main">
              <a:ext uri="{FF2B5EF4-FFF2-40B4-BE49-F238E27FC236}">
                <a16:creationId xmlns:a16="http://schemas.microsoft.com/office/drawing/2014/main" id="{E2269C68-880D-43C0-BBD6-A30412224F80}"/>
              </a:ext>
            </a:extLst>
          </p:cNvPr>
          <p:cNvSpPr>
            <a:spLocks xmlns:a="http://schemas.openxmlformats.org/drawingml/2006/main" noGrp="1"/>
          </p:cNvSpPr>
          <p:nvPr/>
        </p:nvSpPr>
        <p:spPr>
          <a:xfrm xmlns:a="http://schemas.openxmlformats.org/drawingml/2006/main">
            <a:off x="4705350" y="4419600"/>
            <a:ext cx="1219200" cy="41910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103" name="">
            <a:extLst xmlns:a="http://schemas.openxmlformats.org/drawingml/2006/main">
              <a:ext uri="{FF2B5EF4-FFF2-40B4-BE49-F238E27FC236}">
                <a16:creationId xmlns:a16="http://schemas.microsoft.com/office/drawing/2014/main" id="{3894AC98-ABD7-4FC3-AEB2-E4D6D4948E16}"/>
              </a:ext>
            </a:extLst>
          </p:cNvPr>
          <p:cNvSpPr>
            <a:spLocks xmlns:a="http://schemas.openxmlformats.org/drawingml/2006/main" noGrp="1"/>
          </p:cNvSpPr>
          <p:nvPr/>
        </p:nvSpPr>
        <p:spPr>
          <a:xfrm xmlns:a="http://schemas.openxmlformats.org/drawingml/2006/main">
            <a:off x="4762500" y="4476750"/>
            <a:ext cx="1104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二级审批人</a:t>
            </a:r>
          </a:p>
        </p:txBody>
      </p:sp>
      <p:sp>
        <p:nvSpPr>
          <p:cNvPr id="104" name="">
            <a:extLst xmlns:a="http://schemas.openxmlformats.org/drawingml/2006/main">
              <a:ext uri="{FF2B5EF4-FFF2-40B4-BE49-F238E27FC236}">
                <a16:creationId xmlns:a16="http://schemas.microsoft.com/office/drawing/2014/main" id="{AB1A730E-FF63-46DB-982F-836226E65147}"/>
              </a:ext>
            </a:extLst>
          </p:cNvPr>
          <p:cNvSpPr>
            <a:spLocks xmlns:a="http://schemas.openxmlformats.org/drawingml/2006/main" noGrp="1"/>
          </p:cNvSpPr>
          <p:nvPr/>
        </p:nvSpPr>
        <p:spPr>
          <a:xfrm xmlns:a="http://schemas.openxmlformats.org/drawingml/2006/main">
            <a:off x="5924550" y="44196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05" name="">
            <a:extLst xmlns:a="http://schemas.openxmlformats.org/drawingml/2006/main">
              <a:ext uri="{FF2B5EF4-FFF2-40B4-BE49-F238E27FC236}">
                <a16:creationId xmlns:a16="http://schemas.microsoft.com/office/drawing/2014/main" id="{F1ED468D-1753-4FFC-928D-777DF4310323}"/>
              </a:ext>
            </a:extLst>
          </p:cNvPr>
          <p:cNvSpPr>
            <a:spLocks xmlns:a="http://schemas.openxmlformats.org/drawingml/2006/main" noGrp="1"/>
          </p:cNvSpPr>
          <p:nvPr/>
        </p:nvSpPr>
        <p:spPr>
          <a:xfrm xmlns:a="http://schemas.openxmlformats.org/drawingml/2006/main">
            <a:off x="5981700" y="44767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06" name="">
            <a:extLst xmlns:a="http://schemas.openxmlformats.org/drawingml/2006/main">
              <a:ext uri="{FF2B5EF4-FFF2-40B4-BE49-F238E27FC236}">
                <a16:creationId xmlns:a16="http://schemas.microsoft.com/office/drawing/2014/main" id="{DA16C197-7895-4385-A7B4-0F6314E67716}"/>
              </a:ext>
            </a:extLst>
          </p:cNvPr>
          <p:cNvSpPr>
            <a:spLocks xmlns:a="http://schemas.openxmlformats.org/drawingml/2006/main" noGrp="1"/>
          </p:cNvSpPr>
          <p:nvPr/>
        </p:nvSpPr>
        <p:spPr>
          <a:xfrm xmlns:a="http://schemas.openxmlformats.org/drawingml/2006/main">
            <a:off x="6781800" y="44196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07" name="">
            <a:extLst xmlns:a="http://schemas.openxmlformats.org/drawingml/2006/main">
              <a:ext uri="{FF2B5EF4-FFF2-40B4-BE49-F238E27FC236}">
                <a16:creationId xmlns:a16="http://schemas.microsoft.com/office/drawing/2014/main" id="{2E2A914E-A1D9-45E3-82A3-837C6FC5FD1C}"/>
              </a:ext>
            </a:extLst>
          </p:cNvPr>
          <p:cNvSpPr>
            <a:spLocks xmlns:a="http://schemas.openxmlformats.org/drawingml/2006/main" noGrp="1"/>
          </p:cNvSpPr>
          <p:nvPr/>
        </p:nvSpPr>
        <p:spPr>
          <a:xfrm xmlns:a="http://schemas.openxmlformats.org/drawingml/2006/main">
            <a:off x="6838950" y="44767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08" name="">
            <a:extLst xmlns:a="http://schemas.openxmlformats.org/drawingml/2006/main">
              <a:ext uri="{FF2B5EF4-FFF2-40B4-BE49-F238E27FC236}">
                <a16:creationId xmlns:a16="http://schemas.microsoft.com/office/drawing/2014/main" id="{D72883E9-6B37-4C21-BBE7-020C321C15A2}"/>
              </a:ext>
            </a:extLst>
          </p:cNvPr>
          <p:cNvSpPr>
            <a:spLocks xmlns:a="http://schemas.openxmlformats.org/drawingml/2006/main" noGrp="1"/>
          </p:cNvSpPr>
          <p:nvPr/>
        </p:nvSpPr>
        <p:spPr>
          <a:xfrm xmlns:a="http://schemas.openxmlformats.org/drawingml/2006/main">
            <a:off x="7639050" y="44196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109" name="">
            <a:extLst xmlns:a="http://schemas.openxmlformats.org/drawingml/2006/main">
              <a:ext uri="{FF2B5EF4-FFF2-40B4-BE49-F238E27FC236}">
                <a16:creationId xmlns:a16="http://schemas.microsoft.com/office/drawing/2014/main" id="{BAF41C6E-D392-48DC-8C9E-A5EBD8064681}"/>
              </a:ext>
            </a:extLst>
          </p:cNvPr>
          <p:cNvSpPr>
            <a:spLocks xmlns:a="http://schemas.openxmlformats.org/drawingml/2006/main" noGrp="1"/>
          </p:cNvSpPr>
          <p:nvPr/>
        </p:nvSpPr>
        <p:spPr>
          <a:xfrm xmlns:a="http://schemas.openxmlformats.org/drawingml/2006/main">
            <a:off x="7696200" y="44767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110" name="">
            <a:extLst xmlns:a="http://schemas.openxmlformats.org/drawingml/2006/main">
              <a:ext uri="{FF2B5EF4-FFF2-40B4-BE49-F238E27FC236}">
                <a16:creationId xmlns:a16="http://schemas.microsoft.com/office/drawing/2014/main" id="{FEAF30B7-F5A5-4E1B-B41C-2F4835B54AB6}"/>
              </a:ext>
            </a:extLst>
          </p:cNvPr>
          <p:cNvSpPr>
            <a:spLocks xmlns:a="http://schemas.openxmlformats.org/drawingml/2006/main" noGrp="1"/>
          </p:cNvSpPr>
          <p:nvPr/>
        </p:nvSpPr>
        <p:spPr>
          <a:xfrm xmlns:a="http://schemas.openxmlformats.org/drawingml/2006/main">
            <a:off x="8496300" y="44196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11" name="">
            <a:extLst xmlns:a="http://schemas.openxmlformats.org/drawingml/2006/main">
              <a:ext uri="{FF2B5EF4-FFF2-40B4-BE49-F238E27FC236}">
                <a16:creationId xmlns:a16="http://schemas.microsoft.com/office/drawing/2014/main" id="{A1CD35A7-22F7-42C1-8A30-F7F5032A7197}"/>
              </a:ext>
            </a:extLst>
          </p:cNvPr>
          <p:cNvSpPr>
            <a:spLocks xmlns:a="http://schemas.openxmlformats.org/drawingml/2006/main" noGrp="1"/>
          </p:cNvSpPr>
          <p:nvPr/>
        </p:nvSpPr>
        <p:spPr>
          <a:xfrm xmlns:a="http://schemas.openxmlformats.org/drawingml/2006/main">
            <a:off x="8553450" y="44767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12" name="">
            <a:extLst xmlns:a="http://schemas.openxmlformats.org/drawingml/2006/main">
              <a:ext uri="{FF2B5EF4-FFF2-40B4-BE49-F238E27FC236}">
                <a16:creationId xmlns:a16="http://schemas.microsoft.com/office/drawing/2014/main" id="{8D65112B-4047-478E-942C-2D3E143D11F7}"/>
              </a:ext>
            </a:extLst>
          </p:cNvPr>
          <p:cNvSpPr>
            <a:spLocks xmlns:a="http://schemas.openxmlformats.org/drawingml/2006/main" noGrp="1"/>
          </p:cNvSpPr>
          <p:nvPr/>
        </p:nvSpPr>
        <p:spPr>
          <a:xfrm xmlns:a="http://schemas.openxmlformats.org/drawingml/2006/main">
            <a:off x="9353550" y="44196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13" name="">
            <a:extLst xmlns:a="http://schemas.openxmlformats.org/drawingml/2006/main">
              <a:ext uri="{FF2B5EF4-FFF2-40B4-BE49-F238E27FC236}">
                <a16:creationId xmlns:a16="http://schemas.microsoft.com/office/drawing/2014/main" id="{BC5CC392-8B32-4A34-930C-7AB7CB743066}"/>
              </a:ext>
            </a:extLst>
          </p:cNvPr>
          <p:cNvSpPr>
            <a:spLocks xmlns:a="http://schemas.openxmlformats.org/drawingml/2006/main" noGrp="1"/>
          </p:cNvSpPr>
          <p:nvPr/>
        </p:nvSpPr>
        <p:spPr>
          <a:xfrm xmlns:a="http://schemas.openxmlformats.org/drawingml/2006/main">
            <a:off x="9410700" y="44767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14" name="">
            <a:extLst xmlns:a="http://schemas.openxmlformats.org/drawingml/2006/main">
              <a:ext uri="{FF2B5EF4-FFF2-40B4-BE49-F238E27FC236}">
                <a16:creationId xmlns:a16="http://schemas.microsoft.com/office/drawing/2014/main" id="{3C9095BA-708A-4269-8576-1B4ED8063592}"/>
              </a:ext>
            </a:extLst>
          </p:cNvPr>
          <p:cNvSpPr>
            <a:spLocks xmlns:a="http://schemas.openxmlformats.org/drawingml/2006/main" noGrp="1"/>
          </p:cNvSpPr>
          <p:nvPr/>
        </p:nvSpPr>
        <p:spPr>
          <a:xfrm xmlns:a="http://schemas.openxmlformats.org/drawingml/2006/main">
            <a:off x="10210800" y="44196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15" name="">
            <a:extLst xmlns:a="http://schemas.openxmlformats.org/drawingml/2006/main">
              <a:ext uri="{FF2B5EF4-FFF2-40B4-BE49-F238E27FC236}">
                <a16:creationId xmlns:a16="http://schemas.microsoft.com/office/drawing/2014/main" id="{6E867EE5-D1DF-4778-921D-59D10A604ACD}"/>
              </a:ext>
            </a:extLst>
          </p:cNvPr>
          <p:cNvSpPr>
            <a:spLocks xmlns:a="http://schemas.openxmlformats.org/drawingml/2006/main" noGrp="1"/>
          </p:cNvSpPr>
          <p:nvPr/>
        </p:nvSpPr>
        <p:spPr>
          <a:xfrm xmlns:a="http://schemas.openxmlformats.org/drawingml/2006/main">
            <a:off x="10267950" y="44767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16" name="">
            <a:extLst xmlns:a="http://schemas.openxmlformats.org/drawingml/2006/main">
              <a:ext uri="{FF2B5EF4-FFF2-40B4-BE49-F238E27FC236}">
                <a16:creationId xmlns:a16="http://schemas.microsoft.com/office/drawing/2014/main" id="{395CF4DD-A992-46D1-96B5-73B41E9C22B6}"/>
              </a:ext>
            </a:extLst>
          </p:cNvPr>
          <p:cNvSpPr>
            <a:spLocks xmlns:a="http://schemas.openxmlformats.org/drawingml/2006/main" noGrp="1"/>
          </p:cNvSpPr>
          <p:nvPr/>
        </p:nvSpPr>
        <p:spPr>
          <a:xfrm xmlns:a="http://schemas.openxmlformats.org/drawingml/2006/main">
            <a:off x="4705350" y="4838700"/>
            <a:ext cx="1219200" cy="41910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117" name="">
            <a:extLst xmlns:a="http://schemas.openxmlformats.org/drawingml/2006/main">
              <a:ext uri="{FF2B5EF4-FFF2-40B4-BE49-F238E27FC236}">
                <a16:creationId xmlns:a16="http://schemas.microsoft.com/office/drawing/2014/main" id="{B7FDA54E-356D-41DF-A818-E0C79C4DDAF5}"/>
              </a:ext>
            </a:extLst>
          </p:cNvPr>
          <p:cNvSpPr>
            <a:spLocks xmlns:a="http://schemas.openxmlformats.org/drawingml/2006/main" noGrp="1"/>
          </p:cNvSpPr>
          <p:nvPr/>
        </p:nvSpPr>
        <p:spPr>
          <a:xfrm xmlns:a="http://schemas.openxmlformats.org/drawingml/2006/main">
            <a:off x="4762500" y="4895850"/>
            <a:ext cx="1104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三级审批人</a:t>
            </a:r>
          </a:p>
        </p:txBody>
      </p:sp>
      <p:sp>
        <p:nvSpPr>
          <p:cNvPr id="118" name="">
            <a:extLst xmlns:a="http://schemas.openxmlformats.org/drawingml/2006/main">
              <a:ext uri="{FF2B5EF4-FFF2-40B4-BE49-F238E27FC236}">
                <a16:creationId xmlns:a16="http://schemas.microsoft.com/office/drawing/2014/main" id="{92E8103F-FD01-428B-929F-32831455D289}"/>
              </a:ext>
            </a:extLst>
          </p:cNvPr>
          <p:cNvSpPr>
            <a:spLocks xmlns:a="http://schemas.openxmlformats.org/drawingml/2006/main" noGrp="1"/>
          </p:cNvSpPr>
          <p:nvPr/>
        </p:nvSpPr>
        <p:spPr>
          <a:xfrm xmlns:a="http://schemas.openxmlformats.org/drawingml/2006/main">
            <a:off x="5924550" y="48387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19" name="">
            <a:extLst xmlns:a="http://schemas.openxmlformats.org/drawingml/2006/main">
              <a:ext uri="{FF2B5EF4-FFF2-40B4-BE49-F238E27FC236}">
                <a16:creationId xmlns:a16="http://schemas.microsoft.com/office/drawing/2014/main" id="{ADE4BD99-AA0A-4265-973D-93F8639F036B}"/>
              </a:ext>
            </a:extLst>
          </p:cNvPr>
          <p:cNvSpPr>
            <a:spLocks xmlns:a="http://schemas.openxmlformats.org/drawingml/2006/main" noGrp="1"/>
          </p:cNvSpPr>
          <p:nvPr/>
        </p:nvSpPr>
        <p:spPr>
          <a:xfrm xmlns:a="http://schemas.openxmlformats.org/drawingml/2006/main">
            <a:off x="5981700" y="48958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20" name="">
            <a:extLst xmlns:a="http://schemas.openxmlformats.org/drawingml/2006/main">
              <a:ext uri="{FF2B5EF4-FFF2-40B4-BE49-F238E27FC236}">
                <a16:creationId xmlns:a16="http://schemas.microsoft.com/office/drawing/2014/main" id="{3B61A75C-D254-4DAC-9EF5-9AEB97880B58}"/>
              </a:ext>
            </a:extLst>
          </p:cNvPr>
          <p:cNvSpPr>
            <a:spLocks xmlns:a="http://schemas.openxmlformats.org/drawingml/2006/main" noGrp="1"/>
          </p:cNvSpPr>
          <p:nvPr/>
        </p:nvSpPr>
        <p:spPr>
          <a:xfrm xmlns:a="http://schemas.openxmlformats.org/drawingml/2006/main">
            <a:off x="6781800" y="48387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21" name="">
            <a:extLst xmlns:a="http://schemas.openxmlformats.org/drawingml/2006/main">
              <a:ext uri="{FF2B5EF4-FFF2-40B4-BE49-F238E27FC236}">
                <a16:creationId xmlns:a16="http://schemas.microsoft.com/office/drawing/2014/main" id="{30C6D0F1-D0FB-4DCD-B71B-5E710B743963}"/>
              </a:ext>
            </a:extLst>
          </p:cNvPr>
          <p:cNvSpPr>
            <a:spLocks xmlns:a="http://schemas.openxmlformats.org/drawingml/2006/main" noGrp="1"/>
          </p:cNvSpPr>
          <p:nvPr/>
        </p:nvSpPr>
        <p:spPr>
          <a:xfrm xmlns:a="http://schemas.openxmlformats.org/drawingml/2006/main">
            <a:off x="6838950" y="48958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22" name="">
            <a:extLst xmlns:a="http://schemas.openxmlformats.org/drawingml/2006/main">
              <a:ext uri="{FF2B5EF4-FFF2-40B4-BE49-F238E27FC236}">
                <a16:creationId xmlns:a16="http://schemas.microsoft.com/office/drawing/2014/main" id="{D841ED72-97F6-4628-8CDE-F4050E691424}"/>
              </a:ext>
            </a:extLst>
          </p:cNvPr>
          <p:cNvSpPr>
            <a:spLocks xmlns:a="http://schemas.openxmlformats.org/drawingml/2006/main" noGrp="1"/>
          </p:cNvSpPr>
          <p:nvPr/>
        </p:nvSpPr>
        <p:spPr>
          <a:xfrm xmlns:a="http://schemas.openxmlformats.org/drawingml/2006/main">
            <a:off x="7639050" y="4838700"/>
            <a:ext cx="857250" cy="41910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123" name="">
            <a:extLst xmlns:a="http://schemas.openxmlformats.org/drawingml/2006/main">
              <a:ext uri="{FF2B5EF4-FFF2-40B4-BE49-F238E27FC236}">
                <a16:creationId xmlns:a16="http://schemas.microsoft.com/office/drawing/2014/main" id="{D61F1F59-9FFE-4116-9D83-D39FE31C1460}"/>
              </a:ext>
            </a:extLst>
          </p:cNvPr>
          <p:cNvSpPr>
            <a:spLocks xmlns:a="http://schemas.openxmlformats.org/drawingml/2006/main" noGrp="1"/>
          </p:cNvSpPr>
          <p:nvPr/>
        </p:nvSpPr>
        <p:spPr>
          <a:xfrm xmlns:a="http://schemas.openxmlformats.org/drawingml/2006/main">
            <a:off x="7696200" y="48958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是</a:t>
            </a:r>
          </a:p>
        </p:txBody>
      </p:sp>
      <p:sp>
        <p:nvSpPr>
          <p:cNvPr id="124" name="">
            <a:extLst xmlns:a="http://schemas.openxmlformats.org/drawingml/2006/main">
              <a:ext uri="{FF2B5EF4-FFF2-40B4-BE49-F238E27FC236}">
                <a16:creationId xmlns:a16="http://schemas.microsoft.com/office/drawing/2014/main" id="{6D401FDF-778B-4412-B4B6-31385F7F4DAD}"/>
              </a:ext>
            </a:extLst>
          </p:cNvPr>
          <p:cNvSpPr>
            <a:spLocks xmlns:a="http://schemas.openxmlformats.org/drawingml/2006/main" noGrp="1"/>
          </p:cNvSpPr>
          <p:nvPr/>
        </p:nvSpPr>
        <p:spPr>
          <a:xfrm xmlns:a="http://schemas.openxmlformats.org/drawingml/2006/main">
            <a:off x="8496300" y="48387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25" name="">
            <a:extLst xmlns:a="http://schemas.openxmlformats.org/drawingml/2006/main">
              <a:ext uri="{FF2B5EF4-FFF2-40B4-BE49-F238E27FC236}">
                <a16:creationId xmlns:a16="http://schemas.microsoft.com/office/drawing/2014/main" id="{557EE45C-62CE-44CF-8402-F84FBD72546D}"/>
              </a:ext>
            </a:extLst>
          </p:cNvPr>
          <p:cNvSpPr>
            <a:spLocks xmlns:a="http://schemas.openxmlformats.org/drawingml/2006/main" noGrp="1"/>
          </p:cNvSpPr>
          <p:nvPr/>
        </p:nvSpPr>
        <p:spPr>
          <a:xfrm xmlns:a="http://schemas.openxmlformats.org/drawingml/2006/main">
            <a:off x="8553450" y="48958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26" name="">
            <a:extLst xmlns:a="http://schemas.openxmlformats.org/drawingml/2006/main">
              <a:ext uri="{FF2B5EF4-FFF2-40B4-BE49-F238E27FC236}">
                <a16:creationId xmlns:a16="http://schemas.microsoft.com/office/drawing/2014/main" id="{952D56E6-6BDE-4797-9C14-D6F713C4BA84}"/>
              </a:ext>
            </a:extLst>
          </p:cNvPr>
          <p:cNvSpPr>
            <a:spLocks xmlns:a="http://schemas.openxmlformats.org/drawingml/2006/main" noGrp="1"/>
          </p:cNvSpPr>
          <p:nvPr/>
        </p:nvSpPr>
        <p:spPr>
          <a:xfrm xmlns:a="http://schemas.openxmlformats.org/drawingml/2006/main">
            <a:off x="9353550" y="48387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27" name="">
            <a:extLst xmlns:a="http://schemas.openxmlformats.org/drawingml/2006/main">
              <a:ext uri="{FF2B5EF4-FFF2-40B4-BE49-F238E27FC236}">
                <a16:creationId xmlns:a16="http://schemas.microsoft.com/office/drawing/2014/main" id="{3A315DA0-2499-4014-8948-BBF307EB5C57}"/>
              </a:ext>
            </a:extLst>
          </p:cNvPr>
          <p:cNvSpPr>
            <a:spLocks xmlns:a="http://schemas.openxmlformats.org/drawingml/2006/main" noGrp="1"/>
          </p:cNvSpPr>
          <p:nvPr/>
        </p:nvSpPr>
        <p:spPr>
          <a:xfrm xmlns:a="http://schemas.openxmlformats.org/drawingml/2006/main">
            <a:off x="9410700" y="48958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28" name="">
            <a:extLst xmlns:a="http://schemas.openxmlformats.org/drawingml/2006/main">
              <a:ext uri="{FF2B5EF4-FFF2-40B4-BE49-F238E27FC236}">
                <a16:creationId xmlns:a16="http://schemas.microsoft.com/office/drawing/2014/main" id="{BF9EDBB3-E7D6-4601-A12F-F657643DD446}"/>
              </a:ext>
            </a:extLst>
          </p:cNvPr>
          <p:cNvSpPr>
            <a:spLocks xmlns:a="http://schemas.openxmlformats.org/drawingml/2006/main" noGrp="1"/>
          </p:cNvSpPr>
          <p:nvPr/>
        </p:nvSpPr>
        <p:spPr>
          <a:xfrm xmlns:a="http://schemas.openxmlformats.org/drawingml/2006/main">
            <a:off x="10210800" y="4838700"/>
            <a:ext cx="8572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129" name="">
            <a:extLst xmlns:a="http://schemas.openxmlformats.org/drawingml/2006/main">
              <a:ext uri="{FF2B5EF4-FFF2-40B4-BE49-F238E27FC236}">
                <a16:creationId xmlns:a16="http://schemas.microsoft.com/office/drawing/2014/main" id="{1A70DFB8-DDBB-46E7-9708-E48F79975605}"/>
              </a:ext>
            </a:extLst>
          </p:cNvPr>
          <p:cNvSpPr>
            <a:spLocks xmlns:a="http://schemas.openxmlformats.org/drawingml/2006/main" noGrp="1"/>
          </p:cNvSpPr>
          <p:nvPr/>
        </p:nvSpPr>
        <p:spPr>
          <a:xfrm xmlns:a="http://schemas.openxmlformats.org/drawingml/2006/main">
            <a:off x="10267950" y="4895850"/>
            <a:ext cx="742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7B8794"/>
                </a:solidFill>
              </a:defRPr>
            </a:pPr>
            <a:r>
              <a:rPr sz="750" b="0">
                <a:solidFill>
                  <a:srgbClr val="7B8794"/>
                </a:solidFill>
              </a:rPr>
              <a:t>否</a:t>
            </a:r>
          </a:p>
        </p:txBody>
      </p:sp>
      <p:sp>
        <p:nvSpPr>
          <p:cNvPr id="130" name="">
            <a:extLst xmlns:a="http://schemas.openxmlformats.org/drawingml/2006/main">
              <a:ext uri="{FF2B5EF4-FFF2-40B4-BE49-F238E27FC236}">
                <a16:creationId xmlns:a16="http://schemas.microsoft.com/office/drawing/2014/main" id="{B049F0AC-D3C6-4598-97D0-C422A04DFB19}"/>
              </a:ext>
            </a:extLst>
          </p:cNvPr>
          <p:cNvSpPr>
            <a:spLocks xmlns:a="http://schemas.openxmlformats.org/drawingml/2006/main" noGrp="1"/>
          </p:cNvSpPr>
          <p:nvPr/>
        </p:nvSpPr>
        <p:spPr>
          <a:xfrm xmlns:a="http://schemas.openxmlformats.org/drawingml/2006/main">
            <a:off x="4705350" y="5353050"/>
            <a:ext cx="6515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91159"/>
          </a:bodyPr>
          <a:lstStyle xmlns:a="http://schemas.openxmlformats.org/drawingml/2006/main"/>
          <a:p xmlns:a="http://schemas.openxmlformats.org/drawingml/2006/main">
            <a:pPr algn="l">
              <a:defRPr sz="825" b="0">
                <a:solidFill>
                  <a:srgbClr val="486581"/>
                </a:solidFill>
              </a:defRPr>
            </a:pPr>
            <a:r>
              <a:rPr sz="825" b="0">
                <a:solidFill>
                  <a:srgbClr val="486581"/>
                </a:solidFill>
              </a:rPr>
              <a:t>说明：权限矩阵依据前端 `permission.js` 中的模块映射整理，答辩时可重点说明“管理员全局可控、教师聚焦业务、审批角色专注流程、财务角色独立核销”。</a:t>
            </a:r>
          </a:p>
        </p:txBody>
      </p:sp>
    </p:spTree>
    <p:extLst>
      <p:ext uri="{BB962C8B-B14F-4D97-AF65-F5344CB8AC3E}">
        <p14:creationId xmlns:p14="http://schemas.microsoft.com/office/powerpoint/2010/main" val="1908049160"/>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3078C8D-D630-4889-820E-C9F7AF88C38B}"/>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EBB5E61-049B-41D4-A888-2DA15A6F7B8D}"/>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95867A4-5A13-4079-9453-62591A8B19B3}"/>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DATABASE</a:t>
            </a:r>
          </a:p>
        </p:txBody>
      </p:sp>
      <p:sp>
        <p:nvSpPr>
          <p:cNvPr id="5" name="">
            <a:extLst xmlns:a="http://schemas.openxmlformats.org/drawingml/2006/main">
              <a:ext uri="{FF2B5EF4-FFF2-40B4-BE49-F238E27FC236}">
                <a16:creationId xmlns:a16="http://schemas.microsoft.com/office/drawing/2014/main" id="{192D54BA-5AB1-45ED-AFC3-822EB9645C82}"/>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08</a:t>
            </a:r>
          </a:p>
        </p:txBody>
      </p:sp>
      <p:sp>
        <p:nvSpPr>
          <p:cNvPr id="6" name="">
            <a:extLst xmlns:a="http://schemas.openxmlformats.org/drawingml/2006/main">
              <a:ext uri="{FF2B5EF4-FFF2-40B4-BE49-F238E27FC236}">
                <a16:creationId xmlns:a16="http://schemas.microsoft.com/office/drawing/2014/main" id="{FB0FEFA9-588F-48FA-8B68-9C1A9191A53E}"/>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数据库设计与核心实体关系</a:t>
            </a:r>
          </a:p>
        </p:txBody>
      </p:sp>
      <p:sp>
        <p:nvSpPr>
          <p:cNvPr id="7" name="">
            <a:extLst xmlns:a="http://schemas.openxmlformats.org/drawingml/2006/main">
              <a:ext uri="{FF2B5EF4-FFF2-40B4-BE49-F238E27FC236}">
                <a16:creationId xmlns:a16="http://schemas.microsoft.com/office/drawing/2014/main" id="{3155DE10-E878-4172-BD83-291CD0ACF65A}"/>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系统以项目实体为中心，将流程、申请、报销、成果、预算与用户权限组织为一体。</a:t>
            </a:r>
          </a:p>
        </p:txBody>
      </p:sp>
      <p:sp>
        <p:nvSpPr>
          <p:cNvPr id="8" name="">
            <a:extLst xmlns:a="http://schemas.openxmlformats.org/drawingml/2006/main">
              <a:ext uri="{FF2B5EF4-FFF2-40B4-BE49-F238E27FC236}">
                <a16:creationId xmlns:a16="http://schemas.microsoft.com/office/drawing/2014/main" id="{935AF798-B0EF-4B63-B1E2-118C26E6019F}"/>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368FB9C-ACD1-43D7-A946-9CCA2111741D}"/>
              </a:ext>
            </a:extLst>
          </p:cNvPr>
          <p:cNvSpPr>
            <a:spLocks xmlns:a="http://schemas.openxmlformats.org/drawingml/2006/main" noGrp="1"/>
          </p:cNvSpPr>
          <p:nvPr/>
        </p:nvSpPr>
        <p:spPr>
          <a:xfrm xmlns:a="http://schemas.openxmlformats.org/drawingml/2006/main">
            <a:off x="4400550" y="2381250"/>
            <a:ext cx="2857500" cy="1562100"/>
          </a:xfrm>
          <a:prstGeom xmlns:a="http://schemas.openxmlformats.org/drawingml/2006/main" prst="roundRect">
            <a:avLst>
              <a:gd name="adj" fmla="val 4878"/>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14225DA-FB7F-4707-A112-9C6DB5982316}"/>
              </a:ext>
            </a:extLst>
          </p:cNvPr>
          <p:cNvSpPr>
            <a:spLocks xmlns:a="http://schemas.openxmlformats.org/drawingml/2006/main" noGrp="1"/>
          </p:cNvSpPr>
          <p:nvPr/>
        </p:nvSpPr>
        <p:spPr>
          <a:xfrm xmlns:a="http://schemas.openxmlformats.org/drawingml/2006/main">
            <a:off x="4400550" y="272415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defRPr>
            </a:pPr>
            <a:r>
              <a:rPr sz="1950" b="1">
                <a:solidFill>
                  <a:srgbClr val="FFFFFF"/>
                </a:solidFill>
              </a:rPr>
              <a:t>project</a:t>
            </a:r>
          </a:p>
        </p:txBody>
      </p:sp>
      <p:sp>
        <p:nvSpPr>
          <p:cNvPr id="11" name="">
            <a:extLst xmlns:a="http://schemas.openxmlformats.org/drawingml/2006/main">
              <a:ext uri="{FF2B5EF4-FFF2-40B4-BE49-F238E27FC236}">
                <a16:creationId xmlns:a16="http://schemas.microsoft.com/office/drawing/2014/main" id="{AB2A1977-17C2-4A52-A4F0-A236A5096452}"/>
              </a:ext>
            </a:extLst>
          </p:cNvPr>
          <p:cNvSpPr>
            <a:spLocks xmlns:a="http://schemas.openxmlformats.org/drawingml/2006/main" noGrp="1"/>
          </p:cNvSpPr>
          <p:nvPr/>
        </p:nvSpPr>
        <p:spPr>
          <a:xfrm xmlns:a="http://schemas.openxmlformats.org/drawingml/2006/main">
            <a:off x="4667250" y="3143250"/>
            <a:ext cx="2324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D9F7F4"/>
                </a:solidFill>
              </a:defRPr>
            </a:pPr>
            <a:r>
              <a:rPr sz="900" b="0">
                <a:solidFill>
                  <a:srgbClr val="D9F7F4"/>
                </a:solidFill>
              </a:rPr>
              <a:t>projectNo / projectName / leaderId /</a:t>
            </a:r>
          </a:p>
          <a:p xmlns:a="http://schemas.openxmlformats.org/drawingml/2006/main">
            <a:pPr algn="ctr">
              <a:defRPr sz="900" b="0">
                <a:solidFill>
                  <a:srgbClr val="D9F7F4"/>
                </a:solidFill>
              </a:defRPr>
            </a:pPr>
            <a:r>
              <a:rPr sz="900" b="0">
                <a:solidFill>
                  <a:srgbClr val="D9F7F4"/>
                </a:solidFill>
              </a:rPr>
              <a:t>status / currentStage / totalFund</a:t>
            </a:r>
          </a:p>
        </p:txBody>
      </p:sp>
      <p:sp>
        <p:nvSpPr>
          <p:cNvPr id="12" name="">
            <a:extLst xmlns:a="http://schemas.openxmlformats.org/drawingml/2006/main">
              <a:ext uri="{FF2B5EF4-FFF2-40B4-BE49-F238E27FC236}">
                <a16:creationId xmlns:a16="http://schemas.microsoft.com/office/drawing/2014/main" id="{F02CF8FC-2161-42F5-8F71-099CBAE03316}"/>
              </a:ext>
            </a:extLst>
          </p:cNvPr>
          <p:cNvSpPr>
            <a:spLocks xmlns:a="http://schemas.openxmlformats.org/drawingml/2006/main" noGrp="1"/>
          </p:cNvSpPr>
          <p:nvPr/>
        </p:nvSpPr>
        <p:spPr>
          <a:xfrm xmlns:a="http://schemas.openxmlformats.org/drawingml/2006/main">
            <a:off x="876300" y="1885950"/>
            <a:ext cx="2000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2EC"/>
            </a:solidFill>
            <a:prstDash val="solid"/>
          </a:ln>
        </p:spPr>
      </p:sp>
      <p:sp>
        <p:nvSpPr>
          <p:cNvPr id="13" name="">
            <a:extLst xmlns:a="http://schemas.openxmlformats.org/drawingml/2006/main">
              <a:ext uri="{FF2B5EF4-FFF2-40B4-BE49-F238E27FC236}">
                <a16:creationId xmlns:a16="http://schemas.microsoft.com/office/drawing/2014/main" id="{9BABEF2F-63DF-48DB-BF37-EB32111BA822}"/>
              </a:ext>
            </a:extLst>
          </p:cNvPr>
          <p:cNvSpPr>
            <a:spLocks xmlns:a="http://schemas.openxmlformats.org/drawingml/2006/main" noGrp="1"/>
          </p:cNvSpPr>
          <p:nvPr/>
        </p:nvSpPr>
        <p:spPr>
          <a:xfrm xmlns:a="http://schemas.openxmlformats.org/drawingml/2006/main">
            <a:off x="876300" y="1885950"/>
            <a:ext cx="76200" cy="8763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6634FD4-6704-47F1-9D2F-CB529F7DD6CA}"/>
              </a:ext>
            </a:extLst>
          </p:cNvPr>
          <p:cNvSpPr>
            <a:spLocks xmlns:a="http://schemas.openxmlformats.org/drawingml/2006/main" noGrp="1"/>
          </p:cNvSpPr>
          <p:nvPr/>
        </p:nvSpPr>
        <p:spPr>
          <a:xfrm xmlns:a="http://schemas.openxmlformats.org/drawingml/2006/main">
            <a:off x="1085850" y="2038350"/>
            <a:ext cx="1581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user</a:t>
            </a:r>
          </a:p>
        </p:txBody>
      </p:sp>
      <p:sp>
        <p:nvSpPr>
          <p:cNvPr id="15" name="">
            <a:extLst xmlns:a="http://schemas.openxmlformats.org/drawingml/2006/main">
              <a:ext uri="{FF2B5EF4-FFF2-40B4-BE49-F238E27FC236}">
                <a16:creationId xmlns:a16="http://schemas.microsoft.com/office/drawing/2014/main" id="{0E4124E3-9D63-4DE8-9769-11A71457F453}"/>
              </a:ext>
            </a:extLst>
          </p:cNvPr>
          <p:cNvSpPr>
            <a:spLocks xmlns:a="http://schemas.openxmlformats.org/drawingml/2006/main" noGrp="1"/>
          </p:cNvSpPr>
          <p:nvPr/>
        </p:nvSpPr>
        <p:spPr>
          <a:xfrm xmlns:a="http://schemas.openxmlformats.org/drawingml/2006/main">
            <a:off x="1085850" y="2286000"/>
            <a:ext cx="15811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账号、姓名、部门、角色、状态</a:t>
            </a:r>
          </a:p>
        </p:txBody>
      </p:sp>
      <p:sp>
        <p:nvSpPr>
          <p:cNvPr id="16" name="">
            <a:extLst xmlns:a="http://schemas.openxmlformats.org/drawingml/2006/main">
              <a:ext uri="{FF2B5EF4-FFF2-40B4-BE49-F238E27FC236}">
                <a16:creationId xmlns:a16="http://schemas.microsoft.com/office/drawing/2014/main" id="{72D878D1-1198-4107-B79E-FA11C228E06E}"/>
              </a:ext>
            </a:extLst>
          </p:cNvPr>
          <p:cNvSpPr>
            <a:spLocks xmlns:a="http://schemas.openxmlformats.org/drawingml/2006/main" noGrp="1"/>
          </p:cNvSpPr>
          <p:nvPr/>
        </p:nvSpPr>
        <p:spPr>
          <a:xfrm xmlns:a="http://schemas.openxmlformats.org/drawingml/2006/main">
            <a:off x="2000250" y="2019300"/>
            <a:ext cx="6858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2C0EEEA3-3B96-4BF1-B15C-ED2C58DF0E39}"/>
              </a:ext>
            </a:extLst>
          </p:cNvPr>
          <p:cNvSpPr>
            <a:spLocks xmlns:a="http://schemas.openxmlformats.org/drawingml/2006/main" noGrp="1"/>
          </p:cNvSpPr>
          <p:nvPr/>
        </p:nvSpPr>
        <p:spPr>
          <a:xfrm xmlns:a="http://schemas.openxmlformats.org/drawingml/2006/main">
            <a:off x="2114550" y="20574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核心表</a:t>
            </a:r>
          </a:p>
        </p:txBody>
      </p:sp>
      <p:sp>
        <p:nvSpPr>
          <p:cNvPr id="18" name="">
            <a:extLst xmlns:a="http://schemas.openxmlformats.org/drawingml/2006/main">
              <a:ext uri="{FF2B5EF4-FFF2-40B4-BE49-F238E27FC236}">
                <a16:creationId xmlns:a16="http://schemas.microsoft.com/office/drawing/2014/main" id="{DBC9B27C-1331-42B2-AD15-BB6A09D108E6}"/>
              </a:ext>
            </a:extLst>
          </p:cNvPr>
          <p:cNvSpPr>
            <a:spLocks xmlns:a="http://schemas.openxmlformats.org/drawingml/2006/main" noGrp="1"/>
          </p:cNvSpPr>
          <p:nvPr/>
        </p:nvSpPr>
        <p:spPr>
          <a:xfrm xmlns:a="http://schemas.openxmlformats.org/drawingml/2006/main">
            <a:off x="876300" y="3028950"/>
            <a:ext cx="20002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9E2EC"/>
            </a:solidFill>
            <a:prstDash val="solid"/>
          </a:ln>
        </p:spPr>
      </p:sp>
      <p:sp>
        <p:nvSpPr>
          <p:cNvPr id="19" name="">
            <a:extLst xmlns:a="http://schemas.openxmlformats.org/drawingml/2006/main">
              <a:ext uri="{FF2B5EF4-FFF2-40B4-BE49-F238E27FC236}">
                <a16:creationId xmlns:a16="http://schemas.microsoft.com/office/drawing/2014/main" id="{F991B19C-98F1-472C-944A-93387C4AE81D}"/>
              </a:ext>
            </a:extLst>
          </p:cNvPr>
          <p:cNvSpPr>
            <a:spLocks xmlns:a="http://schemas.openxmlformats.org/drawingml/2006/main" noGrp="1"/>
          </p:cNvSpPr>
          <p:nvPr/>
        </p:nvSpPr>
        <p:spPr>
          <a:xfrm xmlns:a="http://schemas.openxmlformats.org/drawingml/2006/main">
            <a:off x="876300" y="3028950"/>
            <a:ext cx="76200" cy="70485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4E23FC2-67C3-485C-8FF9-A3D5A943D98A}"/>
              </a:ext>
            </a:extLst>
          </p:cNvPr>
          <p:cNvSpPr>
            <a:spLocks xmlns:a="http://schemas.openxmlformats.org/drawingml/2006/main" noGrp="1"/>
          </p:cNvSpPr>
          <p:nvPr/>
        </p:nvSpPr>
        <p:spPr>
          <a:xfrm xmlns:a="http://schemas.openxmlformats.org/drawingml/2006/main">
            <a:off x="1085850" y="3181350"/>
            <a:ext cx="1581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role</a:t>
            </a:r>
          </a:p>
        </p:txBody>
      </p:sp>
      <p:sp>
        <p:nvSpPr>
          <p:cNvPr id="21" name="">
            <a:extLst xmlns:a="http://schemas.openxmlformats.org/drawingml/2006/main">
              <a:ext uri="{FF2B5EF4-FFF2-40B4-BE49-F238E27FC236}">
                <a16:creationId xmlns:a16="http://schemas.microsoft.com/office/drawing/2014/main" id="{0396A3D0-F235-4877-8FE8-9720600EDA42}"/>
              </a:ext>
            </a:extLst>
          </p:cNvPr>
          <p:cNvSpPr>
            <a:spLocks xmlns:a="http://schemas.openxmlformats.org/drawingml/2006/main" noGrp="1"/>
          </p:cNvSpPr>
          <p:nvPr/>
        </p:nvSpPr>
        <p:spPr>
          <a:xfrm xmlns:a="http://schemas.openxmlformats.org/drawingml/2006/main">
            <a:off x="1085850" y="3429000"/>
            <a:ext cx="1581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roleName / roleKey</a:t>
            </a:r>
          </a:p>
        </p:txBody>
      </p:sp>
      <p:sp>
        <p:nvSpPr>
          <p:cNvPr id="22" name="">
            <a:extLst xmlns:a="http://schemas.openxmlformats.org/drawingml/2006/main">
              <a:ext uri="{FF2B5EF4-FFF2-40B4-BE49-F238E27FC236}">
                <a16:creationId xmlns:a16="http://schemas.microsoft.com/office/drawing/2014/main" id="{32B0116B-E9AC-48AC-8411-72FF14F7D150}"/>
              </a:ext>
            </a:extLst>
          </p:cNvPr>
          <p:cNvSpPr>
            <a:spLocks xmlns:a="http://schemas.openxmlformats.org/drawingml/2006/main" noGrp="1"/>
          </p:cNvSpPr>
          <p:nvPr/>
        </p:nvSpPr>
        <p:spPr>
          <a:xfrm xmlns:a="http://schemas.openxmlformats.org/drawingml/2006/main">
            <a:off x="2000250" y="3162300"/>
            <a:ext cx="6858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B827167D-82F6-4D69-852B-50CF6EB24CC1}"/>
              </a:ext>
            </a:extLst>
          </p:cNvPr>
          <p:cNvSpPr>
            <a:spLocks xmlns:a="http://schemas.openxmlformats.org/drawingml/2006/main" noGrp="1"/>
          </p:cNvSpPr>
          <p:nvPr/>
        </p:nvSpPr>
        <p:spPr>
          <a:xfrm xmlns:a="http://schemas.openxmlformats.org/drawingml/2006/main">
            <a:off x="2114550" y="32004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核心表</a:t>
            </a:r>
          </a:p>
        </p:txBody>
      </p:sp>
      <p:sp>
        <p:nvSpPr>
          <p:cNvPr id="24" name="">
            <a:extLst xmlns:a="http://schemas.openxmlformats.org/drawingml/2006/main">
              <a:ext uri="{FF2B5EF4-FFF2-40B4-BE49-F238E27FC236}">
                <a16:creationId xmlns:a16="http://schemas.microsoft.com/office/drawing/2014/main" id="{87FEAD59-494C-4A6F-A1BD-5CE1656CF74B}"/>
              </a:ext>
            </a:extLst>
          </p:cNvPr>
          <p:cNvSpPr>
            <a:spLocks xmlns:a="http://schemas.openxmlformats.org/drawingml/2006/main" noGrp="1"/>
          </p:cNvSpPr>
          <p:nvPr/>
        </p:nvSpPr>
        <p:spPr>
          <a:xfrm xmlns:a="http://schemas.openxmlformats.org/drawingml/2006/main">
            <a:off x="876300" y="4000500"/>
            <a:ext cx="20002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9E2EC"/>
            </a:solidFill>
            <a:prstDash val="solid"/>
          </a:ln>
        </p:spPr>
      </p:sp>
      <p:sp>
        <p:nvSpPr>
          <p:cNvPr id="25" name="">
            <a:extLst xmlns:a="http://schemas.openxmlformats.org/drawingml/2006/main">
              <a:ext uri="{FF2B5EF4-FFF2-40B4-BE49-F238E27FC236}">
                <a16:creationId xmlns:a16="http://schemas.microsoft.com/office/drawing/2014/main" id="{86122E3F-DB8D-46D2-88E5-F7808C336210}"/>
              </a:ext>
            </a:extLst>
          </p:cNvPr>
          <p:cNvSpPr>
            <a:spLocks xmlns:a="http://schemas.openxmlformats.org/drawingml/2006/main" noGrp="1"/>
          </p:cNvSpPr>
          <p:nvPr/>
        </p:nvSpPr>
        <p:spPr>
          <a:xfrm xmlns:a="http://schemas.openxmlformats.org/drawingml/2006/main">
            <a:off x="876300" y="4000500"/>
            <a:ext cx="76200" cy="70485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F91178F1-0D9A-45CA-A6BE-957B4E0A1BEC}"/>
              </a:ext>
            </a:extLst>
          </p:cNvPr>
          <p:cNvSpPr>
            <a:spLocks xmlns:a="http://schemas.openxmlformats.org/drawingml/2006/main" noGrp="1"/>
          </p:cNvSpPr>
          <p:nvPr/>
        </p:nvSpPr>
        <p:spPr>
          <a:xfrm xmlns:a="http://schemas.openxmlformats.org/drawingml/2006/main">
            <a:off x="1085850" y="4152900"/>
            <a:ext cx="1581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department</a:t>
            </a:r>
          </a:p>
        </p:txBody>
      </p:sp>
      <p:sp>
        <p:nvSpPr>
          <p:cNvPr id="27" name="">
            <a:extLst xmlns:a="http://schemas.openxmlformats.org/drawingml/2006/main">
              <a:ext uri="{FF2B5EF4-FFF2-40B4-BE49-F238E27FC236}">
                <a16:creationId xmlns:a16="http://schemas.microsoft.com/office/drawing/2014/main" id="{DCD78231-3B4C-4521-AF3E-D1389ED44D09}"/>
              </a:ext>
            </a:extLst>
          </p:cNvPr>
          <p:cNvSpPr>
            <a:spLocks xmlns:a="http://schemas.openxmlformats.org/drawingml/2006/main" noGrp="1"/>
          </p:cNvSpPr>
          <p:nvPr/>
        </p:nvSpPr>
        <p:spPr>
          <a:xfrm xmlns:a="http://schemas.openxmlformats.org/drawingml/2006/main">
            <a:off x="1085850" y="4400550"/>
            <a:ext cx="1581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层级、父子结构</a:t>
            </a:r>
          </a:p>
        </p:txBody>
      </p:sp>
      <p:sp>
        <p:nvSpPr>
          <p:cNvPr id="28" name="">
            <a:extLst xmlns:a="http://schemas.openxmlformats.org/drawingml/2006/main">
              <a:ext uri="{FF2B5EF4-FFF2-40B4-BE49-F238E27FC236}">
                <a16:creationId xmlns:a16="http://schemas.microsoft.com/office/drawing/2014/main" id="{EED2D373-4604-446B-8699-EB9BDF54C7EF}"/>
              </a:ext>
            </a:extLst>
          </p:cNvPr>
          <p:cNvSpPr>
            <a:spLocks xmlns:a="http://schemas.openxmlformats.org/drawingml/2006/main" noGrp="1"/>
          </p:cNvSpPr>
          <p:nvPr/>
        </p:nvSpPr>
        <p:spPr>
          <a:xfrm xmlns:a="http://schemas.openxmlformats.org/drawingml/2006/main">
            <a:off x="2000250" y="4133850"/>
            <a:ext cx="685800" cy="266700"/>
          </a:xfrm>
          <a:prstGeom xmlns:a="http://schemas.openxmlformats.org/drawingml/2006/main" prst="roundRect">
            <a:avLst>
              <a:gd name="adj" fmla="val 2857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D099D10-B3A0-45EE-8BF1-D961FA2E2A04}"/>
              </a:ext>
            </a:extLst>
          </p:cNvPr>
          <p:cNvSpPr>
            <a:spLocks xmlns:a="http://schemas.openxmlformats.org/drawingml/2006/main" noGrp="1"/>
          </p:cNvSpPr>
          <p:nvPr/>
        </p:nvSpPr>
        <p:spPr>
          <a:xfrm xmlns:a="http://schemas.openxmlformats.org/drawingml/2006/main">
            <a:off x="2114550" y="417195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1765B"/>
                </a:solidFill>
              </a:defRPr>
            </a:pPr>
            <a:r>
              <a:rPr sz="900" b="1">
                <a:solidFill>
                  <a:srgbClr val="F1765B"/>
                </a:solidFill>
              </a:rPr>
              <a:t>核心表</a:t>
            </a:r>
          </a:p>
        </p:txBody>
      </p:sp>
      <p:sp>
        <p:nvSpPr>
          <p:cNvPr id="30" name="">
            <a:extLst xmlns:a="http://schemas.openxmlformats.org/drawingml/2006/main">
              <a:ext uri="{FF2B5EF4-FFF2-40B4-BE49-F238E27FC236}">
                <a16:creationId xmlns:a16="http://schemas.microsoft.com/office/drawing/2014/main" id="{CDEF1540-8A93-4DE2-998E-19C293956C95}"/>
              </a:ext>
            </a:extLst>
          </p:cNvPr>
          <p:cNvSpPr>
            <a:spLocks xmlns:a="http://schemas.openxmlformats.org/drawingml/2006/main" noGrp="1"/>
          </p:cNvSpPr>
          <p:nvPr/>
        </p:nvSpPr>
        <p:spPr>
          <a:xfrm xmlns:a="http://schemas.openxmlformats.org/drawingml/2006/main">
            <a:off x="8248650" y="1714500"/>
            <a:ext cx="25717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2EC"/>
            </a:solidFill>
            <a:prstDash val="solid"/>
          </a:ln>
        </p:spPr>
      </p:sp>
      <p:sp>
        <p:nvSpPr>
          <p:cNvPr id="31" name="">
            <a:extLst xmlns:a="http://schemas.openxmlformats.org/drawingml/2006/main">
              <a:ext uri="{FF2B5EF4-FFF2-40B4-BE49-F238E27FC236}">
                <a16:creationId xmlns:a16="http://schemas.microsoft.com/office/drawing/2014/main" id="{E9B143B8-5A70-46D8-A980-6713CF6EA322}"/>
              </a:ext>
            </a:extLst>
          </p:cNvPr>
          <p:cNvSpPr>
            <a:spLocks xmlns:a="http://schemas.openxmlformats.org/drawingml/2006/main" noGrp="1"/>
          </p:cNvSpPr>
          <p:nvPr/>
        </p:nvSpPr>
        <p:spPr>
          <a:xfrm xmlns:a="http://schemas.openxmlformats.org/drawingml/2006/main">
            <a:off x="8248650" y="1714500"/>
            <a:ext cx="76200" cy="78105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52BF35A3-2329-41D1-950C-FEC21A66EA07}"/>
              </a:ext>
            </a:extLst>
          </p:cNvPr>
          <p:cNvSpPr>
            <a:spLocks xmlns:a="http://schemas.openxmlformats.org/drawingml/2006/main" noGrp="1"/>
          </p:cNvSpPr>
          <p:nvPr/>
        </p:nvSpPr>
        <p:spPr>
          <a:xfrm xmlns:a="http://schemas.openxmlformats.org/drawingml/2006/main">
            <a:off x="8458200" y="1866900"/>
            <a:ext cx="2152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application</a:t>
            </a:r>
          </a:p>
        </p:txBody>
      </p:sp>
      <p:sp>
        <p:nvSpPr>
          <p:cNvPr id="33" name="">
            <a:extLst xmlns:a="http://schemas.openxmlformats.org/drawingml/2006/main">
              <a:ext uri="{FF2B5EF4-FFF2-40B4-BE49-F238E27FC236}">
                <a16:creationId xmlns:a16="http://schemas.microsoft.com/office/drawing/2014/main" id="{A0BFA968-2545-4C51-ABBE-592A820E35EB}"/>
              </a:ext>
            </a:extLst>
          </p:cNvPr>
          <p:cNvSpPr>
            <a:spLocks xmlns:a="http://schemas.openxmlformats.org/drawingml/2006/main" noGrp="1"/>
          </p:cNvSpPr>
          <p:nvPr/>
        </p:nvSpPr>
        <p:spPr>
          <a:xfrm xmlns:a="http://schemas.openxmlformats.org/drawingml/2006/main">
            <a:off x="8458200" y="21145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申请内容、当前节点、审批状态</a:t>
            </a:r>
          </a:p>
        </p:txBody>
      </p:sp>
      <p:sp>
        <p:nvSpPr>
          <p:cNvPr id="34" name="">
            <a:extLst xmlns:a="http://schemas.openxmlformats.org/drawingml/2006/main">
              <a:ext uri="{FF2B5EF4-FFF2-40B4-BE49-F238E27FC236}">
                <a16:creationId xmlns:a16="http://schemas.microsoft.com/office/drawing/2014/main" id="{E9B95D26-1785-4CB5-A8D6-34F1E4254AEC}"/>
              </a:ext>
            </a:extLst>
          </p:cNvPr>
          <p:cNvSpPr>
            <a:spLocks xmlns:a="http://schemas.openxmlformats.org/drawingml/2006/main" noGrp="1"/>
          </p:cNvSpPr>
          <p:nvPr/>
        </p:nvSpPr>
        <p:spPr>
          <a:xfrm xmlns:a="http://schemas.openxmlformats.org/drawingml/2006/main">
            <a:off x="9944100" y="1847850"/>
            <a:ext cx="6858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4267406C-7092-4FE1-B2D9-7C24A9415FB5}"/>
              </a:ext>
            </a:extLst>
          </p:cNvPr>
          <p:cNvSpPr>
            <a:spLocks xmlns:a="http://schemas.openxmlformats.org/drawingml/2006/main" noGrp="1"/>
          </p:cNvSpPr>
          <p:nvPr/>
        </p:nvSpPr>
        <p:spPr>
          <a:xfrm xmlns:a="http://schemas.openxmlformats.org/drawingml/2006/main">
            <a:off x="10058400" y="188595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核心表</a:t>
            </a:r>
          </a:p>
        </p:txBody>
      </p:sp>
      <p:sp>
        <p:nvSpPr>
          <p:cNvPr id="36" name="">
            <a:extLst xmlns:a="http://schemas.openxmlformats.org/drawingml/2006/main">
              <a:ext uri="{FF2B5EF4-FFF2-40B4-BE49-F238E27FC236}">
                <a16:creationId xmlns:a16="http://schemas.microsoft.com/office/drawing/2014/main" id="{707D85B0-710C-4DDB-A9BE-7595BAFC2B40}"/>
              </a:ext>
            </a:extLst>
          </p:cNvPr>
          <p:cNvSpPr>
            <a:spLocks xmlns:a="http://schemas.openxmlformats.org/drawingml/2006/main" noGrp="1"/>
          </p:cNvSpPr>
          <p:nvPr/>
        </p:nvSpPr>
        <p:spPr>
          <a:xfrm xmlns:a="http://schemas.openxmlformats.org/drawingml/2006/main">
            <a:off x="8248650" y="2686050"/>
            <a:ext cx="25717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2EC"/>
            </a:solidFill>
            <a:prstDash val="solid"/>
          </a:ln>
        </p:spPr>
      </p:sp>
      <p:sp>
        <p:nvSpPr>
          <p:cNvPr id="37" name="">
            <a:extLst xmlns:a="http://schemas.openxmlformats.org/drawingml/2006/main">
              <a:ext uri="{FF2B5EF4-FFF2-40B4-BE49-F238E27FC236}">
                <a16:creationId xmlns:a16="http://schemas.microsoft.com/office/drawing/2014/main" id="{50BFFD67-0AD4-48D5-98DC-01E8B2BB17EC}"/>
              </a:ext>
            </a:extLst>
          </p:cNvPr>
          <p:cNvSpPr>
            <a:spLocks xmlns:a="http://schemas.openxmlformats.org/drawingml/2006/main" noGrp="1"/>
          </p:cNvSpPr>
          <p:nvPr/>
        </p:nvSpPr>
        <p:spPr>
          <a:xfrm xmlns:a="http://schemas.openxmlformats.org/drawingml/2006/main">
            <a:off x="8248650" y="2686050"/>
            <a:ext cx="76200" cy="78105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E367D088-3FB8-4FD1-A9C1-2A4412B811C8}"/>
              </a:ext>
            </a:extLst>
          </p:cNvPr>
          <p:cNvSpPr>
            <a:spLocks xmlns:a="http://schemas.openxmlformats.org/drawingml/2006/main" noGrp="1"/>
          </p:cNvSpPr>
          <p:nvPr/>
        </p:nvSpPr>
        <p:spPr>
          <a:xfrm xmlns:a="http://schemas.openxmlformats.org/drawingml/2006/main">
            <a:off x="8458200" y="2838450"/>
            <a:ext cx="2152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project_process</a:t>
            </a:r>
          </a:p>
        </p:txBody>
      </p:sp>
      <p:sp>
        <p:nvSpPr>
          <p:cNvPr id="39" name="">
            <a:extLst xmlns:a="http://schemas.openxmlformats.org/drawingml/2006/main">
              <a:ext uri="{FF2B5EF4-FFF2-40B4-BE49-F238E27FC236}">
                <a16:creationId xmlns:a16="http://schemas.microsoft.com/office/drawing/2014/main" id="{0B802CFE-8611-4724-B690-624BAF060FE5}"/>
              </a:ext>
            </a:extLst>
          </p:cNvPr>
          <p:cNvSpPr>
            <a:spLocks xmlns:a="http://schemas.openxmlformats.org/drawingml/2006/main" noGrp="1"/>
          </p:cNvSpPr>
          <p:nvPr/>
        </p:nvSpPr>
        <p:spPr>
          <a:xfrm xmlns:a="http://schemas.openxmlformats.org/drawingml/2006/main">
            <a:off x="8458200" y="30861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阶段、顺序、审批意见、附件</a:t>
            </a:r>
          </a:p>
        </p:txBody>
      </p:sp>
      <p:sp>
        <p:nvSpPr>
          <p:cNvPr id="40" name="">
            <a:extLst xmlns:a="http://schemas.openxmlformats.org/drawingml/2006/main">
              <a:ext uri="{FF2B5EF4-FFF2-40B4-BE49-F238E27FC236}">
                <a16:creationId xmlns:a16="http://schemas.microsoft.com/office/drawing/2014/main" id="{2B2B1336-4B44-45E1-9FE6-D89D84CB3EA4}"/>
              </a:ext>
            </a:extLst>
          </p:cNvPr>
          <p:cNvSpPr>
            <a:spLocks xmlns:a="http://schemas.openxmlformats.org/drawingml/2006/main" noGrp="1"/>
          </p:cNvSpPr>
          <p:nvPr/>
        </p:nvSpPr>
        <p:spPr>
          <a:xfrm xmlns:a="http://schemas.openxmlformats.org/drawingml/2006/main">
            <a:off x="9944100" y="2819400"/>
            <a:ext cx="6858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0DDB824D-C047-492A-9909-22B8C1BF1873}"/>
              </a:ext>
            </a:extLst>
          </p:cNvPr>
          <p:cNvSpPr>
            <a:spLocks xmlns:a="http://schemas.openxmlformats.org/drawingml/2006/main" noGrp="1"/>
          </p:cNvSpPr>
          <p:nvPr/>
        </p:nvSpPr>
        <p:spPr>
          <a:xfrm xmlns:a="http://schemas.openxmlformats.org/drawingml/2006/main">
            <a:off x="10058400" y="28575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核心表</a:t>
            </a:r>
          </a:p>
        </p:txBody>
      </p:sp>
      <p:sp>
        <p:nvSpPr>
          <p:cNvPr id="42" name="">
            <a:extLst xmlns:a="http://schemas.openxmlformats.org/drawingml/2006/main">
              <a:ext uri="{FF2B5EF4-FFF2-40B4-BE49-F238E27FC236}">
                <a16:creationId xmlns:a16="http://schemas.microsoft.com/office/drawing/2014/main" id="{EBECA904-B77D-4AE9-89C6-DF219FFEA9B5}"/>
              </a:ext>
            </a:extLst>
          </p:cNvPr>
          <p:cNvSpPr>
            <a:spLocks xmlns:a="http://schemas.openxmlformats.org/drawingml/2006/main" noGrp="1"/>
          </p:cNvSpPr>
          <p:nvPr/>
        </p:nvSpPr>
        <p:spPr>
          <a:xfrm xmlns:a="http://schemas.openxmlformats.org/drawingml/2006/main">
            <a:off x="8248650" y="3657600"/>
            <a:ext cx="25717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2EC"/>
            </a:solidFill>
            <a:prstDash val="solid"/>
          </a:ln>
        </p:spPr>
      </p:sp>
      <p:sp>
        <p:nvSpPr>
          <p:cNvPr id="43" name="">
            <a:extLst xmlns:a="http://schemas.openxmlformats.org/drawingml/2006/main">
              <a:ext uri="{FF2B5EF4-FFF2-40B4-BE49-F238E27FC236}">
                <a16:creationId xmlns:a16="http://schemas.microsoft.com/office/drawing/2014/main" id="{B4540C4C-8A53-477D-B9AC-C3082F2CA5CD}"/>
              </a:ext>
            </a:extLst>
          </p:cNvPr>
          <p:cNvSpPr>
            <a:spLocks xmlns:a="http://schemas.openxmlformats.org/drawingml/2006/main" noGrp="1"/>
          </p:cNvSpPr>
          <p:nvPr/>
        </p:nvSpPr>
        <p:spPr>
          <a:xfrm xmlns:a="http://schemas.openxmlformats.org/drawingml/2006/main">
            <a:off x="8248650" y="3657600"/>
            <a:ext cx="76200" cy="78105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2D4A72DF-E33A-43FA-9975-6EFC07A8163C}"/>
              </a:ext>
            </a:extLst>
          </p:cNvPr>
          <p:cNvSpPr>
            <a:spLocks xmlns:a="http://schemas.openxmlformats.org/drawingml/2006/main" noGrp="1"/>
          </p:cNvSpPr>
          <p:nvPr/>
        </p:nvSpPr>
        <p:spPr>
          <a:xfrm xmlns:a="http://schemas.openxmlformats.org/drawingml/2006/main">
            <a:off x="8458200" y="3810000"/>
            <a:ext cx="2152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reimbursement</a:t>
            </a:r>
          </a:p>
        </p:txBody>
      </p:sp>
      <p:sp>
        <p:nvSpPr>
          <p:cNvPr id="45" name="">
            <a:extLst xmlns:a="http://schemas.openxmlformats.org/drawingml/2006/main">
              <a:ext uri="{FF2B5EF4-FFF2-40B4-BE49-F238E27FC236}">
                <a16:creationId xmlns:a16="http://schemas.microsoft.com/office/drawing/2014/main" id="{17C8D878-2BAF-4B38-A0AF-E2DCD36E815E}"/>
              </a:ext>
            </a:extLst>
          </p:cNvPr>
          <p:cNvSpPr>
            <a:spLocks xmlns:a="http://schemas.openxmlformats.org/drawingml/2006/main" noGrp="1"/>
          </p:cNvSpPr>
          <p:nvPr/>
        </p:nvSpPr>
        <p:spPr>
          <a:xfrm xmlns:a="http://schemas.openxmlformats.org/drawingml/2006/main">
            <a:off x="8458200" y="405765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报销金额、类型、审批时间</a:t>
            </a:r>
          </a:p>
        </p:txBody>
      </p:sp>
      <p:sp>
        <p:nvSpPr>
          <p:cNvPr id="46" name="">
            <a:extLst xmlns:a="http://schemas.openxmlformats.org/drawingml/2006/main">
              <a:ext uri="{FF2B5EF4-FFF2-40B4-BE49-F238E27FC236}">
                <a16:creationId xmlns:a16="http://schemas.microsoft.com/office/drawing/2014/main" id="{1A39930E-611B-4C79-A644-9F871712CDEC}"/>
              </a:ext>
            </a:extLst>
          </p:cNvPr>
          <p:cNvSpPr>
            <a:spLocks xmlns:a="http://schemas.openxmlformats.org/drawingml/2006/main" noGrp="1"/>
          </p:cNvSpPr>
          <p:nvPr/>
        </p:nvSpPr>
        <p:spPr>
          <a:xfrm xmlns:a="http://schemas.openxmlformats.org/drawingml/2006/main">
            <a:off x="9944100" y="3790950"/>
            <a:ext cx="685800" cy="266700"/>
          </a:xfrm>
          <a:prstGeom xmlns:a="http://schemas.openxmlformats.org/drawingml/2006/main" prst="roundRect">
            <a:avLst>
              <a:gd name="adj" fmla="val 2857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B2CD1D03-7B78-49F9-B50E-520A2E7A01C0}"/>
              </a:ext>
            </a:extLst>
          </p:cNvPr>
          <p:cNvSpPr>
            <a:spLocks xmlns:a="http://schemas.openxmlformats.org/drawingml/2006/main" noGrp="1"/>
          </p:cNvSpPr>
          <p:nvPr/>
        </p:nvSpPr>
        <p:spPr>
          <a:xfrm xmlns:a="http://schemas.openxmlformats.org/drawingml/2006/main">
            <a:off x="10058400" y="382905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1765B"/>
                </a:solidFill>
              </a:defRPr>
            </a:pPr>
            <a:r>
              <a:rPr sz="900" b="1">
                <a:solidFill>
                  <a:srgbClr val="F1765B"/>
                </a:solidFill>
              </a:rPr>
              <a:t>核心表</a:t>
            </a:r>
          </a:p>
        </p:txBody>
      </p:sp>
      <p:sp>
        <p:nvSpPr>
          <p:cNvPr id="48" name="">
            <a:extLst xmlns:a="http://schemas.openxmlformats.org/drawingml/2006/main">
              <a:ext uri="{FF2B5EF4-FFF2-40B4-BE49-F238E27FC236}">
                <a16:creationId xmlns:a16="http://schemas.microsoft.com/office/drawing/2014/main" id="{E075A371-0D56-41DC-AB92-0B8A7D30ACEC}"/>
              </a:ext>
            </a:extLst>
          </p:cNvPr>
          <p:cNvSpPr>
            <a:spLocks xmlns:a="http://schemas.openxmlformats.org/drawingml/2006/main" noGrp="1"/>
          </p:cNvSpPr>
          <p:nvPr/>
        </p:nvSpPr>
        <p:spPr>
          <a:xfrm xmlns:a="http://schemas.openxmlformats.org/drawingml/2006/main">
            <a:off x="8248650" y="4629150"/>
            <a:ext cx="25717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2EC"/>
            </a:solidFill>
            <a:prstDash val="solid"/>
          </a:ln>
        </p:spPr>
      </p:sp>
      <p:sp>
        <p:nvSpPr>
          <p:cNvPr id="49" name="">
            <a:extLst xmlns:a="http://schemas.openxmlformats.org/drawingml/2006/main">
              <a:ext uri="{FF2B5EF4-FFF2-40B4-BE49-F238E27FC236}">
                <a16:creationId xmlns:a16="http://schemas.microsoft.com/office/drawing/2014/main" id="{9D85BB3F-5506-4AF8-A13C-656DB705E27C}"/>
              </a:ext>
            </a:extLst>
          </p:cNvPr>
          <p:cNvSpPr>
            <a:spLocks xmlns:a="http://schemas.openxmlformats.org/drawingml/2006/main" noGrp="1"/>
          </p:cNvSpPr>
          <p:nvPr/>
        </p:nvSpPr>
        <p:spPr>
          <a:xfrm xmlns:a="http://schemas.openxmlformats.org/drawingml/2006/main">
            <a:off x="8248650" y="4629150"/>
            <a:ext cx="76200" cy="781050"/>
          </a:xfrm>
          <a:prstGeom xmlns:a="http://schemas.openxmlformats.org/drawingml/2006/main" prst="rect">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06ABC151-E426-4751-B1C2-DA113618FC55}"/>
              </a:ext>
            </a:extLst>
          </p:cNvPr>
          <p:cNvSpPr>
            <a:spLocks xmlns:a="http://schemas.openxmlformats.org/drawingml/2006/main" noGrp="1"/>
          </p:cNvSpPr>
          <p:nvPr/>
        </p:nvSpPr>
        <p:spPr>
          <a:xfrm xmlns:a="http://schemas.openxmlformats.org/drawingml/2006/main">
            <a:off x="8458200" y="4781550"/>
            <a:ext cx="2152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achievement</a:t>
            </a:r>
          </a:p>
        </p:txBody>
      </p:sp>
      <p:sp>
        <p:nvSpPr>
          <p:cNvPr id="51" name="">
            <a:extLst xmlns:a="http://schemas.openxmlformats.org/drawingml/2006/main">
              <a:ext uri="{FF2B5EF4-FFF2-40B4-BE49-F238E27FC236}">
                <a16:creationId xmlns:a16="http://schemas.microsoft.com/office/drawing/2014/main" id="{FB4DBFD0-20FA-4EFA-86C3-831FE083D231}"/>
              </a:ext>
            </a:extLst>
          </p:cNvPr>
          <p:cNvSpPr>
            <a:spLocks xmlns:a="http://schemas.openxmlformats.org/drawingml/2006/main" noGrp="1"/>
          </p:cNvSpPr>
          <p:nvPr/>
        </p:nvSpPr>
        <p:spPr>
          <a:xfrm xmlns:a="http://schemas.openxmlformats.org/drawingml/2006/main">
            <a:off x="8458200" y="5029200"/>
            <a:ext cx="2152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成果名称、类型、级别、发布日期</a:t>
            </a:r>
          </a:p>
        </p:txBody>
      </p:sp>
      <p:sp>
        <p:nvSpPr>
          <p:cNvPr id="52" name="">
            <a:extLst xmlns:a="http://schemas.openxmlformats.org/drawingml/2006/main">
              <a:ext uri="{FF2B5EF4-FFF2-40B4-BE49-F238E27FC236}">
                <a16:creationId xmlns:a16="http://schemas.microsoft.com/office/drawing/2014/main" id="{3F05C7A1-FD4E-4375-8927-30676C1DD18C}"/>
              </a:ext>
            </a:extLst>
          </p:cNvPr>
          <p:cNvSpPr>
            <a:spLocks xmlns:a="http://schemas.openxmlformats.org/drawingml/2006/main" noGrp="1"/>
          </p:cNvSpPr>
          <p:nvPr/>
        </p:nvSpPr>
        <p:spPr>
          <a:xfrm xmlns:a="http://schemas.openxmlformats.org/drawingml/2006/main">
            <a:off x="9944100" y="4762500"/>
            <a:ext cx="6858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E508FD47-1F15-4622-9B38-551D6CEAA928}"/>
              </a:ext>
            </a:extLst>
          </p:cNvPr>
          <p:cNvSpPr>
            <a:spLocks xmlns:a="http://schemas.openxmlformats.org/drawingml/2006/main" noGrp="1"/>
          </p:cNvSpPr>
          <p:nvPr/>
        </p:nvSpPr>
        <p:spPr>
          <a:xfrm xmlns:a="http://schemas.openxmlformats.org/drawingml/2006/main">
            <a:off x="10058400" y="48006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核心表</a:t>
            </a:r>
          </a:p>
        </p:txBody>
      </p:sp>
      <p:sp>
        <p:nvSpPr>
          <p:cNvPr id="54" name="">
            <a:extLst xmlns:a="http://schemas.openxmlformats.org/drawingml/2006/main">
              <a:ext uri="{FF2B5EF4-FFF2-40B4-BE49-F238E27FC236}">
                <a16:creationId xmlns:a16="http://schemas.microsoft.com/office/drawing/2014/main" id="{B6BEF310-D5DA-435D-8040-A353A9FA8106}"/>
              </a:ext>
            </a:extLst>
          </p:cNvPr>
          <p:cNvSpPr>
            <a:spLocks xmlns:a="http://schemas.openxmlformats.org/drawingml/2006/main" noGrp="1"/>
          </p:cNvSpPr>
          <p:nvPr/>
        </p:nvSpPr>
        <p:spPr>
          <a:xfrm xmlns:a="http://schemas.openxmlformats.org/drawingml/2006/main">
            <a:off x="4400550" y="4305300"/>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9E2EC"/>
            </a:solidFill>
            <a:prstDash val="solid"/>
          </a:ln>
        </p:spPr>
      </p:sp>
      <p:sp>
        <p:nvSpPr>
          <p:cNvPr id="55" name="">
            <a:extLst xmlns:a="http://schemas.openxmlformats.org/drawingml/2006/main">
              <a:ext uri="{FF2B5EF4-FFF2-40B4-BE49-F238E27FC236}">
                <a16:creationId xmlns:a16="http://schemas.microsoft.com/office/drawing/2014/main" id="{551A72F9-CED0-464F-9AB4-8EF612502CB4}"/>
              </a:ext>
            </a:extLst>
          </p:cNvPr>
          <p:cNvSpPr>
            <a:spLocks xmlns:a="http://schemas.openxmlformats.org/drawingml/2006/main" noGrp="1"/>
          </p:cNvSpPr>
          <p:nvPr/>
        </p:nvSpPr>
        <p:spPr>
          <a:xfrm xmlns:a="http://schemas.openxmlformats.org/drawingml/2006/main">
            <a:off x="4400550" y="4305300"/>
            <a:ext cx="76200" cy="876300"/>
          </a:xfrm>
          <a:prstGeom xmlns:a="http://schemas.openxmlformats.org/drawingml/2006/main" prst="rect">
            <a:avLst/>
          </a:prstGeom>
          <a:solidFill xmlns:a="http://schemas.openxmlformats.org/drawingml/2006/main">
            <a:srgbClr val="5B8FF9"/>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118A7394-9619-44F6-AA88-0199BABEF169}"/>
              </a:ext>
            </a:extLst>
          </p:cNvPr>
          <p:cNvSpPr>
            <a:spLocks xmlns:a="http://schemas.openxmlformats.org/drawingml/2006/main" noGrp="1"/>
          </p:cNvSpPr>
          <p:nvPr/>
        </p:nvSpPr>
        <p:spPr>
          <a:xfrm xmlns:a="http://schemas.openxmlformats.org/drawingml/2006/main">
            <a:off x="4610100" y="4457700"/>
            <a:ext cx="2438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A43"/>
                </a:solidFill>
              </a:defRPr>
            </a:pPr>
            <a:r>
              <a:rPr sz="1275" b="1">
                <a:solidFill>
                  <a:srgbClr val="102A43"/>
                </a:solidFill>
              </a:rPr>
              <a:t>budget</a:t>
            </a:r>
          </a:p>
        </p:txBody>
      </p:sp>
      <p:sp>
        <p:nvSpPr>
          <p:cNvPr id="57" name="">
            <a:extLst xmlns:a="http://schemas.openxmlformats.org/drawingml/2006/main">
              <a:ext uri="{FF2B5EF4-FFF2-40B4-BE49-F238E27FC236}">
                <a16:creationId xmlns:a16="http://schemas.microsoft.com/office/drawing/2014/main" id="{802DC10A-97D1-4097-9314-1EF7E3178C4B}"/>
              </a:ext>
            </a:extLst>
          </p:cNvPr>
          <p:cNvSpPr>
            <a:spLocks xmlns:a="http://schemas.openxmlformats.org/drawingml/2006/main" noGrp="1"/>
          </p:cNvSpPr>
          <p:nvPr/>
        </p:nvSpPr>
        <p:spPr>
          <a:xfrm xmlns:a="http://schemas.openxmlformats.org/drawingml/2006/main">
            <a:off x="4610100" y="4705350"/>
            <a:ext cx="2438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86581"/>
                </a:solidFill>
              </a:defRPr>
            </a:pPr>
            <a:r>
              <a:rPr sz="825" b="0">
                <a:solidFill>
                  <a:srgbClr val="486581"/>
                </a:solidFill>
              </a:rPr>
              <a:t>预算明细与执行对比</a:t>
            </a:r>
          </a:p>
        </p:txBody>
      </p:sp>
      <p:sp>
        <p:nvSpPr>
          <p:cNvPr id="58" name="">
            <a:extLst xmlns:a="http://schemas.openxmlformats.org/drawingml/2006/main">
              <a:ext uri="{FF2B5EF4-FFF2-40B4-BE49-F238E27FC236}">
                <a16:creationId xmlns:a16="http://schemas.microsoft.com/office/drawing/2014/main" id="{53200FCD-4842-4929-83E9-D73B43ED08E2}"/>
              </a:ext>
            </a:extLst>
          </p:cNvPr>
          <p:cNvSpPr>
            <a:spLocks xmlns:a="http://schemas.openxmlformats.org/drawingml/2006/main" noGrp="1"/>
          </p:cNvSpPr>
          <p:nvPr/>
        </p:nvSpPr>
        <p:spPr>
          <a:xfrm xmlns:a="http://schemas.openxmlformats.org/drawingml/2006/main">
            <a:off x="6381750" y="4438650"/>
            <a:ext cx="685800" cy="266700"/>
          </a:xfrm>
          <a:prstGeom xmlns:a="http://schemas.openxmlformats.org/drawingml/2006/main" prst="roundRect">
            <a:avLst>
              <a:gd name="adj" fmla="val 28571"/>
            </a:avLst>
          </a:prstGeom>
          <a:solidFill xmlns:a="http://schemas.openxmlformats.org/drawingml/2006/main">
            <a:srgbClr val="EEF2FF"/>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A2002A81-9D0B-4E01-B20C-EBC591846742}"/>
              </a:ext>
            </a:extLst>
          </p:cNvPr>
          <p:cNvSpPr>
            <a:spLocks xmlns:a="http://schemas.openxmlformats.org/drawingml/2006/main" noGrp="1"/>
          </p:cNvSpPr>
          <p:nvPr/>
        </p:nvSpPr>
        <p:spPr>
          <a:xfrm xmlns:a="http://schemas.openxmlformats.org/drawingml/2006/main">
            <a:off x="6496050" y="447675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5B8FF9"/>
                </a:solidFill>
              </a:defRPr>
            </a:pPr>
            <a:r>
              <a:rPr sz="900" b="1">
                <a:solidFill>
                  <a:srgbClr val="5B8FF9"/>
                </a:solidFill>
              </a:rPr>
              <a:t>核心表</a:t>
            </a:r>
          </a:p>
        </p:txBody>
      </p:sp>
      <p:sp>
        <p:nvSpPr>
          <p:cNvPr id="60" name="">
            <a:extLst xmlns:a="http://schemas.openxmlformats.org/drawingml/2006/main">
              <a:ext uri="{FF2B5EF4-FFF2-40B4-BE49-F238E27FC236}">
                <a16:creationId xmlns:a16="http://schemas.microsoft.com/office/drawing/2014/main" id="{D7F5B7A1-18BC-4452-A5AF-710AD03AEC68}"/>
              </a:ext>
            </a:extLst>
          </p:cNvPr>
          <p:cNvSpPr>
            <a:spLocks xmlns:a="http://schemas.openxmlformats.org/drawingml/2006/main" noGrp="1"/>
          </p:cNvSpPr>
          <p:nvPr/>
        </p:nvSpPr>
        <p:spPr>
          <a:xfrm xmlns:a="http://schemas.openxmlformats.org/drawingml/2006/main">
            <a:off x="2971800" y="2286000"/>
            <a:ext cx="11811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C9E4E457-2E38-41FD-8A14-AE906314D99F}"/>
              </a:ext>
            </a:extLst>
          </p:cNvPr>
          <p:cNvSpPr>
            <a:spLocks xmlns:a="http://schemas.openxmlformats.org/drawingml/2006/main" noGrp="1"/>
          </p:cNvSpPr>
          <p:nvPr/>
        </p:nvSpPr>
        <p:spPr>
          <a:xfrm xmlns:a="http://schemas.openxmlformats.org/drawingml/2006/main">
            <a:off x="3048000" y="2305050"/>
            <a:ext cx="10287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关联</a:t>
            </a:r>
          </a:p>
        </p:txBody>
      </p:sp>
      <p:sp>
        <p:nvSpPr>
          <p:cNvPr id="62" name="">
            <a:extLst xmlns:a="http://schemas.openxmlformats.org/drawingml/2006/main">
              <a:ext uri="{FF2B5EF4-FFF2-40B4-BE49-F238E27FC236}">
                <a16:creationId xmlns:a16="http://schemas.microsoft.com/office/drawing/2014/main" id="{E5160DF2-6F74-45A3-B72A-04AAC50CC3E6}"/>
              </a:ext>
            </a:extLst>
          </p:cNvPr>
          <p:cNvSpPr>
            <a:spLocks xmlns:a="http://schemas.openxmlformats.org/drawingml/2006/main" noGrp="1"/>
          </p:cNvSpPr>
          <p:nvPr/>
        </p:nvSpPr>
        <p:spPr>
          <a:xfrm xmlns:a="http://schemas.openxmlformats.org/drawingml/2006/main">
            <a:off x="2971800" y="3276600"/>
            <a:ext cx="11811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74B1F097-7DBD-4F02-9BE0-FBA834DB1F97}"/>
              </a:ext>
            </a:extLst>
          </p:cNvPr>
          <p:cNvSpPr>
            <a:spLocks xmlns:a="http://schemas.openxmlformats.org/drawingml/2006/main" noGrp="1"/>
          </p:cNvSpPr>
          <p:nvPr/>
        </p:nvSpPr>
        <p:spPr>
          <a:xfrm xmlns:a="http://schemas.openxmlformats.org/drawingml/2006/main">
            <a:off x="3048000" y="3295650"/>
            <a:ext cx="10287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关联</a:t>
            </a:r>
          </a:p>
        </p:txBody>
      </p:sp>
      <p:sp>
        <p:nvSpPr>
          <p:cNvPr id="64" name="">
            <a:extLst xmlns:a="http://schemas.openxmlformats.org/drawingml/2006/main">
              <a:ext uri="{FF2B5EF4-FFF2-40B4-BE49-F238E27FC236}">
                <a16:creationId xmlns:a16="http://schemas.microsoft.com/office/drawing/2014/main" id="{A60184F3-515A-47A9-89F3-C5D8EF355502}"/>
              </a:ext>
            </a:extLst>
          </p:cNvPr>
          <p:cNvSpPr>
            <a:spLocks xmlns:a="http://schemas.openxmlformats.org/drawingml/2006/main" noGrp="1"/>
          </p:cNvSpPr>
          <p:nvPr/>
        </p:nvSpPr>
        <p:spPr>
          <a:xfrm xmlns:a="http://schemas.openxmlformats.org/drawingml/2006/main">
            <a:off x="2971800" y="4248150"/>
            <a:ext cx="11811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269CF084-D7CD-4B1C-9DD4-F490B5D3FB35}"/>
              </a:ext>
            </a:extLst>
          </p:cNvPr>
          <p:cNvSpPr>
            <a:spLocks xmlns:a="http://schemas.openxmlformats.org/drawingml/2006/main" noGrp="1"/>
          </p:cNvSpPr>
          <p:nvPr/>
        </p:nvSpPr>
        <p:spPr>
          <a:xfrm xmlns:a="http://schemas.openxmlformats.org/drawingml/2006/main">
            <a:off x="3048000" y="4267200"/>
            <a:ext cx="10287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关联</a:t>
            </a:r>
          </a:p>
        </p:txBody>
      </p:sp>
      <p:sp>
        <p:nvSpPr>
          <p:cNvPr id="66" name="">
            <a:extLst xmlns:a="http://schemas.openxmlformats.org/drawingml/2006/main">
              <a:ext uri="{FF2B5EF4-FFF2-40B4-BE49-F238E27FC236}">
                <a16:creationId xmlns:a16="http://schemas.microsoft.com/office/drawing/2014/main" id="{DB449FF5-C345-4296-9EEF-7B37BA4FFDA6}"/>
              </a:ext>
            </a:extLst>
          </p:cNvPr>
          <p:cNvSpPr>
            <a:spLocks xmlns:a="http://schemas.openxmlformats.org/drawingml/2006/main" noGrp="1"/>
          </p:cNvSpPr>
          <p:nvPr/>
        </p:nvSpPr>
        <p:spPr>
          <a:xfrm xmlns:a="http://schemas.openxmlformats.org/drawingml/2006/main">
            <a:off x="7410450" y="2019300"/>
            <a:ext cx="685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32D2C8F5-075F-42A5-A9EC-6C3A2BD200C2}"/>
              </a:ext>
            </a:extLst>
          </p:cNvPr>
          <p:cNvSpPr>
            <a:spLocks xmlns:a="http://schemas.openxmlformats.org/drawingml/2006/main" noGrp="1"/>
          </p:cNvSpPr>
          <p:nvPr/>
        </p:nvSpPr>
        <p:spPr>
          <a:xfrm xmlns:a="http://schemas.openxmlformats.org/drawingml/2006/main">
            <a:off x="7486650" y="2038350"/>
            <a:ext cx="533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驱动</a:t>
            </a:r>
          </a:p>
        </p:txBody>
      </p:sp>
      <p:sp>
        <p:nvSpPr>
          <p:cNvPr id="68" name="">
            <a:extLst xmlns:a="http://schemas.openxmlformats.org/drawingml/2006/main">
              <a:ext uri="{FF2B5EF4-FFF2-40B4-BE49-F238E27FC236}">
                <a16:creationId xmlns:a16="http://schemas.microsoft.com/office/drawing/2014/main" id="{D2CA5377-6596-4EA6-BC66-1D84AED36B50}"/>
              </a:ext>
            </a:extLst>
          </p:cNvPr>
          <p:cNvSpPr>
            <a:spLocks xmlns:a="http://schemas.openxmlformats.org/drawingml/2006/main" noGrp="1"/>
          </p:cNvSpPr>
          <p:nvPr/>
        </p:nvSpPr>
        <p:spPr>
          <a:xfrm xmlns:a="http://schemas.openxmlformats.org/drawingml/2006/main">
            <a:off x="7410450" y="2990850"/>
            <a:ext cx="685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D082B593-BD1D-4B05-9F2B-C73310689EEA}"/>
              </a:ext>
            </a:extLst>
          </p:cNvPr>
          <p:cNvSpPr>
            <a:spLocks xmlns:a="http://schemas.openxmlformats.org/drawingml/2006/main" noGrp="1"/>
          </p:cNvSpPr>
          <p:nvPr/>
        </p:nvSpPr>
        <p:spPr>
          <a:xfrm xmlns:a="http://schemas.openxmlformats.org/drawingml/2006/main">
            <a:off x="7486650" y="3009900"/>
            <a:ext cx="533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驱动</a:t>
            </a:r>
          </a:p>
        </p:txBody>
      </p:sp>
      <p:sp>
        <p:nvSpPr>
          <p:cNvPr id="70" name="">
            <a:extLst xmlns:a="http://schemas.openxmlformats.org/drawingml/2006/main">
              <a:ext uri="{FF2B5EF4-FFF2-40B4-BE49-F238E27FC236}">
                <a16:creationId xmlns:a16="http://schemas.microsoft.com/office/drawing/2014/main" id="{C7D1253F-F945-440D-8B23-B919C8CD61D4}"/>
              </a:ext>
            </a:extLst>
          </p:cNvPr>
          <p:cNvSpPr>
            <a:spLocks xmlns:a="http://schemas.openxmlformats.org/drawingml/2006/main" noGrp="1"/>
          </p:cNvSpPr>
          <p:nvPr/>
        </p:nvSpPr>
        <p:spPr>
          <a:xfrm xmlns:a="http://schemas.openxmlformats.org/drawingml/2006/main">
            <a:off x="7410450" y="3962400"/>
            <a:ext cx="685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B5FE0341-F301-4026-BF42-1C069D0FA5FD}"/>
              </a:ext>
            </a:extLst>
          </p:cNvPr>
          <p:cNvSpPr>
            <a:spLocks xmlns:a="http://schemas.openxmlformats.org/drawingml/2006/main" noGrp="1"/>
          </p:cNvSpPr>
          <p:nvPr/>
        </p:nvSpPr>
        <p:spPr>
          <a:xfrm xmlns:a="http://schemas.openxmlformats.org/drawingml/2006/main">
            <a:off x="7486650" y="3981450"/>
            <a:ext cx="533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驱动</a:t>
            </a:r>
          </a:p>
        </p:txBody>
      </p:sp>
      <p:sp>
        <p:nvSpPr>
          <p:cNvPr id="72" name="">
            <a:extLst xmlns:a="http://schemas.openxmlformats.org/drawingml/2006/main">
              <a:ext uri="{FF2B5EF4-FFF2-40B4-BE49-F238E27FC236}">
                <a16:creationId xmlns:a16="http://schemas.microsoft.com/office/drawing/2014/main" id="{0A5A4C5F-1627-46AC-A773-A87EC43C30D7}"/>
              </a:ext>
            </a:extLst>
          </p:cNvPr>
          <p:cNvSpPr>
            <a:spLocks xmlns:a="http://schemas.openxmlformats.org/drawingml/2006/main" noGrp="1"/>
          </p:cNvSpPr>
          <p:nvPr/>
        </p:nvSpPr>
        <p:spPr>
          <a:xfrm xmlns:a="http://schemas.openxmlformats.org/drawingml/2006/main">
            <a:off x="7410450" y="4933950"/>
            <a:ext cx="685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4A47C18C-3A3C-4578-A243-7A1B8FDC5E36}"/>
              </a:ext>
            </a:extLst>
          </p:cNvPr>
          <p:cNvSpPr>
            <a:spLocks xmlns:a="http://schemas.openxmlformats.org/drawingml/2006/main" noGrp="1"/>
          </p:cNvSpPr>
          <p:nvPr/>
        </p:nvSpPr>
        <p:spPr>
          <a:xfrm xmlns:a="http://schemas.openxmlformats.org/drawingml/2006/main">
            <a:off x="7486650" y="4953000"/>
            <a:ext cx="533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归档</a:t>
            </a:r>
          </a:p>
        </p:txBody>
      </p:sp>
      <p:sp>
        <p:nvSpPr>
          <p:cNvPr id="74" name="">
            <a:extLst xmlns:a="http://schemas.openxmlformats.org/drawingml/2006/main">
              <a:ext uri="{FF2B5EF4-FFF2-40B4-BE49-F238E27FC236}">
                <a16:creationId xmlns:a16="http://schemas.microsoft.com/office/drawing/2014/main" id="{F216CD22-A7E3-4E51-A87A-029066D6ABCB}"/>
              </a:ext>
            </a:extLst>
          </p:cNvPr>
          <p:cNvSpPr>
            <a:spLocks xmlns:a="http://schemas.openxmlformats.org/drawingml/2006/main" noGrp="1"/>
          </p:cNvSpPr>
          <p:nvPr/>
        </p:nvSpPr>
        <p:spPr>
          <a:xfrm xmlns:a="http://schemas.openxmlformats.org/drawingml/2006/main">
            <a:off x="5467350" y="4057650"/>
            <a:ext cx="685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DA65749C-6CD3-4CDD-9C61-422D948F3A43}"/>
              </a:ext>
            </a:extLst>
          </p:cNvPr>
          <p:cNvSpPr>
            <a:spLocks xmlns:a="http://schemas.openxmlformats.org/drawingml/2006/main" noGrp="1"/>
          </p:cNvSpPr>
          <p:nvPr/>
        </p:nvSpPr>
        <p:spPr>
          <a:xfrm xmlns:a="http://schemas.openxmlformats.org/drawingml/2006/main">
            <a:off x="5543550" y="4076700"/>
            <a:ext cx="533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00" b="0">
                <a:solidFill>
                  <a:srgbClr val="7B8794"/>
                </a:solidFill>
              </a:defRPr>
            </a:pPr>
            <a:r>
              <a:rPr sz="600" b="0">
                <a:solidFill>
                  <a:srgbClr val="7B8794"/>
                </a:solidFill>
              </a:rPr>
              <a:t>预算</a:t>
            </a:r>
          </a:p>
        </p:txBody>
      </p:sp>
    </p:spTree>
    <p:extLst>
      <p:ext uri="{BB962C8B-B14F-4D97-AF65-F5344CB8AC3E}">
        <p14:creationId xmlns:p14="http://schemas.microsoft.com/office/powerpoint/2010/main" val="1611275909"/>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C4E7634-3007-41DA-9116-D79886BD2C5E}"/>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33FA5E9-722E-4225-9A2A-2E574223EC26}"/>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9947181-A8DD-47E1-8AF2-BCBBED64EFB3}"/>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FLOW</a:t>
            </a:r>
          </a:p>
        </p:txBody>
      </p:sp>
      <p:sp>
        <p:nvSpPr>
          <p:cNvPr id="5" name="">
            <a:extLst xmlns:a="http://schemas.openxmlformats.org/drawingml/2006/main">
              <a:ext uri="{FF2B5EF4-FFF2-40B4-BE49-F238E27FC236}">
                <a16:creationId xmlns:a16="http://schemas.microsoft.com/office/drawing/2014/main" id="{390F321A-E682-41F6-99F8-54598290A3DF}"/>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09</a:t>
            </a:r>
          </a:p>
        </p:txBody>
      </p:sp>
      <p:sp>
        <p:nvSpPr>
          <p:cNvPr id="6" name="">
            <a:extLst xmlns:a="http://schemas.openxmlformats.org/drawingml/2006/main">
              <a:ext uri="{FF2B5EF4-FFF2-40B4-BE49-F238E27FC236}">
                <a16:creationId xmlns:a16="http://schemas.microsoft.com/office/drawing/2014/main" id="{0133AD9E-FDD5-4F5E-9FB8-9A63D34B4675}"/>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项目生命周期与流程控制</a:t>
            </a:r>
          </a:p>
        </p:txBody>
      </p:sp>
      <p:sp>
        <p:nvSpPr>
          <p:cNvPr id="7" name="">
            <a:extLst xmlns:a="http://schemas.openxmlformats.org/drawingml/2006/main">
              <a:ext uri="{FF2B5EF4-FFF2-40B4-BE49-F238E27FC236}">
                <a16:creationId xmlns:a16="http://schemas.microsoft.com/office/drawing/2014/main" id="{10823D5E-C5FE-4921-A6DA-A8E34C3F30E0}"/>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后端以顺序审批逻辑控制阶段推进，并在结题后自动生成成果记录。</a:t>
            </a:r>
          </a:p>
        </p:txBody>
      </p:sp>
      <p:sp>
        <p:nvSpPr>
          <p:cNvPr id="8" name="">
            <a:extLst xmlns:a="http://schemas.openxmlformats.org/drawingml/2006/main">
              <a:ext uri="{FF2B5EF4-FFF2-40B4-BE49-F238E27FC236}">
                <a16:creationId xmlns:a16="http://schemas.microsoft.com/office/drawing/2014/main" id="{51E918BA-4BD9-4656-9CAD-9607A99C8EFB}"/>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3C2CF75-6C9A-45BE-9A7D-8E261FA25E55}"/>
              </a:ext>
            </a:extLst>
          </p:cNvPr>
          <p:cNvSpPr>
            <a:spLocks xmlns:a="http://schemas.openxmlformats.org/drawingml/2006/main" noGrp="1"/>
          </p:cNvSpPr>
          <p:nvPr/>
        </p:nvSpPr>
        <p:spPr>
          <a:xfrm xmlns:a="http://schemas.openxmlformats.org/drawingml/2006/main">
            <a:off x="685800" y="1943100"/>
            <a:ext cx="15621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99FCF07E-E208-4668-9E0C-80ED8A6C57DE}"/>
              </a:ext>
            </a:extLst>
          </p:cNvPr>
          <p:cNvSpPr>
            <a:spLocks xmlns:a="http://schemas.openxmlformats.org/drawingml/2006/main" noGrp="1"/>
          </p:cNvSpPr>
          <p:nvPr/>
        </p:nvSpPr>
        <p:spPr>
          <a:xfrm xmlns:a="http://schemas.openxmlformats.org/drawingml/2006/main">
            <a:off x="1181100" y="2114550"/>
            <a:ext cx="571500" cy="571500"/>
          </a:xfrm>
          <a:prstGeom xmlns:a="http://schemas.openxmlformats.org/drawingml/2006/main" prst="ellipse">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0A9F350-CAFB-4A0C-9CD5-2803DDADD575}"/>
              </a:ext>
            </a:extLst>
          </p:cNvPr>
          <p:cNvSpPr>
            <a:spLocks xmlns:a="http://schemas.openxmlformats.org/drawingml/2006/main" noGrp="1"/>
          </p:cNvSpPr>
          <p:nvPr/>
        </p:nvSpPr>
        <p:spPr>
          <a:xfrm xmlns:a="http://schemas.openxmlformats.org/drawingml/2006/main">
            <a:off x="1181100" y="228600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8B6B0"/>
                </a:solidFill>
              </a:defRPr>
            </a:pPr>
            <a:r>
              <a:rPr sz="1350" b="1">
                <a:solidFill>
                  <a:srgbClr val="18B6B0"/>
                </a:solidFill>
              </a:rPr>
              <a:t>1</a:t>
            </a:r>
          </a:p>
        </p:txBody>
      </p:sp>
      <p:sp>
        <p:nvSpPr>
          <p:cNvPr id="12" name="">
            <a:extLst xmlns:a="http://schemas.openxmlformats.org/drawingml/2006/main">
              <a:ext uri="{FF2B5EF4-FFF2-40B4-BE49-F238E27FC236}">
                <a16:creationId xmlns:a16="http://schemas.microsoft.com/office/drawing/2014/main" id="{660AB795-783E-4FBF-B633-E14F04713A18}"/>
              </a:ext>
            </a:extLst>
          </p:cNvPr>
          <p:cNvSpPr>
            <a:spLocks xmlns:a="http://schemas.openxmlformats.org/drawingml/2006/main" noGrp="1"/>
          </p:cNvSpPr>
          <p:nvPr/>
        </p:nvSpPr>
        <p:spPr>
          <a:xfrm xmlns:a="http://schemas.openxmlformats.org/drawingml/2006/main">
            <a:off x="857250" y="283845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02A43"/>
                </a:solidFill>
              </a:defRPr>
            </a:pPr>
            <a:r>
              <a:rPr sz="1200" b="1">
                <a:solidFill>
                  <a:srgbClr val="102A43"/>
                </a:solidFill>
              </a:rPr>
              <a:t>立项申报</a:t>
            </a:r>
          </a:p>
        </p:txBody>
      </p:sp>
      <p:sp>
        <p:nvSpPr>
          <p:cNvPr id="13" name="">
            <a:extLst xmlns:a="http://schemas.openxmlformats.org/drawingml/2006/main">
              <a:ext uri="{FF2B5EF4-FFF2-40B4-BE49-F238E27FC236}">
                <a16:creationId xmlns:a16="http://schemas.microsoft.com/office/drawing/2014/main" id="{7FBE59D6-94CA-4941-A949-86ED229E8EC9}"/>
              </a:ext>
            </a:extLst>
          </p:cNvPr>
          <p:cNvSpPr>
            <a:spLocks xmlns:a="http://schemas.openxmlformats.org/drawingml/2006/main" noGrp="1"/>
          </p:cNvSpPr>
          <p:nvPr/>
        </p:nvSpPr>
        <p:spPr>
          <a:xfrm xmlns:a="http://schemas.openxmlformats.org/drawingml/2006/main">
            <a:off x="857250" y="30861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0">
                <a:solidFill>
                  <a:srgbClr val="486581"/>
                </a:solidFill>
              </a:defRPr>
            </a:pPr>
            <a:r>
              <a:rPr sz="750" b="0">
                <a:solidFill>
                  <a:srgbClr val="486581"/>
                </a:solidFill>
              </a:rPr>
              <a:t>创建项目与预算，初始化流程节点</a:t>
            </a:r>
          </a:p>
        </p:txBody>
      </p:sp>
      <p:sp>
        <p:nvSpPr>
          <p:cNvPr id="14" name="">
            <a:extLst xmlns:a="http://schemas.openxmlformats.org/drawingml/2006/main">
              <a:ext uri="{FF2B5EF4-FFF2-40B4-BE49-F238E27FC236}">
                <a16:creationId xmlns:a16="http://schemas.microsoft.com/office/drawing/2014/main" id="{DAF68FBB-76DF-453D-B29E-B9F738868016}"/>
              </a:ext>
            </a:extLst>
          </p:cNvPr>
          <p:cNvSpPr>
            <a:spLocks xmlns:a="http://schemas.openxmlformats.org/drawingml/2006/main" noGrp="1"/>
          </p:cNvSpPr>
          <p:nvPr/>
        </p:nvSpPr>
        <p:spPr>
          <a:xfrm xmlns:a="http://schemas.openxmlformats.org/drawingml/2006/main">
            <a:off x="2171700" y="2590800"/>
            <a:ext cx="304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175660F-0F47-4A3B-8353-0A2832F6398A}"/>
              </a:ext>
            </a:extLst>
          </p:cNvPr>
          <p:cNvSpPr>
            <a:spLocks xmlns:a="http://schemas.openxmlformats.org/drawingml/2006/main" noGrp="1"/>
          </p:cNvSpPr>
          <p:nvPr/>
        </p:nvSpPr>
        <p:spPr>
          <a:xfrm xmlns:a="http://schemas.openxmlformats.org/drawingml/2006/main">
            <a:off x="2495550" y="1943100"/>
            <a:ext cx="15621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C"/>
            </a:solidFill>
            <a:prstDash val="solid"/>
          </a:ln>
        </p:spPr>
      </p:sp>
      <p:sp>
        <p:nvSpPr>
          <p:cNvPr id="16" name="">
            <a:extLst xmlns:a="http://schemas.openxmlformats.org/drawingml/2006/main">
              <a:ext uri="{FF2B5EF4-FFF2-40B4-BE49-F238E27FC236}">
                <a16:creationId xmlns:a16="http://schemas.microsoft.com/office/drawing/2014/main" id="{B5C3881F-A532-4ECC-91AA-DF09A9C75E19}"/>
              </a:ext>
            </a:extLst>
          </p:cNvPr>
          <p:cNvSpPr>
            <a:spLocks xmlns:a="http://schemas.openxmlformats.org/drawingml/2006/main" noGrp="1"/>
          </p:cNvSpPr>
          <p:nvPr/>
        </p:nvSpPr>
        <p:spPr>
          <a:xfrm xmlns:a="http://schemas.openxmlformats.org/drawingml/2006/main">
            <a:off x="2990850" y="2114550"/>
            <a:ext cx="571500" cy="571500"/>
          </a:xfrm>
          <a:prstGeom xmlns:a="http://schemas.openxmlformats.org/drawingml/2006/main" prst="ellipse">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6088DB2-FFA5-46F4-B776-CAD2E484080A}"/>
              </a:ext>
            </a:extLst>
          </p:cNvPr>
          <p:cNvSpPr>
            <a:spLocks xmlns:a="http://schemas.openxmlformats.org/drawingml/2006/main" noGrp="1"/>
          </p:cNvSpPr>
          <p:nvPr/>
        </p:nvSpPr>
        <p:spPr>
          <a:xfrm xmlns:a="http://schemas.openxmlformats.org/drawingml/2006/main">
            <a:off x="2990850" y="228600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2B35E"/>
                </a:solidFill>
              </a:defRPr>
            </a:pPr>
            <a:r>
              <a:rPr sz="1350" b="1">
                <a:solidFill>
                  <a:srgbClr val="F2B35E"/>
                </a:solidFill>
              </a:rPr>
              <a:t>2</a:t>
            </a:r>
          </a:p>
        </p:txBody>
      </p:sp>
      <p:sp>
        <p:nvSpPr>
          <p:cNvPr id="18" name="">
            <a:extLst xmlns:a="http://schemas.openxmlformats.org/drawingml/2006/main">
              <a:ext uri="{FF2B5EF4-FFF2-40B4-BE49-F238E27FC236}">
                <a16:creationId xmlns:a16="http://schemas.microsoft.com/office/drawing/2014/main" id="{FFC5E589-3649-43CB-B5E7-1A5EFF4C7776}"/>
              </a:ext>
            </a:extLst>
          </p:cNvPr>
          <p:cNvSpPr>
            <a:spLocks xmlns:a="http://schemas.openxmlformats.org/drawingml/2006/main" noGrp="1"/>
          </p:cNvSpPr>
          <p:nvPr/>
        </p:nvSpPr>
        <p:spPr>
          <a:xfrm xmlns:a="http://schemas.openxmlformats.org/drawingml/2006/main">
            <a:off x="2667000" y="283845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02A43"/>
                </a:solidFill>
              </a:defRPr>
            </a:pPr>
            <a:r>
              <a:rPr sz="1200" b="1">
                <a:solidFill>
                  <a:srgbClr val="102A43"/>
                </a:solidFill>
              </a:rPr>
              <a:t>待开工</a:t>
            </a:r>
          </a:p>
        </p:txBody>
      </p:sp>
      <p:sp>
        <p:nvSpPr>
          <p:cNvPr id="19" name="">
            <a:extLst xmlns:a="http://schemas.openxmlformats.org/drawingml/2006/main">
              <a:ext uri="{FF2B5EF4-FFF2-40B4-BE49-F238E27FC236}">
                <a16:creationId xmlns:a16="http://schemas.microsoft.com/office/drawing/2014/main" id="{E47F6532-7763-4F8D-B2B1-0B7D58D21471}"/>
              </a:ext>
            </a:extLst>
          </p:cNvPr>
          <p:cNvSpPr>
            <a:spLocks xmlns:a="http://schemas.openxmlformats.org/drawingml/2006/main" noGrp="1"/>
          </p:cNvSpPr>
          <p:nvPr/>
        </p:nvSpPr>
        <p:spPr>
          <a:xfrm xmlns:a="http://schemas.openxmlformats.org/drawingml/2006/main">
            <a:off x="2667000" y="30861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0">
                <a:solidFill>
                  <a:srgbClr val="486581"/>
                </a:solidFill>
              </a:defRPr>
            </a:pPr>
            <a:r>
              <a:rPr sz="750" b="0">
                <a:solidFill>
                  <a:srgbClr val="486581"/>
                </a:solidFill>
              </a:rPr>
              <a:t>审批通过后进入执行准备阶段</a:t>
            </a:r>
          </a:p>
        </p:txBody>
      </p:sp>
      <p:sp>
        <p:nvSpPr>
          <p:cNvPr id="20" name="">
            <a:extLst xmlns:a="http://schemas.openxmlformats.org/drawingml/2006/main">
              <a:ext uri="{FF2B5EF4-FFF2-40B4-BE49-F238E27FC236}">
                <a16:creationId xmlns:a16="http://schemas.microsoft.com/office/drawing/2014/main" id="{C1B580CA-DB34-40D0-9BC4-431BDD703BD4}"/>
              </a:ext>
            </a:extLst>
          </p:cNvPr>
          <p:cNvSpPr>
            <a:spLocks xmlns:a="http://schemas.openxmlformats.org/drawingml/2006/main" noGrp="1"/>
          </p:cNvSpPr>
          <p:nvPr/>
        </p:nvSpPr>
        <p:spPr>
          <a:xfrm xmlns:a="http://schemas.openxmlformats.org/drawingml/2006/main">
            <a:off x="3981450" y="2590800"/>
            <a:ext cx="304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D0AF55B-57B2-450E-8E27-9E3C12501E74}"/>
              </a:ext>
            </a:extLst>
          </p:cNvPr>
          <p:cNvSpPr>
            <a:spLocks xmlns:a="http://schemas.openxmlformats.org/drawingml/2006/main" noGrp="1"/>
          </p:cNvSpPr>
          <p:nvPr/>
        </p:nvSpPr>
        <p:spPr>
          <a:xfrm xmlns:a="http://schemas.openxmlformats.org/drawingml/2006/main">
            <a:off x="4305300" y="1943100"/>
            <a:ext cx="15621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C"/>
            </a:solidFill>
            <a:prstDash val="solid"/>
          </a:ln>
        </p:spPr>
      </p:sp>
      <p:sp>
        <p:nvSpPr>
          <p:cNvPr id="22" name="">
            <a:extLst xmlns:a="http://schemas.openxmlformats.org/drawingml/2006/main">
              <a:ext uri="{FF2B5EF4-FFF2-40B4-BE49-F238E27FC236}">
                <a16:creationId xmlns:a16="http://schemas.microsoft.com/office/drawing/2014/main" id="{649964D6-4F77-499B-B0F3-BF15F384B62A}"/>
              </a:ext>
            </a:extLst>
          </p:cNvPr>
          <p:cNvSpPr>
            <a:spLocks xmlns:a="http://schemas.openxmlformats.org/drawingml/2006/main" noGrp="1"/>
          </p:cNvSpPr>
          <p:nvPr/>
        </p:nvSpPr>
        <p:spPr>
          <a:xfrm xmlns:a="http://schemas.openxmlformats.org/drawingml/2006/main">
            <a:off x="4800600" y="2114550"/>
            <a:ext cx="571500" cy="571500"/>
          </a:xfrm>
          <a:prstGeom xmlns:a="http://schemas.openxmlformats.org/drawingml/2006/main" prst="ellipse">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015AE81-E2DF-4C0C-90EC-6964AA157D36}"/>
              </a:ext>
            </a:extLst>
          </p:cNvPr>
          <p:cNvSpPr>
            <a:spLocks xmlns:a="http://schemas.openxmlformats.org/drawingml/2006/main" noGrp="1"/>
          </p:cNvSpPr>
          <p:nvPr/>
        </p:nvSpPr>
        <p:spPr>
          <a:xfrm xmlns:a="http://schemas.openxmlformats.org/drawingml/2006/main">
            <a:off x="4800600" y="228600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1765B"/>
                </a:solidFill>
              </a:defRPr>
            </a:pPr>
            <a:r>
              <a:rPr sz="1350" b="1">
                <a:solidFill>
                  <a:srgbClr val="F1765B"/>
                </a:solidFill>
              </a:rPr>
              <a:t>3</a:t>
            </a:r>
          </a:p>
        </p:txBody>
      </p:sp>
      <p:sp>
        <p:nvSpPr>
          <p:cNvPr id="24" name="">
            <a:extLst xmlns:a="http://schemas.openxmlformats.org/drawingml/2006/main">
              <a:ext uri="{FF2B5EF4-FFF2-40B4-BE49-F238E27FC236}">
                <a16:creationId xmlns:a16="http://schemas.microsoft.com/office/drawing/2014/main" id="{4F4459CE-173C-4373-A162-F6CFA6267FF3}"/>
              </a:ext>
            </a:extLst>
          </p:cNvPr>
          <p:cNvSpPr>
            <a:spLocks xmlns:a="http://schemas.openxmlformats.org/drawingml/2006/main" noGrp="1"/>
          </p:cNvSpPr>
          <p:nvPr/>
        </p:nvSpPr>
        <p:spPr>
          <a:xfrm xmlns:a="http://schemas.openxmlformats.org/drawingml/2006/main">
            <a:off x="4476750" y="283845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02A43"/>
                </a:solidFill>
              </a:defRPr>
            </a:pPr>
            <a:r>
              <a:rPr sz="1200" b="1">
                <a:solidFill>
                  <a:srgbClr val="102A43"/>
                </a:solidFill>
              </a:rPr>
              <a:t>项目实施</a:t>
            </a:r>
          </a:p>
        </p:txBody>
      </p:sp>
      <p:sp>
        <p:nvSpPr>
          <p:cNvPr id="25" name="">
            <a:extLst xmlns:a="http://schemas.openxmlformats.org/drawingml/2006/main">
              <a:ext uri="{FF2B5EF4-FFF2-40B4-BE49-F238E27FC236}">
                <a16:creationId xmlns:a16="http://schemas.microsoft.com/office/drawing/2014/main" id="{DE87D43C-719E-4C4E-A602-17DF10489BAC}"/>
              </a:ext>
            </a:extLst>
          </p:cNvPr>
          <p:cNvSpPr>
            <a:spLocks xmlns:a="http://schemas.openxmlformats.org/drawingml/2006/main" noGrp="1"/>
          </p:cNvSpPr>
          <p:nvPr/>
        </p:nvSpPr>
        <p:spPr>
          <a:xfrm xmlns:a="http://schemas.openxmlformats.org/drawingml/2006/main">
            <a:off x="4476750" y="30861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0">
                <a:solidFill>
                  <a:srgbClr val="486581"/>
                </a:solidFill>
              </a:defRPr>
            </a:pPr>
            <a:r>
              <a:rPr sz="750" b="0">
                <a:solidFill>
                  <a:srgbClr val="486581"/>
                </a:solidFill>
              </a:rPr>
              <a:t>按节点提交阶段材料和过程信息</a:t>
            </a:r>
          </a:p>
        </p:txBody>
      </p:sp>
      <p:sp>
        <p:nvSpPr>
          <p:cNvPr id="26" name="">
            <a:extLst xmlns:a="http://schemas.openxmlformats.org/drawingml/2006/main">
              <a:ext uri="{FF2B5EF4-FFF2-40B4-BE49-F238E27FC236}">
                <a16:creationId xmlns:a16="http://schemas.microsoft.com/office/drawing/2014/main" id="{F2F0C3AA-D0A3-4475-981C-26F562111C0D}"/>
              </a:ext>
            </a:extLst>
          </p:cNvPr>
          <p:cNvSpPr>
            <a:spLocks xmlns:a="http://schemas.openxmlformats.org/drawingml/2006/main" noGrp="1"/>
          </p:cNvSpPr>
          <p:nvPr/>
        </p:nvSpPr>
        <p:spPr>
          <a:xfrm xmlns:a="http://schemas.openxmlformats.org/drawingml/2006/main">
            <a:off x="5791200" y="2590800"/>
            <a:ext cx="304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D7A3835-C749-46B6-8D35-81FD0906D2EB}"/>
              </a:ext>
            </a:extLst>
          </p:cNvPr>
          <p:cNvSpPr>
            <a:spLocks xmlns:a="http://schemas.openxmlformats.org/drawingml/2006/main" noGrp="1"/>
          </p:cNvSpPr>
          <p:nvPr/>
        </p:nvSpPr>
        <p:spPr>
          <a:xfrm xmlns:a="http://schemas.openxmlformats.org/drawingml/2006/main">
            <a:off x="6115050" y="1943100"/>
            <a:ext cx="15621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C"/>
            </a:solidFill>
            <a:prstDash val="solid"/>
          </a:ln>
        </p:spPr>
      </p:sp>
      <p:sp>
        <p:nvSpPr>
          <p:cNvPr id="28" name="">
            <a:extLst xmlns:a="http://schemas.openxmlformats.org/drawingml/2006/main">
              <a:ext uri="{FF2B5EF4-FFF2-40B4-BE49-F238E27FC236}">
                <a16:creationId xmlns:a16="http://schemas.microsoft.com/office/drawing/2014/main" id="{69E842DD-A227-43D2-B121-A227D5682E29}"/>
              </a:ext>
            </a:extLst>
          </p:cNvPr>
          <p:cNvSpPr>
            <a:spLocks xmlns:a="http://schemas.openxmlformats.org/drawingml/2006/main" noGrp="1"/>
          </p:cNvSpPr>
          <p:nvPr/>
        </p:nvSpPr>
        <p:spPr>
          <a:xfrm xmlns:a="http://schemas.openxmlformats.org/drawingml/2006/main">
            <a:off x="6610350" y="2114550"/>
            <a:ext cx="571500" cy="571500"/>
          </a:xfrm>
          <a:prstGeom xmlns:a="http://schemas.openxmlformats.org/drawingml/2006/main" prst="ellipse">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305ADBE-89CC-43AC-AD5C-34907A7864F4}"/>
              </a:ext>
            </a:extLst>
          </p:cNvPr>
          <p:cNvSpPr>
            <a:spLocks xmlns:a="http://schemas.openxmlformats.org/drawingml/2006/main" noGrp="1"/>
          </p:cNvSpPr>
          <p:nvPr/>
        </p:nvSpPr>
        <p:spPr>
          <a:xfrm xmlns:a="http://schemas.openxmlformats.org/drawingml/2006/main">
            <a:off x="6610350" y="228600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8B6B0"/>
                </a:solidFill>
              </a:defRPr>
            </a:pPr>
            <a:r>
              <a:rPr sz="1350" b="1">
                <a:solidFill>
                  <a:srgbClr val="18B6B0"/>
                </a:solidFill>
              </a:rPr>
              <a:t>4</a:t>
            </a:r>
          </a:p>
        </p:txBody>
      </p:sp>
      <p:sp>
        <p:nvSpPr>
          <p:cNvPr id="30" name="">
            <a:extLst xmlns:a="http://schemas.openxmlformats.org/drawingml/2006/main">
              <a:ext uri="{FF2B5EF4-FFF2-40B4-BE49-F238E27FC236}">
                <a16:creationId xmlns:a16="http://schemas.microsoft.com/office/drawing/2014/main" id="{5E2BE4AF-4937-4E3E-B34C-4B70DCE0990A}"/>
              </a:ext>
            </a:extLst>
          </p:cNvPr>
          <p:cNvSpPr>
            <a:spLocks xmlns:a="http://schemas.openxmlformats.org/drawingml/2006/main" noGrp="1"/>
          </p:cNvSpPr>
          <p:nvPr/>
        </p:nvSpPr>
        <p:spPr>
          <a:xfrm xmlns:a="http://schemas.openxmlformats.org/drawingml/2006/main">
            <a:off x="6286500" y="283845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02A43"/>
                </a:solidFill>
              </a:defRPr>
            </a:pPr>
            <a:r>
              <a:rPr sz="1200" b="1">
                <a:solidFill>
                  <a:srgbClr val="102A43"/>
                </a:solidFill>
              </a:rPr>
              <a:t>中期检查</a:t>
            </a:r>
          </a:p>
        </p:txBody>
      </p:sp>
      <p:sp>
        <p:nvSpPr>
          <p:cNvPr id="31" name="">
            <a:extLst xmlns:a="http://schemas.openxmlformats.org/drawingml/2006/main">
              <a:ext uri="{FF2B5EF4-FFF2-40B4-BE49-F238E27FC236}">
                <a16:creationId xmlns:a16="http://schemas.microsoft.com/office/drawing/2014/main" id="{F33C2D27-BDCC-46FC-9C58-CF974DC8F97F}"/>
              </a:ext>
            </a:extLst>
          </p:cNvPr>
          <p:cNvSpPr>
            <a:spLocks xmlns:a="http://schemas.openxmlformats.org/drawingml/2006/main" noGrp="1"/>
          </p:cNvSpPr>
          <p:nvPr/>
        </p:nvSpPr>
        <p:spPr>
          <a:xfrm xmlns:a="http://schemas.openxmlformats.org/drawingml/2006/main">
            <a:off x="6286500" y="30861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0">
                <a:solidFill>
                  <a:srgbClr val="486581"/>
                </a:solidFill>
              </a:defRPr>
            </a:pPr>
            <a:r>
              <a:rPr sz="750" b="0">
                <a:solidFill>
                  <a:srgbClr val="486581"/>
                </a:solidFill>
              </a:rPr>
              <a:t>根据阶段审核结果更新项目状态</a:t>
            </a:r>
          </a:p>
        </p:txBody>
      </p:sp>
      <p:sp>
        <p:nvSpPr>
          <p:cNvPr id="32" name="">
            <a:extLst xmlns:a="http://schemas.openxmlformats.org/drawingml/2006/main">
              <a:ext uri="{FF2B5EF4-FFF2-40B4-BE49-F238E27FC236}">
                <a16:creationId xmlns:a16="http://schemas.microsoft.com/office/drawing/2014/main" id="{76355D0B-B7B8-495E-A2D8-9DF99348B789}"/>
              </a:ext>
            </a:extLst>
          </p:cNvPr>
          <p:cNvSpPr>
            <a:spLocks xmlns:a="http://schemas.openxmlformats.org/drawingml/2006/main" noGrp="1"/>
          </p:cNvSpPr>
          <p:nvPr/>
        </p:nvSpPr>
        <p:spPr>
          <a:xfrm xmlns:a="http://schemas.openxmlformats.org/drawingml/2006/main">
            <a:off x="7600950" y="2590800"/>
            <a:ext cx="304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F0319D98-6C0F-4903-8B10-A7A00A6EB4B8}"/>
              </a:ext>
            </a:extLst>
          </p:cNvPr>
          <p:cNvSpPr>
            <a:spLocks xmlns:a="http://schemas.openxmlformats.org/drawingml/2006/main" noGrp="1"/>
          </p:cNvSpPr>
          <p:nvPr/>
        </p:nvSpPr>
        <p:spPr>
          <a:xfrm xmlns:a="http://schemas.openxmlformats.org/drawingml/2006/main">
            <a:off x="7924800" y="1943100"/>
            <a:ext cx="15621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C"/>
            </a:solidFill>
            <a:prstDash val="solid"/>
          </a:ln>
        </p:spPr>
      </p:sp>
      <p:sp>
        <p:nvSpPr>
          <p:cNvPr id="34" name="">
            <a:extLst xmlns:a="http://schemas.openxmlformats.org/drawingml/2006/main">
              <a:ext uri="{FF2B5EF4-FFF2-40B4-BE49-F238E27FC236}">
                <a16:creationId xmlns:a16="http://schemas.microsoft.com/office/drawing/2014/main" id="{98BC8CBD-31D7-448A-9FB1-348082759EBA}"/>
              </a:ext>
            </a:extLst>
          </p:cNvPr>
          <p:cNvSpPr>
            <a:spLocks xmlns:a="http://schemas.openxmlformats.org/drawingml/2006/main" noGrp="1"/>
          </p:cNvSpPr>
          <p:nvPr/>
        </p:nvSpPr>
        <p:spPr>
          <a:xfrm xmlns:a="http://schemas.openxmlformats.org/drawingml/2006/main">
            <a:off x="8420100" y="2114550"/>
            <a:ext cx="571500" cy="571500"/>
          </a:xfrm>
          <a:prstGeom xmlns:a="http://schemas.openxmlformats.org/drawingml/2006/main" prst="ellipse">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9187D8BC-4A41-4AEE-9B2A-4453BF9F7BC0}"/>
              </a:ext>
            </a:extLst>
          </p:cNvPr>
          <p:cNvSpPr>
            <a:spLocks xmlns:a="http://schemas.openxmlformats.org/drawingml/2006/main" noGrp="1"/>
          </p:cNvSpPr>
          <p:nvPr/>
        </p:nvSpPr>
        <p:spPr>
          <a:xfrm xmlns:a="http://schemas.openxmlformats.org/drawingml/2006/main">
            <a:off x="8420100" y="228600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2B35E"/>
                </a:solidFill>
              </a:defRPr>
            </a:pPr>
            <a:r>
              <a:rPr sz="1350" b="1">
                <a:solidFill>
                  <a:srgbClr val="F2B35E"/>
                </a:solidFill>
              </a:rPr>
              <a:t>5</a:t>
            </a:r>
          </a:p>
        </p:txBody>
      </p:sp>
      <p:sp>
        <p:nvSpPr>
          <p:cNvPr id="36" name="">
            <a:extLst xmlns:a="http://schemas.openxmlformats.org/drawingml/2006/main">
              <a:ext uri="{FF2B5EF4-FFF2-40B4-BE49-F238E27FC236}">
                <a16:creationId xmlns:a16="http://schemas.microsoft.com/office/drawing/2014/main" id="{F74AB5A0-4976-46B9-A653-FC81A4E1CBB5}"/>
              </a:ext>
            </a:extLst>
          </p:cNvPr>
          <p:cNvSpPr>
            <a:spLocks xmlns:a="http://schemas.openxmlformats.org/drawingml/2006/main" noGrp="1"/>
          </p:cNvSpPr>
          <p:nvPr/>
        </p:nvSpPr>
        <p:spPr>
          <a:xfrm xmlns:a="http://schemas.openxmlformats.org/drawingml/2006/main">
            <a:off x="8096250" y="283845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02A43"/>
                </a:solidFill>
              </a:defRPr>
            </a:pPr>
            <a:r>
              <a:rPr sz="1200" b="1">
                <a:solidFill>
                  <a:srgbClr val="102A43"/>
                </a:solidFill>
              </a:rPr>
              <a:t>结题报告</a:t>
            </a:r>
          </a:p>
        </p:txBody>
      </p:sp>
      <p:sp>
        <p:nvSpPr>
          <p:cNvPr id="37" name="">
            <a:extLst xmlns:a="http://schemas.openxmlformats.org/drawingml/2006/main">
              <a:ext uri="{FF2B5EF4-FFF2-40B4-BE49-F238E27FC236}">
                <a16:creationId xmlns:a16="http://schemas.microsoft.com/office/drawing/2014/main" id="{83EBFAAE-784B-47CF-9466-CC2B97B96DC4}"/>
              </a:ext>
            </a:extLst>
          </p:cNvPr>
          <p:cNvSpPr>
            <a:spLocks xmlns:a="http://schemas.openxmlformats.org/drawingml/2006/main" noGrp="1"/>
          </p:cNvSpPr>
          <p:nvPr/>
        </p:nvSpPr>
        <p:spPr>
          <a:xfrm xmlns:a="http://schemas.openxmlformats.org/drawingml/2006/main">
            <a:off x="8096250" y="30861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0">
                <a:solidFill>
                  <a:srgbClr val="486581"/>
                </a:solidFill>
              </a:defRPr>
            </a:pPr>
            <a:r>
              <a:rPr sz="750" b="0">
                <a:solidFill>
                  <a:srgbClr val="486581"/>
                </a:solidFill>
              </a:rPr>
              <a:t>完成最终材料提交与验收</a:t>
            </a:r>
          </a:p>
        </p:txBody>
      </p:sp>
      <p:sp>
        <p:nvSpPr>
          <p:cNvPr id="38" name="">
            <a:extLst xmlns:a="http://schemas.openxmlformats.org/drawingml/2006/main">
              <a:ext uri="{FF2B5EF4-FFF2-40B4-BE49-F238E27FC236}">
                <a16:creationId xmlns:a16="http://schemas.microsoft.com/office/drawing/2014/main" id="{5BEF2C65-27EA-4AED-A97D-D6DF5E55D758}"/>
              </a:ext>
            </a:extLst>
          </p:cNvPr>
          <p:cNvSpPr>
            <a:spLocks xmlns:a="http://schemas.openxmlformats.org/drawingml/2006/main" noGrp="1"/>
          </p:cNvSpPr>
          <p:nvPr/>
        </p:nvSpPr>
        <p:spPr>
          <a:xfrm xmlns:a="http://schemas.openxmlformats.org/drawingml/2006/main">
            <a:off x="9410700" y="2590800"/>
            <a:ext cx="304800" cy="171450"/>
          </a:xfrm>
          <a:prstGeom xmlns:a="http://schemas.openxmlformats.org/drawingml/2006/main" prst="rightArrow">
            <a:avLst/>
          </a:prstGeom>
          <a:solidFill xmlns:a="http://schemas.openxmlformats.org/drawingml/2006/main">
            <a:srgbClr val="C8D6E5"/>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24F0C0E7-D659-4CD7-A5D6-F62A42D7BD2D}"/>
              </a:ext>
            </a:extLst>
          </p:cNvPr>
          <p:cNvSpPr>
            <a:spLocks xmlns:a="http://schemas.openxmlformats.org/drawingml/2006/main" noGrp="1"/>
          </p:cNvSpPr>
          <p:nvPr/>
        </p:nvSpPr>
        <p:spPr>
          <a:xfrm xmlns:a="http://schemas.openxmlformats.org/drawingml/2006/main">
            <a:off x="9734550" y="1943100"/>
            <a:ext cx="15621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9E2EC"/>
            </a:solidFill>
            <a:prstDash val="solid"/>
          </a:ln>
        </p:spPr>
      </p:sp>
      <p:sp>
        <p:nvSpPr>
          <p:cNvPr id="40" name="">
            <a:extLst xmlns:a="http://schemas.openxmlformats.org/drawingml/2006/main">
              <a:ext uri="{FF2B5EF4-FFF2-40B4-BE49-F238E27FC236}">
                <a16:creationId xmlns:a16="http://schemas.microsoft.com/office/drawing/2014/main" id="{F320445E-922F-4893-A5E5-45DB36B262FF}"/>
              </a:ext>
            </a:extLst>
          </p:cNvPr>
          <p:cNvSpPr>
            <a:spLocks xmlns:a="http://schemas.openxmlformats.org/drawingml/2006/main" noGrp="1"/>
          </p:cNvSpPr>
          <p:nvPr/>
        </p:nvSpPr>
        <p:spPr>
          <a:xfrm xmlns:a="http://schemas.openxmlformats.org/drawingml/2006/main">
            <a:off x="10229850" y="2114550"/>
            <a:ext cx="571500" cy="571500"/>
          </a:xfrm>
          <a:prstGeom xmlns:a="http://schemas.openxmlformats.org/drawingml/2006/main" prst="ellipse">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02492C33-D6AB-4BD8-BDAE-79AE7DAB7704}"/>
              </a:ext>
            </a:extLst>
          </p:cNvPr>
          <p:cNvSpPr>
            <a:spLocks xmlns:a="http://schemas.openxmlformats.org/drawingml/2006/main" noGrp="1"/>
          </p:cNvSpPr>
          <p:nvPr/>
        </p:nvSpPr>
        <p:spPr>
          <a:xfrm xmlns:a="http://schemas.openxmlformats.org/drawingml/2006/main">
            <a:off x="10229850" y="2286000"/>
            <a:ext cx="57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1765B"/>
                </a:solidFill>
              </a:defRPr>
            </a:pPr>
            <a:r>
              <a:rPr sz="1350" b="1">
                <a:solidFill>
                  <a:srgbClr val="F1765B"/>
                </a:solidFill>
              </a:rPr>
              <a:t>6</a:t>
            </a:r>
          </a:p>
        </p:txBody>
      </p:sp>
      <p:sp>
        <p:nvSpPr>
          <p:cNvPr id="42" name="">
            <a:extLst xmlns:a="http://schemas.openxmlformats.org/drawingml/2006/main">
              <a:ext uri="{FF2B5EF4-FFF2-40B4-BE49-F238E27FC236}">
                <a16:creationId xmlns:a16="http://schemas.microsoft.com/office/drawing/2014/main" id="{F2892959-3A54-4A3D-972A-7D8B5746C395}"/>
              </a:ext>
            </a:extLst>
          </p:cNvPr>
          <p:cNvSpPr>
            <a:spLocks xmlns:a="http://schemas.openxmlformats.org/drawingml/2006/main" noGrp="1"/>
          </p:cNvSpPr>
          <p:nvPr/>
        </p:nvSpPr>
        <p:spPr>
          <a:xfrm xmlns:a="http://schemas.openxmlformats.org/drawingml/2006/main">
            <a:off x="9906000" y="283845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02A43"/>
                </a:solidFill>
              </a:defRPr>
            </a:pPr>
            <a:r>
              <a:rPr sz="1200" b="1">
                <a:solidFill>
                  <a:srgbClr val="102A43"/>
                </a:solidFill>
              </a:rPr>
              <a:t>成果归档</a:t>
            </a:r>
          </a:p>
        </p:txBody>
      </p:sp>
      <p:sp>
        <p:nvSpPr>
          <p:cNvPr id="43" name="">
            <a:extLst xmlns:a="http://schemas.openxmlformats.org/drawingml/2006/main">
              <a:ext uri="{FF2B5EF4-FFF2-40B4-BE49-F238E27FC236}">
                <a16:creationId xmlns:a16="http://schemas.microsoft.com/office/drawing/2014/main" id="{FE6B7A49-B8B2-4DA1-B064-13F10C34E2C8}"/>
              </a:ext>
            </a:extLst>
          </p:cNvPr>
          <p:cNvSpPr>
            <a:spLocks xmlns:a="http://schemas.openxmlformats.org/drawingml/2006/main" noGrp="1"/>
          </p:cNvSpPr>
          <p:nvPr/>
        </p:nvSpPr>
        <p:spPr>
          <a:xfrm xmlns:a="http://schemas.openxmlformats.org/drawingml/2006/main">
            <a:off x="9906000" y="30861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b="0">
                <a:solidFill>
                  <a:srgbClr val="486581"/>
                </a:solidFill>
              </a:defRPr>
            </a:pPr>
            <a:r>
              <a:rPr sz="750" b="0">
                <a:solidFill>
                  <a:srgbClr val="486581"/>
                </a:solidFill>
              </a:rPr>
              <a:t>自动生成成果记录，形成闭环</a:t>
            </a:r>
          </a:p>
        </p:txBody>
      </p:sp>
      <p:sp>
        <p:nvSpPr>
          <p:cNvPr id="44" name="">
            <a:extLst xmlns:a="http://schemas.openxmlformats.org/drawingml/2006/main">
              <a:ext uri="{FF2B5EF4-FFF2-40B4-BE49-F238E27FC236}">
                <a16:creationId xmlns:a16="http://schemas.microsoft.com/office/drawing/2014/main" id="{6EB97611-CD06-42D1-8131-178AF381169F}"/>
              </a:ext>
            </a:extLst>
          </p:cNvPr>
          <p:cNvSpPr>
            <a:spLocks xmlns:a="http://schemas.openxmlformats.org/drawingml/2006/main" noGrp="1"/>
          </p:cNvSpPr>
          <p:nvPr/>
        </p:nvSpPr>
        <p:spPr>
          <a:xfrm xmlns:a="http://schemas.openxmlformats.org/drawingml/2006/main">
            <a:off x="685800" y="4000500"/>
            <a:ext cx="5219700" cy="160020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D9E2EC"/>
            </a:solidFill>
            <a:prstDash val="solid"/>
          </a:ln>
        </p:spPr>
      </p:sp>
      <p:sp>
        <p:nvSpPr>
          <p:cNvPr id="45" name="">
            <a:extLst xmlns:a="http://schemas.openxmlformats.org/drawingml/2006/main">
              <a:ext uri="{FF2B5EF4-FFF2-40B4-BE49-F238E27FC236}">
                <a16:creationId xmlns:a16="http://schemas.microsoft.com/office/drawing/2014/main" id="{9F638F78-998B-49B5-8481-5040D97AA5E5}"/>
              </a:ext>
            </a:extLst>
          </p:cNvPr>
          <p:cNvSpPr>
            <a:spLocks xmlns:a="http://schemas.openxmlformats.org/drawingml/2006/main" noGrp="1"/>
          </p:cNvSpPr>
          <p:nvPr/>
        </p:nvSpPr>
        <p:spPr>
          <a:xfrm xmlns:a="http://schemas.openxmlformats.org/drawingml/2006/main">
            <a:off x="914400" y="42481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流程控制逻辑</a:t>
            </a:r>
          </a:p>
        </p:txBody>
      </p:sp>
      <p:sp>
        <p:nvSpPr>
          <p:cNvPr id="46" name="">
            <a:extLst xmlns:a="http://schemas.openxmlformats.org/drawingml/2006/main">
              <a:ext uri="{FF2B5EF4-FFF2-40B4-BE49-F238E27FC236}">
                <a16:creationId xmlns:a16="http://schemas.microsoft.com/office/drawing/2014/main" id="{9ADCCCD2-6AA5-4FCA-94DD-E26F6ABC1AD3}"/>
              </a:ext>
            </a:extLst>
          </p:cNvPr>
          <p:cNvSpPr>
            <a:spLocks xmlns:a="http://schemas.openxmlformats.org/drawingml/2006/main" noGrp="1"/>
          </p:cNvSpPr>
          <p:nvPr/>
        </p:nvSpPr>
        <p:spPr>
          <a:xfrm xmlns:a="http://schemas.openxmlformats.org/drawingml/2006/main">
            <a:off x="933450" y="46863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47" name="">
            <a:extLst xmlns:a="http://schemas.openxmlformats.org/drawingml/2006/main">
              <a:ext uri="{FF2B5EF4-FFF2-40B4-BE49-F238E27FC236}">
                <a16:creationId xmlns:a16="http://schemas.microsoft.com/office/drawing/2014/main" id="{145CF131-1C89-4DD9-B561-D6C0E03E4E3B}"/>
              </a:ext>
            </a:extLst>
          </p:cNvPr>
          <p:cNvSpPr>
            <a:spLocks xmlns:a="http://schemas.openxmlformats.org/drawingml/2006/main" noGrp="1"/>
          </p:cNvSpPr>
          <p:nvPr/>
        </p:nvSpPr>
        <p:spPr>
          <a:xfrm xmlns:a="http://schemas.openxmlformats.org/drawingml/2006/main">
            <a:off x="1123950" y="4610100"/>
            <a:ext cx="438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`submitProcess` 会校验前序节点是否已经通过，避免阶段越级提交。</a:t>
            </a:r>
          </a:p>
        </p:txBody>
      </p:sp>
      <p:sp>
        <p:nvSpPr>
          <p:cNvPr id="48" name="">
            <a:extLst xmlns:a="http://schemas.openxmlformats.org/drawingml/2006/main">
              <a:ext uri="{FF2B5EF4-FFF2-40B4-BE49-F238E27FC236}">
                <a16:creationId xmlns:a16="http://schemas.microsoft.com/office/drawing/2014/main" id="{FD63C0C1-92AD-4B67-924E-C0E0696B6C96}"/>
              </a:ext>
            </a:extLst>
          </p:cNvPr>
          <p:cNvSpPr>
            <a:spLocks xmlns:a="http://schemas.openxmlformats.org/drawingml/2006/main" noGrp="1"/>
          </p:cNvSpPr>
          <p:nvPr/>
        </p:nvSpPr>
        <p:spPr>
          <a:xfrm xmlns:a="http://schemas.openxmlformats.org/drawingml/2006/main">
            <a:off x="933450" y="50673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49" name="">
            <a:extLst xmlns:a="http://schemas.openxmlformats.org/drawingml/2006/main">
              <a:ext uri="{FF2B5EF4-FFF2-40B4-BE49-F238E27FC236}">
                <a16:creationId xmlns:a16="http://schemas.microsoft.com/office/drawing/2014/main" id="{7880A545-8073-404A-AC2B-4429D6F276E0}"/>
              </a:ext>
            </a:extLst>
          </p:cNvPr>
          <p:cNvSpPr>
            <a:spLocks xmlns:a="http://schemas.openxmlformats.org/drawingml/2006/main" noGrp="1"/>
          </p:cNvSpPr>
          <p:nvPr/>
        </p:nvSpPr>
        <p:spPr>
          <a:xfrm xmlns:a="http://schemas.openxmlformats.org/drawingml/2006/main">
            <a:off x="1123950" y="4991100"/>
            <a:ext cx="438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`approveProcess` 在审批通过后更新项目当前阶段与整体状态。</a:t>
            </a:r>
          </a:p>
        </p:txBody>
      </p:sp>
      <p:sp>
        <p:nvSpPr>
          <p:cNvPr id="50" name="">
            <a:extLst xmlns:a="http://schemas.openxmlformats.org/drawingml/2006/main">
              <a:ext uri="{FF2B5EF4-FFF2-40B4-BE49-F238E27FC236}">
                <a16:creationId xmlns:a16="http://schemas.microsoft.com/office/drawing/2014/main" id="{8C965FCA-142B-43C6-9106-2DB3A824EE5C}"/>
              </a:ext>
            </a:extLst>
          </p:cNvPr>
          <p:cNvSpPr>
            <a:spLocks xmlns:a="http://schemas.openxmlformats.org/drawingml/2006/main" noGrp="1"/>
          </p:cNvSpPr>
          <p:nvPr/>
        </p:nvSpPr>
        <p:spPr>
          <a:xfrm xmlns:a="http://schemas.openxmlformats.org/drawingml/2006/main">
            <a:off x="933450" y="54483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51" name="">
            <a:extLst xmlns:a="http://schemas.openxmlformats.org/drawingml/2006/main">
              <a:ext uri="{FF2B5EF4-FFF2-40B4-BE49-F238E27FC236}">
                <a16:creationId xmlns:a16="http://schemas.microsoft.com/office/drawing/2014/main" id="{62F55A19-431F-4F54-BE37-86CEFFA11423}"/>
              </a:ext>
            </a:extLst>
          </p:cNvPr>
          <p:cNvSpPr>
            <a:spLocks xmlns:a="http://schemas.openxmlformats.org/drawingml/2006/main" noGrp="1"/>
          </p:cNvSpPr>
          <p:nvPr/>
        </p:nvSpPr>
        <p:spPr>
          <a:xfrm xmlns:a="http://schemas.openxmlformats.org/drawingml/2006/main">
            <a:off x="1123950" y="5372100"/>
            <a:ext cx="4381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243B53"/>
                </a:solidFill>
              </a:defRPr>
            </a:pPr>
            <a:r>
              <a:rPr sz="975" b="0">
                <a:solidFill>
                  <a:srgbClr val="243B53"/>
                </a:solidFill>
              </a:rPr>
              <a:t>当最后一个阶段完成时，系统自动创建一条成果记录，减少人工补录。</a:t>
            </a:r>
          </a:p>
        </p:txBody>
      </p:sp>
      <p:sp>
        <p:nvSpPr>
          <p:cNvPr id="52" name="">
            <a:extLst xmlns:a="http://schemas.openxmlformats.org/drawingml/2006/main">
              <a:ext uri="{FF2B5EF4-FFF2-40B4-BE49-F238E27FC236}">
                <a16:creationId xmlns:a16="http://schemas.microsoft.com/office/drawing/2014/main" id="{73324CF3-80AB-4932-8CA9-71735B726803}"/>
              </a:ext>
            </a:extLst>
          </p:cNvPr>
          <p:cNvSpPr>
            <a:spLocks xmlns:a="http://schemas.openxmlformats.org/drawingml/2006/main" noGrp="1"/>
          </p:cNvSpPr>
          <p:nvPr/>
        </p:nvSpPr>
        <p:spPr>
          <a:xfrm xmlns:a="http://schemas.openxmlformats.org/drawingml/2006/main">
            <a:off x="6305550" y="4000500"/>
            <a:ext cx="4514850" cy="1600200"/>
          </a:xfrm>
          <a:prstGeom xmlns:a="http://schemas.openxmlformats.org/drawingml/2006/main" prst="roundRect">
            <a:avLst>
              <a:gd name="adj" fmla="val 4762"/>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DE3230BD-11BF-4C47-9D23-EA523CBA5785}"/>
              </a:ext>
            </a:extLst>
          </p:cNvPr>
          <p:cNvSpPr>
            <a:spLocks xmlns:a="http://schemas.openxmlformats.org/drawingml/2006/main" noGrp="1"/>
          </p:cNvSpPr>
          <p:nvPr/>
        </p:nvSpPr>
        <p:spPr>
          <a:xfrm xmlns:a="http://schemas.openxmlformats.org/drawingml/2006/main">
            <a:off x="6534150" y="42481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defRPr>
            </a:pPr>
            <a:r>
              <a:rPr sz="1350" b="1">
                <a:solidFill>
                  <a:srgbClr val="FFFFFF"/>
                </a:solidFill>
              </a:rPr>
              <a:t>答辩可强调的实现亮点</a:t>
            </a:r>
          </a:p>
        </p:txBody>
      </p:sp>
      <p:sp>
        <p:nvSpPr>
          <p:cNvPr id="54" name="">
            <a:extLst xmlns:a="http://schemas.openxmlformats.org/drawingml/2006/main">
              <a:ext uri="{FF2B5EF4-FFF2-40B4-BE49-F238E27FC236}">
                <a16:creationId xmlns:a16="http://schemas.microsoft.com/office/drawing/2014/main" id="{38B2B9C8-A7B0-4ABA-9BCC-3A7228E1E8F8}"/>
              </a:ext>
            </a:extLst>
          </p:cNvPr>
          <p:cNvSpPr>
            <a:spLocks xmlns:a="http://schemas.openxmlformats.org/drawingml/2006/main" noGrp="1"/>
          </p:cNvSpPr>
          <p:nvPr/>
        </p:nvSpPr>
        <p:spPr>
          <a:xfrm xmlns:a="http://schemas.openxmlformats.org/drawingml/2006/main">
            <a:off x="6553200" y="468630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55" name="">
            <a:extLst xmlns:a="http://schemas.openxmlformats.org/drawingml/2006/main">
              <a:ext uri="{FF2B5EF4-FFF2-40B4-BE49-F238E27FC236}">
                <a16:creationId xmlns:a16="http://schemas.microsoft.com/office/drawing/2014/main" id="{8225FAC0-1017-4A45-A932-8178FF8CC764}"/>
              </a:ext>
            </a:extLst>
          </p:cNvPr>
          <p:cNvSpPr>
            <a:spLocks xmlns:a="http://schemas.openxmlformats.org/drawingml/2006/main" noGrp="1"/>
          </p:cNvSpPr>
          <p:nvPr/>
        </p:nvSpPr>
        <p:spPr>
          <a:xfrm xmlns:a="http://schemas.openxmlformats.org/drawingml/2006/main">
            <a:off x="6743700" y="4610100"/>
            <a:ext cx="3657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E8F4F8"/>
                </a:solidFill>
              </a:defRPr>
            </a:pPr>
            <a:r>
              <a:rPr sz="975" b="0">
                <a:solidFill>
                  <a:srgbClr val="E8F4F8"/>
                </a:solidFill>
              </a:rPr>
              <a:t>项目状态不是手工写死，而是由流程审批结果驱动。</a:t>
            </a:r>
          </a:p>
        </p:txBody>
      </p:sp>
      <p:sp>
        <p:nvSpPr>
          <p:cNvPr id="56" name="">
            <a:extLst xmlns:a="http://schemas.openxmlformats.org/drawingml/2006/main">
              <a:ext uri="{FF2B5EF4-FFF2-40B4-BE49-F238E27FC236}">
                <a16:creationId xmlns:a16="http://schemas.microsoft.com/office/drawing/2014/main" id="{4BA8B5EC-E12F-47AF-9D94-642696353202}"/>
              </a:ext>
            </a:extLst>
          </p:cNvPr>
          <p:cNvSpPr>
            <a:spLocks xmlns:a="http://schemas.openxmlformats.org/drawingml/2006/main" noGrp="1"/>
          </p:cNvSpPr>
          <p:nvPr/>
        </p:nvSpPr>
        <p:spPr>
          <a:xfrm xmlns:a="http://schemas.openxmlformats.org/drawingml/2006/main">
            <a:off x="6553200" y="504825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57" name="">
            <a:extLst xmlns:a="http://schemas.openxmlformats.org/drawingml/2006/main">
              <a:ext uri="{FF2B5EF4-FFF2-40B4-BE49-F238E27FC236}">
                <a16:creationId xmlns:a16="http://schemas.microsoft.com/office/drawing/2014/main" id="{6E1DCE32-01B6-43FC-AA24-959791AD1BE8}"/>
              </a:ext>
            </a:extLst>
          </p:cNvPr>
          <p:cNvSpPr>
            <a:spLocks xmlns:a="http://schemas.openxmlformats.org/drawingml/2006/main" noGrp="1"/>
          </p:cNvSpPr>
          <p:nvPr/>
        </p:nvSpPr>
        <p:spPr>
          <a:xfrm xmlns:a="http://schemas.openxmlformats.org/drawingml/2006/main">
            <a:off x="6743700" y="4972050"/>
            <a:ext cx="3657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E8F4F8"/>
                </a:solidFill>
              </a:defRPr>
            </a:pPr>
            <a:r>
              <a:rPr sz="975" b="0">
                <a:solidFill>
                  <a:srgbClr val="E8F4F8"/>
                </a:solidFill>
              </a:rPr>
              <a:t>流程节点具备提交时间、审批意见、审批人和附件信息。</a:t>
            </a:r>
          </a:p>
        </p:txBody>
      </p:sp>
      <p:sp>
        <p:nvSpPr>
          <p:cNvPr id="58" name="">
            <a:extLst xmlns:a="http://schemas.openxmlformats.org/drawingml/2006/main">
              <a:ext uri="{FF2B5EF4-FFF2-40B4-BE49-F238E27FC236}">
                <a16:creationId xmlns:a16="http://schemas.microsoft.com/office/drawing/2014/main" id="{53C45151-6593-4004-888F-6EFE9843CDA0}"/>
              </a:ext>
            </a:extLst>
          </p:cNvPr>
          <p:cNvSpPr>
            <a:spLocks xmlns:a="http://schemas.openxmlformats.org/drawingml/2006/main" noGrp="1"/>
          </p:cNvSpPr>
          <p:nvPr/>
        </p:nvSpPr>
        <p:spPr>
          <a:xfrm xmlns:a="http://schemas.openxmlformats.org/drawingml/2006/main">
            <a:off x="6553200" y="541020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59" name="">
            <a:extLst xmlns:a="http://schemas.openxmlformats.org/drawingml/2006/main">
              <a:ext uri="{FF2B5EF4-FFF2-40B4-BE49-F238E27FC236}">
                <a16:creationId xmlns:a16="http://schemas.microsoft.com/office/drawing/2014/main" id="{5E7564CB-0031-4432-ADF8-6A65F20A0B12}"/>
              </a:ext>
            </a:extLst>
          </p:cNvPr>
          <p:cNvSpPr>
            <a:spLocks xmlns:a="http://schemas.openxmlformats.org/drawingml/2006/main" noGrp="1"/>
          </p:cNvSpPr>
          <p:nvPr/>
        </p:nvSpPr>
        <p:spPr>
          <a:xfrm xmlns:a="http://schemas.openxmlformats.org/drawingml/2006/main">
            <a:off x="6743700" y="5334000"/>
            <a:ext cx="3657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E8F4F8"/>
                </a:solidFill>
              </a:defRPr>
            </a:pPr>
            <a:r>
              <a:rPr sz="975" b="0">
                <a:solidFill>
                  <a:srgbClr val="E8F4F8"/>
                </a:solidFill>
              </a:rPr>
              <a:t>待办中心可根据当前角色自动聚合“待审批”或“待提交”事项。</a:t>
            </a:r>
          </a:p>
        </p:txBody>
      </p:sp>
    </p:spTree>
    <p:extLst>
      <p:ext uri="{BB962C8B-B14F-4D97-AF65-F5344CB8AC3E}">
        <p14:creationId xmlns:p14="http://schemas.microsoft.com/office/powerpoint/2010/main" val="1126858660"/>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D741838-B7DA-4103-B7B6-DFB06DC724E4}"/>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6658FF6-8DF2-4783-9A5E-B7D93EEF69E5}"/>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EB08766-91AF-4557-A1AF-0D94F1F3B959}"/>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IMPLEMENTATION</a:t>
            </a:r>
          </a:p>
        </p:txBody>
      </p:sp>
      <p:sp>
        <p:nvSpPr>
          <p:cNvPr id="5" name="">
            <a:extLst xmlns:a="http://schemas.openxmlformats.org/drawingml/2006/main">
              <a:ext uri="{FF2B5EF4-FFF2-40B4-BE49-F238E27FC236}">
                <a16:creationId xmlns:a16="http://schemas.microsoft.com/office/drawing/2014/main" id="{7C70536C-E54C-4F55-BD0E-C60A3E1E4F93}"/>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10</a:t>
            </a:r>
          </a:p>
        </p:txBody>
      </p:sp>
      <p:sp>
        <p:nvSpPr>
          <p:cNvPr id="6" name="">
            <a:extLst xmlns:a="http://schemas.openxmlformats.org/drawingml/2006/main">
              <a:ext uri="{FF2B5EF4-FFF2-40B4-BE49-F238E27FC236}">
                <a16:creationId xmlns:a16="http://schemas.microsoft.com/office/drawing/2014/main" id="{E18A5FFC-682E-4866-AFA8-CF8460954FFB}"/>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关键实现一：项目管理与流程详情</a:t>
            </a:r>
          </a:p>
        </p:txBody>
      </p:sp>
      <p:sp>
        <p:nvSpPr>
          <p:cNvPr id="7" name="">
            <a:extLst xmlns:a="http://schemas.openxmlformats.org/drawingml/2006/main">
              <a:ext uri="{FF2B5EF4-FFF2-40B4-BE49-F238E27FC236}">
                <a16:creationId xmlns:a16="http://schemas.microsoft.com/office/drawing/2014/main" id="{B187B638-A9B4-4446-9AED-7D86DD411E05}"/>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这部分重点展示项目列表、流程详情以及阶段材料提交的业务闭环。</a:t>
            </a:r>
          </a:p>
        </p:txBody>
      </p:sp>
      <p:sp>
        <p:nvSpPr>
          <p:cNvPr id="8" name="">
            <a:extLst xmlns:a="http://schemas.openxmlformats.org/drawingml/2006/main">
              <a:ext uri="{FF2B5EF4-FFF2-40B4-BE49-F238E27FC236}">
                <a16:creationId xmlns:a16="http://schemas.microsoft.com/office/drawing/2014/main" id="{F1854B72-BC1F-449E-9507-B6B3FD1AC323}"/>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55A352C-A776-4709-B16A-8C78897CCCDD}"/>
              </a:ext>
            </a:extLst>
          </p:cNvPr>
          <p:cNvSpPr>
            <a:spLocks xmlns:a="http://schemas.openxmlformats.org/drawingml/2006/main" noGrp="1"/>
          </p:cNvSpPr>
          <p:nvPr/>
        </p:nvSpPr>
        <p:spPr>
          <a:xfrm xmlns:a="http://schemas.openxmlformats.org/drawingml/2006/main">
            <a:off x="685800" y="1809750"/>
            <a:ext cx="5143500" cy="3467100"/>
          </a:xfrm>
          <a:prstGeom xmlns:a="http://schemas.openxmlformats.org/drawingml/2006/main" prst="roundRect">
            <a:avLst>
              <a:gd name="adj" fmla="val 2198"/>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20C4FAFE-20E1-47A6-9E8C-EDB284F1C5D9}"/>
              </a:ext>
            </a:extLst>
          </p:cNvPr>
          <p:cNvSpPr>
            <a:spLocks xmlns:a="http://schemas.openxmlformats.org/drawingml/2006/main" noGrp="1"/>
          </p:cNvSpPr>
          <p:nvPr/>
        </p:nvSpPr>
        <p:spPr>
          <a:xfrm xmlns:a="http://schemas.openxmlformats.org/drawingml/2006/main">
            <a:off x="857250" y="1962150"/>
            <a:ext cx="480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02A43"/>
                </a:solidFill>
              </a:defRPr>
            </a:pPr>
            <a:r>
              <a:rPr sz="1050" b="1">
                <a:solidFill>
                  <a:srgbClr val="102A43"/>
                </a:solidFill>
              </a:rPr>
              <a:t>项目管理任务流</a:t>
            </a:r>
          </a:p>
        </p:txBody>
      </p:sp>
      <p:sp>
        <p:nvSpPr>
          <p:cNvPr id="11" name="">
            <a:extLst xmlns:a="http://schemas.openxmlformats.org/drawingml/2006/main">
              <a:ext uri="{FF2B5EF4-FFF2-40B4-BE49-F238E27FC236}">
                <a16:creationId xmlns:a16="http://schemas.microsoft.com/office/drawing/2014/main" id="{8CFB0E0C-F640-4140-AAD7-2CFB962F496B}"/>
              </a:ext>
            </a:extLst>
          </p:cNvPr>
          <p:cNvSpPr>
            <a:spLocks xmlns:a="http://schemas.openxmlformats.org/drawingml/2006/main" noGrp="1"/>
          </p:cNvSpPr>
          <p:nvPr/>
        </p:nvSpPr>
        <p:spPr>
          <a:xfrm xmlns:a="http://schemas.openxmlformats.org/drawingml/2006/main">
            <a:off x="857250" y="4876800"/>
            <a:ext cx="4800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0">
                <a:solidFill>
                  <a:srgbClr val="7B8794"/>
                </a:solidFill>
              </a:defRPr>
            </a:pPr>
            <a:r>
              <a:rPr sz="750" b="0">
                <a:solidFill>
                  <a:srgbClr val="7B8794"/>
                </a:solidFill>
              </a:rPr>
              <a:t>支持条件查询、查看列表、新增/编辑/删除、导出与进入详情，体现项目全生命周期管理。</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08a947d63fb46bc"/>
          <a:stretch xmlns:a="http://schemas.openxmlformats.org/drawingml/2006/main"/>
        </p:blipFill>
        <p:spPr>
          <a:xfrm xmlns:a="http://schemas.openxmlformats.org/drawingml/2006/main">
            <a:off x="864658" y="2247900"/>
            <a:ext cx="4785783" cy="25336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F840698-6360-41BF-BAE9-B9FA1E81E013}"/>
              </a:ext>
            </a:extLst>
          </p:cNvPr>
          <p:cNvSpPr>
            <a:spLocks xmlns:a="http://schemas.openxmlformats.org/drawingml/2006/main" noGrp="1"/>
          </p:cNvSpPr>
          <p:nvPr/>
        </p:nvSpPr>
        <p:spPr>
          <a:xfrm xmlns:a="http://schemas.openxmlformats.org/drawingml/2006/main">
            <a:off x="6343650" y="1809750"/>
            <a:ext cx="5143500" cy="3467100"/>
          </a:xfrm>
          <a:prstGeom xmlns:a="http://schemas.openxmlformats.org/drawingml/2006/main" prst="roundRect">
            <a:avLst>
              <a:gd name="adj" fmla="val 2198"/>
            </a:avLst>
          </a:prstGeom>
          <a:solidFill xmlns:a="http://schemas.openxmlformats.org/drawingml/2006/main">
            <a:srgbClr val="FFFFFF"/>
          </a:solidFill>
          <a:ln xmlns:a="http://schemas.openxmlformats.org/drawingml/2006/main" w="9525">
            <a:solidFill>
              <a:srgbClr val="D9E2EC"/>
            </a:solidFill>
            <a:prstDash val="solid"/>
          </a:ln>
        </p:spPr>
      </p:sp>
      <p:sp>
        <p:nvSpPr>
          <p:cNvPr id="14" name="">
            <a:extLst xmlns:a="http://schemas.openxmlformats.org/drawingml/2006/main">
              <a:ext uri="{FF2B5EF4-FFF2-40B4-BE49-F238E27FC236}">
                <a16:creationId xmlns:a16="http://schemas.microsoft.com/office/drawing/2014/main" id="{49F031DA-BE54-46A2-9B41-E4D82392F9B2}"/>
              </a:ext>
            </a:extLst>
          </p:cNvPr>
          <p:cNvSpPr>
            <a:spLocks xmlns:a="http://schemas.openxmlformats.org/drawingml/2006/main" noGrp="1"/>
          </p:cNvSpPr>
          <p:nvPr/>
        </p:nvSpPr>
        <p:spPr>
          <a:xfrm xmlns:a="http://schemas.openxmlformats.org/drawingml/2006/main">
            <a:off x="6515100" y="1962150"/>
            <a:ext cx="480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02A43"/>
                </a:solidFill>
              </a:defRPr>
            </a:pPr>
            <a:r>
              <a:rPr sz="1050" b="1">
                <a:solidFill>
                  <a:srgbClr val="102A43"/>
                </a:solidFill>
              </a:rPr>
              <a:t>项目流程详情任务流</a:t>
            </a:r>
          </a:p>
        </p:txBody>
      </p:sp>
      <p:sp>
        <p:nvSpPr>
          <p:cNvPr id="15" name="">
            <a:extLst xmlns:a="http://schemas.openxmlformats.org/drawingml/2006/main">
              <a:ext uri="{FF2B5EF4-FFF2-40B4-BE49-F238E27FC236}">
                <a16:creationId xmlns:a16="http://schemas.microsoft.com/office/drawing/2014/main" id="{7F239F42-CE4A-42CE-92D8-3C4384FCF995}"/>
              </a:ext>
            </a:extLst>
          </p:cNvPr>
          <p:cNvSpPr>
            <a:spLocks xmlns:a="http://schemas.openxmlformats.org/drawingml/2006/main" noGrp="1"/>
          </p:cNvSpPr>
          <p:nvPr/>
        </p:nvSpPr>
        <p:spPr>
          <a:xfrm xmlns:a="http://schemas.openxmlformats.org/drawingml/2006/main">
            <a:off x="6515100" y="4876800"/>
            <a:ext cx="4800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0">
                <a:solidFill>
                  <a:srgbClr val="7B8794"/>
                </a:solidFill>
              </a:defRPr>
            </a:pPr>
            <a:r>
              <a:rPr sz="750" b="0">
                <a:solidFill>
                  <a:srgbClr val="7B8794"/>
                </a:solidFill>
              </a:rPr>
              <a:t>支持阶段切换、查看详情、上传附件、提交当前阶段与预览下载，体现过程留痕。</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cf115c1072545dc"/>
          <a:stretch xmlns:a="http://schemas.openxmlformats.org/drawingml/2006/main"/>
        </p:blipFill>
        <p:spPr>
          <a:xfrm xmlns:a="http://schemas.openxmlformats.org/drawingml/2006/main">
            <a:off x="6522508" y="2247900"/>
            <a:ext cx="4785783" cy="25336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FA9B202-CEFA-44AB-9AB6-D0D87836341A}"/>
              </a:ext>
            </a:extLst>
          </p:cNvPr>
          <p:cNvSpPr>
            <a:spLocks xmlns:a="http://schemas.openxmlformats.org/drawingml/2006/main" noGrp="1"/>
          </p:cNvSpPr>
          <p:nvPr/>
        </p:nvSpPr>
        <p:spPr>
          <a:xfrm xmlns:a="http://schemas.openxmlformats.org/drawingml/2006/main">
            <a:off x="685800" y="5467350"/>
            <a:ext cx="108013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9E2EC"/>
            </a:solidFill>
            <a:prstDash val="solid"/>
          </a:ln>
        </p:spPr>
      </p:sp>
      <p:sp>
        <p:nvSpPr>
          <p:cNvPr id="18" name="">
            <a:extLst xmlns:a="http://schemas.openxmlformats.org/drawingml/2006/main">
              <a:ext uri="{FF2B5EF4-FFF2-40B4-BE49-F238E27FC236}">
                <a16:creationId xmlns:a16="http://schemas.microsoft.com/office/drawing/2014/main" id="{C1979791-EF2E-4266-968C-95A0BE22F0C6}"/>
              </a:ext>
            </a:extLst>
          </p:cNvPr>
          <p:cNvSpPr>
            <a:spLocks xmlns:a="http://schemas.openxmlformats.org/drawingml/2006/main" noGrp="1"/>
          </p:cNvSpPr>
          <p:nvPr/>
        </p:nvSpPr>
        <p:spPr>
          <a:xfrm xmlns:a="http://schemas.openxmlformats.org/drawingml/2006/main">
            <a:off x="914400" y="56769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243B53"/>
                </a:solidFill>
              </a:defRPr>
            </a:pPr>
            <a:r>
              <a:rPr sz="900" b="0">
                <a:solidFill>
                  <a:srgbClr val="243B53"/>
                </a:solidFill>
              </a:rPr>
              <a:t>前端通过项目列表与详情页承接主要业务入口。</a:t>
            </a:r>
          </a:p>
        </p:txBody>
      </p:sp>
      <p:sp>
        <p:nvSpPr>
          <p:cNvPr id="19" name="">
            <a:extLst xmlns:a="http://schemas.openxmlformats.org/drawingml/2006/main">
              <a:ext uri="{FF2B5EF4-FFF2-40B4-BE49-F238E27FC236}">
                <a16:creationId xmlns:a16="http://schemas.microsoft.com/office/drawing/2014/main" id="{25E1E7BA-0D71-4358-B160-F9DE2343C285}"/>
              </a:ext>
            </a:extLst>
          </p:cNvPr>
          <p:cNvSpPr>
            <a:spLocks xmlns:a="http://schemas.openxmlformats.org/drawingml/2006/main" noGrp="1"/>
          </p:cNvSpPr>
          <p:nvPr/>
        </p:nvSpPr>
        <p:spPr>
          <a:xfrm xmlns:a="http://schemas.openxmlformats.org/drawingml/2006/main">
            <a:off x="4343400" y="56769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18B6B0"/>
                </a:solidFill>
              </a:defRPr>
            </a:pPr>
            <a:r>
              <a:rPr sz="900" b="1">
                <a:solidFill>
                  <a:srgbClr val="18B6B0"/>
                </a:solidFill>
              </a:rPr>
              <a:t>流程详情页重点解决“当前到哪一步、需要交什么材料”的问题。</a:t>
            </a:r>
          </a:p>
        </p:txBody>
      </p:sp>
      <p:sp>
        <p:nvSpPr>
          <p:cNvPr id="20" name="">
            <a:extLst xmlns:a="http://schemas.openxmlformats.org/drawingml/2006/main">
              <a:ext uri="{FF2B5EF4-FFF2-40B4-BE49-F238E27FC236}">
                <a16:creationId xmlns:a16="http://schemas.microsoft.com/office/drawing/2014/main" id="{692868DD-085F-48D4-A8A3-8EB16C260891}"/>
              </a:ext>
            </a:extLst>
          </p:cNvPr>
          <p:cNvSpPr>
            <a:spLocks xmlns:a="http://schemas.openxmlformats.org/drawingml/2006/main" noGrp="1"/>
          </p:cNvSpPr>
          <p:nvPr/>
        </p:nvSpPr>
        <p:spPr>
          <a:xfrm xmlns:a="http://schemas.openxmlformats.org/drawingml/2006/main">
            <a:off x="7772400" y="56769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0">
                <a:solidFill>
                  <a:srgbClr val="243B53"/>
                </a:solidFill>
              </a:defRPr>
            </a:pPr>
            <a:r>
              <a:rPr sz="900" b="0">
                <a:solidFill>
                  <a:srgbClr val="243B53"/>
                </a:solidFill>
              </a:rPr>
              <a:t>后端根据 `orderNum` 与状态码控制节点先后顺序。</a:t>
            </a:r>
          </a:p>
        </p:txBody>
      </p:sp>
    </p:spTree>
    <p:extLst>
      <p:ext uri="{BB962C8B-B14F-4D97-AF65-F5344CB8AC3E}">
        <p14:creationId xmlns:p14="http://schemas.microsoft.com/office/powerpoint/2010/main" val="448145010"/>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CDD603D-CCB1-44A3-9368-0A854237FFC6}"/>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F7F3975-BBEC-4D50-A3AA-B9D92A9F9C6E}"/>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796E43F-3E47-40C4-B86F-3206B0B852F2}"/>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IMPLEMENTATION</a:t>
            </a:r>
          </a:p>
        </p:txBody>
      </p:sp>
      <p:sp>
        <p:nvSpPr>
          <p:cNvPr id="5" name="">
            <a:extLst xmlns:a="http://schemas.openxmlformats.org/drawingml/2006/main">
              <a:ext uri="{FF2B5EF4-FFF2-40B4-BE49-F238E27FC236}">
                <a16:creationId xmlns:a16="http://schemas.microsoft.com/office/drawing/2014/main" id="{AB8AFFEB-2C9F-44D5-BC2A-56FDE394CB9E}"/>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11</a:t>
            </a:r>
          </a:p>
        </p:txBody>
      </p:sp>
      <p:sp>
        <p:nvSpPr>
          <p:cNvPr id="6" name="">
            <a:extLst xmlns:a="http://schemas.openxmlformats.org/drawingml/2006/main">
              <a:ext uri="{FF2B5EF4-FFF2-40B4-BE49-F238E27FC236}">
                <a16:creationId xmlns:a16="http://schemas.microsoft.com/office/drawing/2014/main" id="{13BA93D8-A0B0-4911-BE18-669A22F75C0B}"/>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关键实现二：审批、报销与成果管理</a:t>
            </a:r>
          </a:p>
        </p:txBody>
      </p:sp>
      <p:sp>
        <p:nvSpPr>
          <p:cNvPr id="7" name="">
            <a:extLst xmlns:a="http://schemas.openxmlformats.org/drawingml/2006/main">
              <a:ext uri="{FF2B5EF4-FFF2-40B4-BE49-F238E27FC236}">
                <a16:creationId xmlns:a16="http://schemas.microsoft.com/office/drawing/2014/main" id="{EBBFB39A-DE0C-437E-BF29-F4CCF6CF6784}"/>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系统不仅管理项目，还覆盖申请审批、报销审核和成果归档等配套业务。</a:t>
            </a:r>
          </a:p>
        </p:txBody>
      </p:sp>
      <p:sp>
        <p:nvSpPr>
          <p:cNvPr id="8" name="">
            <a:extLst xmlns:a="http://schemas.openxmlformats.org/drawingml/2006/main">
              <a:ext uri="{FF2B5EF4-FFF2-40B4-BE49-F238E27FC236}">
                <a16:creationId xmlns:a16="http://schemas.microsoft.com/office/drawing/2014/main" id="{225BD844-7E45-44B1-B3A6-712181CEDAB6}"/>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B331BE7-C73B-41C6-B5CC-CD829937FDE0}"/>
              </a:ext>
            </a:extLst>
          </p:cNvPr>
          <p:cNvSpPr>
            <a:spLocks xmlns:a="http://schemas.openxmlformats.org/drawingml/2006/main" noGrp="1"/>
          </p:cNvSpPr>
          <p:nvPr/>
        </p:nvSpPr>
        <p:spPr>
          <a:xfrm xmlns:a="http://schemas.openxmlformats.org/drawingml/2006/main">
            <a:off x="685800" y="1866900"/>
            <a:ext cx="3352800" cy="367665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33193CFD-9E3C-4820-BC8B-43494922F272}"/>
              </a:ext>
            </a:extLst>
          </p:cNvPr>
          <p:cNvSpPr>
            <a:spLocks xmlns:a="http://schemas.openxmlformats.org/drawingml/2006/main" noGrp="1"/>
          </p:cNvSpPr>
          <p:nvPr/>
        </p:nvSpPr>
        <p:spPr>
          <a:xfrm xmlns:a="http://schemas.openxmlformats.org/drawingml/2006/main">
            <a:off x="685800" y="1866900"/>
            <a:ext cx="3352800" cy="762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6554F85-A435-42D9-9C04-0007B1595CCB}"/>
              </a:ext>
            </a:extLst>
          </p:cNvPr>
          <p:cNvSpPr>
            <a:spLocks xmlns:a="http://schemas.openxmlformats.org/drawingml/2006/main" noGrp="1"/>
          </p:cNvSpPr>
          <p:nvPr/>
        </p:nvSpPr>
        <p:spPr>
          <a:xfrm xmlns:a="http://schemas.openxmlformats.org/drawingml/2006/main">
            <a:off x="876300" y="20955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申请审批</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07c852600e54106"/>
          <a:stretch xmlns:a="http://schemas.openxmlformats.org/drawingml/2006/main"/>
        </p:blipFill>
        <p:spPr>
          <a:xfrm xmlns:a="http://schemas.openxmlformats.org/drawingml/2006/main">
            <a:off x="857250" y="2641787"/>
            <a:ext cx="3009900" cy="1593476"/>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72AACFB-F6B8-420D-A9B1-C4A02EB65907}"/>
              </a:ext>
            </a:extLst>
          </p:cNvPr>
          <p:cNvSpPr>
            <a:spLocks xmlns:a="http://schemas.openxmlformats.org/drawingml/2006/main" noGrp="1"/>
          </p:cNvSpPr>
          <p:nvPr/>
        </p:nvSpPr>
        <p:spPr>
          <a:xfrm xmlns:a="http://schemas.openxmlformats.org/drawingml/2006/main">
            <a:off x="876300" y="4629150"/>
            <a:ext cx="2971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支持按节点筛选待办申请，审批通过或驳回后回写意见与状态。</a:t>
            </a:r>
          </a:p>
        </p:txBody>
      </p:sp>
      <p:sp>
        <p:nvSpPr>
          <p:cNvPr id="14" name="">
            <a:extLst xmlns:a="http://schemas.openxmlformats.org/drawingml/2006/main">
              <a:ext uri="{FF2B5EF4-FFF2-40B4-BE49-F238E27FC236}">
                <a16:creationId xmlns:a16="http://schemas.microsoft.com/office/drawing/2014/main" id="{F2D4781B-A1D7-42DC-8106-36132DB3759C}"/>
              </a:ext>
            </a:extLst>
          </p:cNvPr>
          <p:cNvSpPr>
            <a:spLocks xmlns:a="http://schemas.openxmlformats.org/drawingml/2006/main" noGrp="1"/>
          </p:cNvSpPr>
          <p:nvPr/>
        </p:nvSpPr>
        <p:spPr>
          <a:xfrm xmlns:a="http://schemas.openxmlformats.org/drawingml/2006/main">
            <a:off x="3048000" y="2076450"/>
            <a:ext cx="8001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602B045-C77E-470E-96B5-BC3251352338}"/>
              </a:ext>
            </a:extLst>
          </p:cNvPr>
          <p:cNvSpPr>
            <a:spLocks xmlns:a="http://schemas.openxmlformats.org/drawingml/2006/main" noGrp="1"/>
          </p:cNvSpPr>
          <p:nvPr/>
        </p:nvSpPr>
        <p:spPr>
          <a:xfrm xmlns:a="http://schemas.openxmlformats.org/drawingml/2006/main">
            <a:off x="3162300" y="211455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业务闭环</a:t>
            </a:r>
          </a:p>
        </p:txBody>
      </p:sp>
      <p:sp>
        <p:nvSpPr>
          <p:cNvPr id="16" name="">
            <a:extLst xmlns:a="http://schemas.openxmlformats.org/drawingml/2006/main">
              <a:ext uri="{FF2B5EF4-FFF2-40B4-BE49-F238E27FC236}">
                <a16:creationId xmlns:a16="http://schemas.microsoft.com/office/drawing/2014/main" id="{0E3623E1-7F1A-4075-86A8-4167007A8A76}"/>
              </a:ext>
            </a:extLst>
          </p:cNvPr>
          <p:cNvSpPr>
            <a:spLocks xmlns:a="http://schemas.openxmlformats.org/drawingml/2006/main" noGrp="1"/>
          </p:cNvSpPr>
          <p:nvPr/>
        </p:nvSpPr>
        <p:spPr>
          <a:xfrm xmlns:a="http://schemas.openxmlformats.org/drawingml/2006/main">
            <a:off x="4419600" y="1866900"/>
            <a:ext cx="3352800" cy="367665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9E2EC"/>
            </a:solidFill>
            <a:prstDash val="solid"/>
          </a:ln>
        </p:spPr>
      </p:sp>
      <p:sp>
        <p:nvSpPr>
          <p:cNvPr id="17" name="">
            <a:extLst xmlns:a="http://schemas.openxmlformats.org/drawingml/2006/main">
              <a:ext uri="{FF2B5EF4-FFF2-40B4-BE49-F238E27FC236}">
                <a16:creationId xmlns:a16="http://schemas.microsoft.com/office/drawing/2014/main" id="{2648DBBC-F7FB-4E67-B156-96DB795211E5}"/>
              </a:ext>
            </a:extLst>
          </p:cNvPr>
          <p:cNvSpPr>
            <a:spLocks xmlns:a="http://schemas.openxmlformats.org/drawingml/2006/main" noGrp="1"/>
          </p:cNvSpPr>
          <p:nvPr/>
        </p:nvSpPr>
        <p:spPr>
          <a:xfrm xmlns:a="http://schemas.openxmlformats.org/drawingml/2006/main">
            <a:off x="4419600" y="1866900"/>
            <a:ext cx="3352800" cy="7620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D5A5BF87-B5FE-406E-AD5C-1F93A4AB4C61}"/>
              </a:ext>
            </a:extLst>
          </p:cNvPr>
          <p:cNvSpPr>
            <a:spLocks xmlns:a="http://schemas.openxmlformats.org/drawingml/2006/main" noGrp="1"/>
          </p:cNvSpPr>
          <p:nvPr/>
        </p:nvSpPr>
        <p:spPr>
          <a:xfrm xmlns:a="http://schemas.openxmlformats.org/drawingml/2006/main">
            <a:off x="4610100" y="20955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报销管理</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9707c8e4e0441b4"/>
          <a:stretch xmlns:a="http://schemas.openxmlformats.org/drawingml/2006/main"/>
        </p:blipFill>
        <p:spPr>
          <a:xfrm xmlns:a="http://schemas.openxmlformats.org/drawingml/2006/main">
            <a:off x="4591050" y="2641787"/>
            <a:ext cx="3009900" cy="1593476"/>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13FABF5B-EE12-4526-95B5-E23C499CF58D}"/>
              </a:ext>
            </a:extLst>
          </p:cNvPr>
          <p:cNvSpPr>
            <a:spLocks xmlns:a="http://schemas.openxmlformats.org/drawingml/2006/main" noGrp="1"/>
          </p:cNvSpPr>
          <p:nvPr/>
        </p:nvSpPr>
        <p:spPr>
          <a:xfrm xmlns:a="http://schemas.openxmlformats.org/drawingml/2006/main">
            <a:off x="4610100" y="4629150"/>
            <a:ext cx="2971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支持查看报销单、预览附件、审核通过/拒绝，并统计项目支出。</a:t>
            </a:r>
          </a:p>
        </p:txBody>
      </p:sp>
      <p:sp>
        <p:nvSpPr>
          <p:cNvPr id="21" name="">
            <a:extLst xmlns:a="http://schemas.openxmlformats.org/drawingml/2006/main">
              <a:ext uri="{FF2B5EF4-FFF2-40B4-BE49-F238E27FC236}">
                <a16:creationId xmlns:a16="http://schemas.microsoft.com/office/drawing/2014/main" id="{FD619A4C-8FFE-4FE0-B6FD-3E4C4A555C79}"/>
              </a:ext>
            </a:extLst>
          </p:cNvPr>
          <p:cNvSpPr>
            <a:spLocks xmlns:a="http://schemas.openxmlformats.org/drawingml/2006/main" noGrp="1"/>
          </p:cNvSpPr>
          <p:nvPr/>
        </p:nvSpPr>
        <p:spPr>
          <a:xfrm xmlns:a="http://schemas.openxmlformats.org/drawingml/2006/main">
            <a:off x="6781800" y="2076450"/>
            <a:ext cx="8001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7D7C80B-4A8E-468F-A46C-641C2CF2D879}"/>
              </a:ext>
            </a:extLst>
          </p:cNvPr>
          <p:cNvSpPr>
            <a:spLocks xmlns:a="http://schemas.openxmlformats.org/drawingml/2006/main" noGrp="1"/>
          </p:cNvSpPr>
          <p:nvPr/>
        </p:nvSpPr>
        <p:spPr>
          <a:xfrm xmlns:a="http://schemas.openxmlformats.org/drawingml/2006/main">
            <a:off x="6896100" y="211455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业务闭环</a:t>
            </a:r>
          </a:p>
        </p:txBody>
      </p:sp>
      <p:sp>
        <p:nvSpPr>
          <p:cNvPr id="23" name="">
            <a:extLst xmlns:a="http://schemas.openxmlformats.org/drawingml/2006/main">
              <a:ext uri="{FF2B5EF4-FFF2-40B4-BE49-F238E27FC236}">
                <a16:creationId xmlns:a16="http://schemas.microsoft.com/office/drawing/2014/main" id="{27EDF429-6D8B-4E2B-B0AC-D93D4F65AD55}"/>
              </a:ext>
            </a:extLst>
          </p:cNvPr>
          <p:cNvSpPr>
            <a:spLocks xmlns:a="http://schemas.openxmlformats.org/drawingml/2006/main" noGrp="1"/>
          </p:cNvSpPr>
          <p:nvPr/>
        </p:nvSpPr>
        <p:spPr>
          <a:xfrm xmlns:a="http://schemas.openxmlformats.org/drawingml/2006/main">
            <a:off x="8153400" y="1866900"/>
            <a:ext cx="3352800" cy="367665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9E2EC"/>
            </a:solidFill>
            <a:prstDash val="solid"/>
          </a:ln>
        </p:spPr>
      </p:sp>
      <p:sp>
        <p:nvSpPr>
          <p:cNvPr id="24" name="">
            <a:extLst xmlns:a="http://schemas.openxmlformats.org/drawingml/2006/main">
              <a:ext uri="{FF2B5EF4-FFF2-40B4-BE49-F238E27FC236}">
                <a16:creationId xmlns:a16="http://schemas.microsoft.com/office/drawing/2014/main" id="{D3071300-CD4E-4078-9BBE-0500C4BE04A4}"/>
              </a:ext>
            </a:extLst>
          </p:cNvPr>
          <p:cNvSpPr>
            <a:spLocks xmlns:a="http://schemas.openxmlformats.org/drawingml/2006/main" noGrp="1"/>
          </p:cNvSpPr>
          <p:nvPr/>
        </p:nvSpPr>
        <p:spPr>
          <a:xfrm xmlns:a="http://schemas.openxmlformats.org/drawingml/2006/main">
            <a:off x="8153400" y="1866900"/>
            <a:ext cx="3352800" cy="76200"/>
          </a:xfrm>
          <a:prstGeom xmlns:a="http://schemas.openxmlformats.org/drawingml/2006/main" prst="rect">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2E596674-7B05-4AE5-BB90-6BFE99716970}"/>
              </a:ext>
            </a:extLst>
          </p:cNvPr>
          <p:cNvSpPr>
            <a:spLocks xmlns:a="http://schemas.openxmlformats.org/drawingml/2006/main" noGrp="1"/>
          </p:cNvSpPr>
          <p:nvPr/>
        </p:nvSpPr>
        <p:spPr>
          <a:xfrm xmlns:a="http://schemas.openxmlformats.org/drawingml/2006/main">
            <a:off x="8343900" y="20955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成果管理</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ede64fcfc7a4706"/>
          <a:stretch xmlns:a="http://schemas.openxmlformats.org/drawingml/2006/main"/>
        </p:blipFill>
        <p:spPr>
          <a:xfrm xmlns:a="http://schemas.openxmlformats.org/drawingml/2006/main">
            <a:off x="8324850" y="2641787"/>
            <a:ext cx="3009900" cy="1593476"/>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919BE932-7FBE-4174-8DB6-43B402143625}"/>
              </a:ext>
            </a:extLst>
          </p:cNvPr>
          <p:cNvSpPr>
            <a:spLocks xmlns:a="http://schemas.openxmlformats.org/drawingml/2006/main" noGrp="1"/>
          </p:cNvSpPr>
          <p:nvPr/>
        </p:nvSpPr>
        <p:spPr>
          <a:xfrm xmlns:a="http://schemas.openxmlformats.org/drawingml/2006/main">
            <a:off x="8343900" y="4629150"/>
            <a:ext cx="29718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486581"/>
                </a:solidFill>
              </a:defRPr>
            </a:pPr>
            <a:r>
              <a:rPr sz="900" b="0">
                <a:solidFill>
                  <a:srgbClr val="486581"/>
                </a:solidFill>
              </a:rPr>
              <a:t>项目完成后可维护成果信息，并支持统计分析与数据导出。</a:t>
            </a:r>
          </a:p>
        </p:txBody>
      </p:sp>
      <p:sp>
        <p:nvSpPr>
          <p:cNvPr id="28" name="">
            <a:extLst xmlns:a="http://schemas.openxmlformats.org/drawingml/2006/main">
              <a:ext uri="{FF2B5EF4-FFF2-40B4-BE49-F238E27FC236}">
                <a16:creationId xmlns:a16="http://schemas.microsoft.com/office/drawing/2014/main" id="{F2475638-4AB3-4DE6-8472-D4FBA075BAC7}"/>
              </a:ext>
            </a:extLst>
          </p:cNvPr>
          <p:cNvSpPr>
            <a:spLocks xmlns:a="http://schemas.openxmlformats.org/drawingml/2006/main" noGrp="1"/>
          </p:cNvSpPr>
          <p:nvPr/>
        </p:nvSpPr>
        <p:spPr>
          <a:xfrm xmlns:a="http://schemas.openxmlformats.org/drawingml/2006/main">
            <a:off x="10515600" y="2076450"/>
            <a:ext cx="800100" cy="266700"/>
          </a:xfrm>
          <a:prstGeom xmlns:a="http://schemas.openxmlformats.org/drawingml/2006/main" prst="roundRect">
            <a:avLst>
              <a:gd name="adj" fmla="val 2857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3F944EF-1BA0-41E1-86BF-9A2BFD5F6B57}"/>
              </a:ext>
            </a:extLst>
          </p:cNvPr>
          <p:cNvSpPr>
            <a:spLocks xmlns:a="http://schemas.openxmlformats.org/drawingml/2006/main" noGrp="1"/>
          </p:cNvSpPr>
          <p:nvPr/>
        </p:nvSpPr>
        <p:spPr>
          <a:xfrm xmlns:a="http://schemas.openxmlformats.org/drawingml/2006/main">
            <a:off x="10629900" y="211455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1765B"/>
                </a:solidFill>
              </a:defRPr>
            </a:pPr>
            <a:r>
              <a:rPr sz="900" b="1">
                <a:solidFill>
                  <a:srgbClr val="F1765B"/>
                </a:solidFill>
              </a:rPr>
              <a:t>业务闭环</a:t>
            </a:r>
          </a:p>
        </p:txBody>
      </p:sp>
    </p:spTree>
    <p:extLst>
      <p:ext uri="{BB962C8B-B14F-4D97-AF65-F5344CB8AC3E}">
        <p14:creationId xmlns:p14="http://schemas.microsoft.com/office/powerpoint/2010/main" val="2100169800"/>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C9F10A7-A6D6-4637-9C4E-B56BD2F19B9D}"/>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AC3DD56-961C-4488-A8EA-C4D0CB725CFC}"/>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997BDDB-D989-4A60-96A7-DA211B75F13D}"/>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HIGHLIGHTS</a:t>
            </a:r>
          </a:p>
        </p:txBody>
      </p:sp>
      <p:sp>
        <p:nvSpPr>
          <p:cNvPr id="5" name="">
            <a:extLst xmlns:a="http://schemas.openxmlformats.org/drawingml/2006/main">
              <a:ext uri="{FF2B5EF4-FFF2-40B4-BE49-F238E27FC236}">
                <a16:creationId xmlns:a16="http://schemas.microsoft.com/office/drawing/2014/main" id="{6ECA67E3-863B-46FC-AB56-54F90109C77B}"/>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12</a:t>
            </a:r>
          </a:p>
        </p:txBody>
      </p:sp>
      <p:sp>
        <p:nvSpPr>
          <p:cNvPr id="6" name="">
            <a:extLst xmlns:a="http://schemas.openxmlformats.org/drawingml/2006/main">
              <a:ext uri="{FF2B5EF4-FFF2-40B4-BE49-F238E27FC236}">
                <a16:creationId xmlns:a16="http://schemas.microsoft.com/office/drawing/2014/main" id="{264E53AE-70C7-4ACC-B76D-934754576AE2}"/>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系统特色与创新点</a:t>
            </a:r>
          </a:p>
        </p:txBody>
      </p:sp>
      <p:sp>
        <p:nvSpPr>
          <p:cNvPr id="7" name="">
            <a:extLst xmlns:a="http://schemas.openxmlformats.org/drawingml/2006/main">
              <a:ext uri="{FF2B5EF4-FFF2-40B4-BE49-F238E27FC236}">
                <a16:creationId xmlns:a16="http://schemas.microsoft.com/office/drawing/2014/main" id="{78AA8A58-B9D9-4438-AAF5-67E3C3C61E24}"/>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相较于单纯的增删改查，本课题重点强化流程驱动、权限控制与扩展能力。</a:t>
            </a:r>
          </a:p>
        </p:txBody>
      </p:sp>
      <p:sp>
        <p:nvSpPr>
          <p:cNvPr id="8" name="">
            <a:extLst xmlns:a="http://schemas.openxmlformats.org/drawingml/2006/main">
              <a:ext uri="{FF2B5EF4-FFF2-40B4-BE49-F238E27FC236}">
                <a16:creationId xmlns:a16="http://schemas.microsoft.com/office/drawing/2014/main" id="{BEA2667E-0159-48AB-B794-DF13632163FE}"/>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D844BD1-F038-4524-887D-A58DCF53BAAC}"/>
              </a:ext>
            </a:extLst>
          </p:cNvPr>
          <p:cNvSpPr>
            <a:spLocks xmlns:a="http://schemas.openxmlformats.org/drawingml/2006/main" noGrp="1"/>
          </p:cNvSpPr>
          <p:nvPr/>
        </p:nvSpPr>
        <p:spPr>
          <a:xfrm xmlns:a="http://schemas.openxmlformats.org/drawingml/2006/main">
            <a:off x="685800" y="1828800"/>
            <a:ext cx="51054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0D88EF7F-1C7E-426E-A2F3-DE2A11F9B11F}"/>
              </a:ext>
            </a:extLst>
          </p:cNvPr>
          <p:cNvSpPr>
            <a:spLocks xmlns:a="http://schemas.openxmlformats.org/drawingml/2006/main" noGrp="1"/>
          </p:cNvSpPr>
          <p:nvPr/>
        </p:nvSpPr>
        <p:spPr>
          <a:xfrm xmlns:a="http://schemas.openxmlformats.org/drawingml/2006/main">
            <a:off x="914400" y="2057400"/>
            <a:ext cx="495300" cy="495300"/>
          </a:xfrm>
          <a:prstGeom xmlns:a="http://schemas.openxmlformats.org/drawingml/2006/main" prst="ellipse">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D360AD4-4361-410A-B608-555B41D25CF0}"/>
              </a:ext>
            </a:extLst>
          </p:cNvPr>
          <p:cNvSpPr>
            <a:spLocks xmlns:a="http://schemas.openxmlformats.org/drawingml/2006/main" noGrp="1"/>
          </p:cNvSpPr>
          <p:nvPr/>
        </p:nvSpPr>
        <p:spPr>
          <a:xfrm xmlns:a="http://schemas.openxmlformats.org/drawingml/2006/main">
            <a:off x="914400" y="22098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8B6B0"/>
                </a:solidFill>
              </a:defRPr>
            </a:pPr>
            <a:r>
              <a:rPr sz="1200" b="1">
                <a:solidFill>
                  <a:srgbClr val="18B6B0"/>
                </a:solidFill>
              </a:rPr>
              <a:t>1</a:t>
            </a:r>
          </a:p>
        </p:txBody>
      </p:sp>
      <p:sp>
        <p:nvSpPr>
          <p:cNvPr id="12" name="">
            <a:extLst xmlns:a="http://schemas.openxmlformats.org/drawingml/2006/main">
              <a:ext uri="{FF2B5EF4-FFF2-40B4-BE49-F238E27FC236}">
                <a16:creationId xmlns:a16="http://schemas.microsoft.com/office/drawing/2014/main" id="{9F29B138-D9B9-416B-ADA2-F6C96BE3B3BA}"/>
              </a:ext>
            </a:extLst>
          </p:cNvPr>
          <p:cNvSpPr>
            <a:spLocks xmlns:a="http://schemas.openxmlformats.org/drawingml/2006/main" noGrp="1"/>
          </p:cNvSpPr>
          <p:nvPr/>
        </p:nvSpPr>
        <p:spPr>
          <a:xfrm xmlns:a="http://schemas.openxmlformats.org/drawingml/2006/main">
            <a:off x="1581150" y="20955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多角色 RBAC</a:t>
            </a:r>
          </a:p>
        </p:txBody>
      </p:sp>
      <p:sp>
        <p:nvSpPr>
          <p:cNvPr id="13" name="">
            <a:extLst xmlns:a="http://schemas.openxmlformats.org/drawingml/2006/main">
              <a:ext uri="{FF2B5EF4-FFF2-40B4-BE49-F238E27FC236}">
                <a16:creationId xmlns:a16="http://schemas.microsoft.com/office/drawing/2014/main" id="{A0302D14-860B-426C-ABDC-470D907600B9}"/>
              </a:ext>
            </a:extLst>
          </p:cNvPr>
          <p:cNvSpPr>
            <a:spLocks xmlns:a="http://schemas.openxmlformats.org/drawingml/2006/main" noGrp="1"/>
          </p:cNvSpPr>
          <p:nvPr/>
        </p:nvSpPr>
        <p:spPr>
          <a:xfrm xmlns:a="http://schemas.openxmlformats.org/drawingml/2006/main">
            <a:off x="1581150" y="2381250"/>
            <a:ext cx="38100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前端基于 `moduleKey` 做菜单与路由过滤，后端基于 JWT 和 Spring Security 做接口鉴权。</a:t>
            </a:r>
          </a:p>
        </p:txBody>
      </p:sp>
      <p:sp>
        <p:nvSpPr>
          <p:cNvPr id="14" name="">
            <a:extLst xmlns:a="http://schemas.openxmlformats.org/drawingml/2006/main">
              <a:ext uri="{FF2B5EF4-FFF2-40B4-BE49-F238E27FC236}">
                <a16:creationId xmlns:a16="http://schemas.microsoft.com/office/drawing/2014/main" id="{B7A1E481-EC02-48EF-B8A7-104A1F65D73B}"/>
              </a:ext>
            </a:extLst>
          </p:cNvPr>
          <p:cNvSpPr>
            <a:spLocks xmlns:a="http://schemas.openxmlformats.org/drawingml/2006/main" noGrp="1"/>
          </p:cNvSpPr>
          <p:nvPr/>
        </p:nvSpPr>
        <p:spPr>
          <a:xfrm xmlns:a="http://schemas.openxmlformats.org/drawingml/2006/main">
            <a:off x="4610100" y="2095500"/>
            <a:ext cx="8763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280E486-B761-4EF2-B824-3E84554671AE}"/>
              </a:ext>
            </a:extLst>
          </p:cNvPr>
          <p:cNvSpPr>
            <a:spLocks xmlns:a="http://schemas.openxmlformats.org/drawingml/2006/main" noGrp="1"/>
          </p:cNvSpPr>
          <p:nvPr/>
        </p:nvSpPr>
        <p:spPr>
          <a:xfrm xmlns:a="http://schemas.openxmlformats.org/drawingml/2006/main">
            <a:off x="4724400" y="2133600"/>
            <a:ext cx="647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特色设计</a:t>
            </a:r>
          </a:p>
        </p:txBody>
      </p:sp>
      <p:sp>
        <p:nvSpPr>
          <p:cNvPr id="16" name="">
            <a:extLst xmlns:a="http://schemas.openxmlformats.org/drawingml/2006/main">
              <a:ext uri="{FF2B5EF4-FFF2-40B4-BE49-F238E27FC236}">
                <a16:creationId xmlns:a16="http://schemas.microsoft.com/office/drawing/2014/main" id="{5A69CA56-DE46-411C-886A-BC6068C807D7}"/>
              </a:ext>
            </a:extLst>
          </p:cNvPr>
          <p:cNvSpPr>
            <a:spLocks xmlns:a="http://schemas.openxmlformats.org/drawingml/2006/main" noGrp="1"/>
          </p:cNvSpPr>
          <p:nvPr/>
        </p:nvSpPr>
        <p:spPr>
          <a:xfrm xmlns:a="http://schemas.openxmlformats.org/drawingml/2006/main">
            <a:off x="6134100" y="1828800"/>
            <a:ext cx="51054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9E2EC"/>
            </a:solidFill>
            <a:prstDash val="solid"/>
          </a:ln>
        </p:spPr>
      </p:sp>
      <p:sp>
        <p:nvSpPr>
          <p:cNvPr id="17" name="">
            <a:extLst xmlns:a="http://schemas.openxmlformats.org/drawingml/2006/main">
              <a:ext uri="{FF2B5EF4-FFF2-40B4-BE49-F238E27FC236}">
                <a16:creationId xmlns:a16="http://schemas.microsoft.com/office/drawing/2014/main" id="{A953DC5A-04F5-4F95-91E3-1849F2F7501F}"/>
              </a:ext>
            </a:extLst>
          </p:cNvPr>
          <p:cNvSpPr>
            <a:spLocks xmlns:a="http://schemas.openxmlformats.org/drawingml/2006/main" noGrp="1"/>
          </p:cNvSpPr>
          <p:nvPr/>
        </p:nvSpPr>
        <p:spPr>
          <a:xfrm xmlns:a="http://schemas.openxmlformats.org/drawingml/2006/main">
            <a:off x="6362700" y="2057400"/>
            <a:ext cx="495300" cy="495300"/>
          </a:xfrm>
          <a:prstGeom xmlns:a="http://schemas.openxmlformats.org/drawingml/2006/main" prst="ellipse">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2118BCC-CA9D-4860-945F-E542CA298646}"/>
              </a:ext>
            </a:extLst>
          </p:cNvPr>
          <p:cNvSpPr>
            <a:spLocks xmlns:a="http://schemas.openxmlformats.org/drawingml/2006/main" noGrp="1"/>
          </p:cNvSpPr>
          <p:nvPr/>
        </p:nvSpPr>
        <p:spPr>
          <a:xfrm xmlns:a="http://schemas.openxmlformats.org/drawingml/2006/main">
            <a:off x="6362700" y="22098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2B35E"/>
                </a:solidFill>
              </a:defRPr>
            </a:pPr>
            <a:r>
              <a:rPr sz="1200" b="1">
                <a:solidFill>
                  <a:srgbClr val="F2B35E"/>
                </a:solidFill>
              </a:rPr>
              <a:t>2</a:t>
            </a:r>
          </a:p>
        </p:txBody>
      </p:sp>
      <p:sp>
        <p:nvSpPr>
          <p:cNvPr id="19" name="">
            <a:extLst xmlns:a="http://schemas.openxmlformats.org/drawingml/2006/main">
              <a:ext uri="{FF2B5EF4-FFF2-40B4-BE49-F238E27FC236}">
                <a16:creationId xmlns:a16="http://schemas.microsoft.com/office/drawing/2014/main" id="{799F0153-F9CE-4DD2-B527-44376324E9F0}"/>
              </a:ext>
            </a:extLst>
          </p:cNvPr>
          <p:cNvSpPr>
            <a:spLocks xmlns:a="http://schemas.openxmlformats.org/drawingml/2006/main" noGrp="1"/>
          </p:cNvSpPr>
          <p:nvPr/>
        </p:nvSpPr>
        <p:spPr>
          <a:xfrm xmlns:a="http://schemas.openxmlformats.org/drawingml/2006/main">
            <a:off x="7029450" y="20955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项目闭环驱动</a:t>
            </a:r>
          </a:p>
        </p:txBody>
      </p:sp>
      <p:sp>
        <p:nvSpPr>
          <p:cNvPr id="20" name="">
            <a:extLst xmlns:a="http://schemas.openxmlformats.org/drawingml/2006/main">
              <a:ext uri="{FF2B5EF4-FFF2-40B4-BE49-F238E27FC236}">
                <a16:creationId xmlns:a16="http://schemas.microsoft.com/office/drawing/2014/main" id="{D238C18C-8BD4-4C20-972C-D773E2259C4B}"/>
              </a:ext>
            </a:extLst>
          </p:cNvPr>
          <p:cNvSpPr>
            <a:spLocks xmlns:a="http://schemas.openxmlformats.org/drawingml/2006/main" noGrp="1"/>
          </p:cNvSpPr>
          <p:nvPr/>
        </p:nvSpPr>
        <p:spPr>
          <a:xfrm xmlns:a="http://schemas.openxmlformats.org/drawingml/2006/main">
            <a:off x="7029450" y="2381250"/>
            <a:ext cx="38100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项目状态由流程审批结果推进，而不是手动切换；结题后可自动生成成果记录。</a:t>
            </a:r>
          </a:p>
        </p:txBody>
      </p:sp>
      <p:sp>
        <p:nvSpPr>
          <p:cNvPr id="21" name="">
            <a:extLst xmlns:a="http://schemas.openxmlformats.org/drawingml/2006/main">
              <a:ext uri="{FF2B5EF4-FFF2-40B4-BE49-F238E27FC236}">
                <a16:creationId xmlns:a16="http://schemas.microsoft.com/office/drawing/2014/main" id="{CC9E976B-FC8F-49E2-B364-DBC310ADF3C2}"/>
              </a:ext>
            </a:extLst>
          </p:cNvPr>
          <p:cNvSpPr>
            <a:spLocks xmlns:a="http://schemas.openxmlformats.org/drawingml/2006/main" noGrp="1"/>
          </p:cNvSpPr>
          <p:nvPr/>
        </p:nvSpPr>
        <p:spPr>
          <a:xfrm xmlns:a="http://schemas.openxmlformats.org/drawingml/2006/main">
            <a:off x="10058400" y="2095500"/>
            <a:ext cx="8763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668CADC-B87B-4E6D-B22C-F61919879686}"/>
              </a:ext>
            </a:extLst>
          </p:cNvPr>
          <p:cNvSpPr>
            <a:spLocks xmlns:a="http://schemas.openxmlformats.org/drawingml/2006/main" noGrp="1"/>
          </p:cNvSpPr>
          <p:nvPr/>
        </p:nvSpPr>
        <p:spPr>
          <a:xfrm xmlns:a="http://schemas.openxmlformats.org/drawingml/2006/main">
            <a:off x="10172700" y="2133600"/>
            <a:ext cx="647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特色设计</a:t>
            </a:r>
          </a:p>
        </p:txBody>
      </p:sp>
      <p:sp>
        <p:nvSpPr>
          <p:cNvPr id="23" name="">
            <a:extLst xmlns:a="http://schemas.openxmlformats.org/drawingml/2006/main">
              <a:ext uri="{FF2B5EF4-FFF2-40B4-BE49-F238E27FC236}">
                <a16:creationId xmlns:a16="http://schemas.microsoft.com/office/drawing/2014/main" id="{A16C3EB2-A82B-4F5E-95D9-5417A9E121CF}"/>
              </a:ext>
            </a:extLst>
          </p:cNvPr>
          <p:cNvSpPr>
            <a:spLocks xmlns:a="http://schemas.openxmlformats.org/drawingml/2006/main" noGrp="1"/>
          </p:cNvSpPr>
          <p:nvPr/>
        </p:nvSpPr>
        <p:spPr>
          <a:xfrm xmlns:a="http://schemas.openxmlformats.org/drawingml/2006/main">
            <a:off x="685800" y="3619500"/>
            <a:ext cx="51054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9E2EC"/>
            </a:solidFill>
            <a:prstDash val="solid"/>
          </a:ln>
        </p:spPr>
      </p:sp>
      <p:sp>
        <p:nvSpPr>
          <p:cNvPr id="24" name="">
            <a:extLst xmlns:a="http://schemas.openxmlformats.org/drawingml/2006/main">
              <a:ext uri="{FF2B5EF4-FFF2-40B4-BE49-F238E27FC236}">
                <a16:creationId xmlns:a16="http://schemas.microsoft.com/office/drawing/2014/main" id="{69DBDC23-CCC1-439B-BB41-469B0CA32F09}"/>
              </a:ext>
            </a:extLst>
          </p:cNvPr>
          <p:cNvSpPr>
            <a:spLocks xmlns:a="http://schemas.openxmlformats.org/drawingml/2006/main" noGrp="1"/>
          </p:cNvSpPr>
          <p:nvPr/>
        </p:nvSpPr>
        <p:spPr>
          <a:xfrm xmlns:a="http://schemas.openxmlformats.org/drawingml/2006/main">
            <a:off x="914400" y="3848100"/>
            <a:ext cx="495300" cy="495300"/>
          </a:xfrm>
          <a:prstGeom xmlns:a="http://schemas.openxmlformats.org/drawingml/2006/main" prst="ellipse">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CFB7DFC-8E97-40DA-8B1B-EA3FA201A315}"/>
              </a:ext>
            </a:extLst>
          </p:cNvPr>
          <p:cNvSpPr>
            <a:spLocks xmlns:a="http://schemas.openxmlformats.org/drawingml/2006/main" noGrp="1"/>
          </p:cNvSpPr>
          <p:nvPr/>
        </p:nvSpPr>
        <p:spPr>
          <a:xfrm xmlns:a="http://schemas.openxmlformats.org/drawingml/2006/main">
            <a:off x="914400" y="40005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1765B"/>
                </a:solidFill>
              </a:defRPr>
            </a:pPr>
            <a:r>
              <a:rPr sz="1200" b="1">
                <a:solidFill>
                  <a:srgbClr val="F1765B"/>
                </a:solidFill>
              </a:rPr>
              <a:t>3</a:t>
            </a:r>
          </a:p>
        </p:txBody>
      </p:sp>
      <p:sp>
        <p:nvSpPr>
          <p:cNvPr id="26" name="">
            <a:extLst xmlns:a="http://schemas.openxmlformats.org/drawingml/2006/main">
              <a:ext uri="{FF2B5EF4-FFF2-40B4-BE49-F238E27FC236}">
                <a16:creationId xmlns:a16="http://schemas.microsoft.com/office/drawing/2014/main" id="{4DC73713-9DDA-4CB4-BC95-CAC2736A9608}"/>
              </a:ext>
            </a:extLst>
          </p:cNvPr>
          <p:cNvSpPr>
            <a:spLocks xmlns:a="http://schemas.openxmlformats.org/drawingml/2006/main" noGrp="1"/>
          </p:cNvSpPr>
          <p:nvPr/>
        </p:nvSpPr>
        <p:spPr>
          <a:xfrm xmlns:a="http://schemas.openxmlformats.org/drawingml/2006/main">
            <a:off x="1581150" y="38862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经费一体化</a:t>
            </a:r>
          </a:p>
        </p:txBody>
      </p:sp>
      <p:sp>
        <p:nvSpPr>
          <p:cNvPr id="27" name="">
            <a:extLst xmlns:a="http://schemas.openxmlformats.org/drawingml/2006/main">
              <a:ext uri="{FF2B5EF4-FFF2-40B4-BE49-F238E27FC236}">
                <a16:creationId xmlns:a16="http://schemas.microsoft.com/office/drawing/2014/main" id="{D0662139-EF44-4CA0-A2DE-D5077B6A06CE}"/>
              </a:ext>
            </a:extLst>
          </p:cNvPr>
          <p:cNvSpPr>
            <a:spLocks xmlns:a="http://schemas.openxmlformats.org/drawingml/2006/main" noGrp="1"/>
          </p:cNvSpPr>
          <p:nvPr/>
        </p:nvSpPr>
        <p:spPr>
          <a:xfrm xmlns:a="http://schemas.openxmlformats.org/drawingml/2006/main">
            <a:off x="1581150" y="4171950"/>
            <a:ext cx="38100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在首页展示预算与实际支出对比，在业务页支持报销申请、审核与统计导出。</a:t>
            </a:r>
          </a:p>
        </p:txBody>
      </p:sp>
      <p:sp>
        <p:nvSpPr>
          <p:cNvPr id="28" name="">
            <a:extLst xmlns:a="http://schemas.openxmlformats.org/drawingml/2006/main">
              <a:ext uri="{FF2B5EF4-FFF2-40B4-BE49-F238E27FC236}">
                <a16:creationId xmlns:a16="http://schemas.microsoft.com/office/drawing/2014/main" id="{BCA2F42C-D08A-41F3-A0C1-3E61F9928C38}"/>
              </a:ext>
            </a:extLst>
          </p:cNvPr>
          <p:cNvSpPr>
            <a:spLocks xmlns:a="http://schemas.openxmlformats.org/drawingml/2006/main" noGrp="1"/>
          </p:cNvSpPr>
          <p:nvPr/>
        </p:nvSpPr>
        <p:spPr>
          <a:xfrm xmlns:a="http://schemas.openxmlformats.org/drawingml/2006/main">
            <a:off x="4610100" y="3886200"/>
            <a:ext cx="876300" cy="266700"/>
          </a:xfrm>
          <a:prstGeom xmlns:a="http://schemas.openxmlformats.org/drawingml/2006/main" prst="roundRect">
            <a:avLst>
              <a:gd name="adj" fmla="val 28571"/>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73677A8-A3A2-4428-BEEC-62EE7FDF8B4B}"/>
              </a:ext>
            </a:extLst>
          </p:cNvPr>
          <p:cNvSpPr>
            <a:spLocks xmlns:a="http://schemas.openxmlformats.org/drawingml/2006/main" noGrp="1"/>
          </p:cNvSpPr>
          <p:nvPr/>
        </p:nvSpPr>
        <p:spPr>
          <a:xfrm xmlns:a="http://schemas.openxmlformats.org/drawingml/2006/main">
            <a:off x="4724400" y="3924300"/>
            <a:ext cx="647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1765B"/>
                </a:solidFill>
              </a:defRPr>
            </a:pPr>
            <a:r>
              <a:rPr sz="900" b="1">
                <a:solidFill>
                  <a:srgbClr val="F1765B"/>
                </a:solidFill>
              </a:rPr>
              <a:t>特色设计</a:t>
            </a:r>
          </a:p>
        </p:txBody>
      </p:sp>
      <p:sp>
        <p:nvSpPr>
          <p:cNvPr id="30" name="">
            <a:extLst xmlns:a="http://schemas.openxmlformats.org/drawingml/2006/main">
              <a:ext uri="{FF2B5EF4-FFF2-40B4-BE49-F238E27FC236}">
                <a16:creationId xmlns:a16="http://schemas.microsoft.com/office/drawing/2014/main" id="{D4016E18-7462-4910-A512-1AEB4DCD0B8A}"/>
              </a:ext>
            </a:extLst>
          </p:cNvPr>
          <p:cNvSpPr>
            <a:spLocks xmlns:a="http://schemas.openxmlformats.org/drawingml/2006/main" noGrp="1"/>
          </p:cNvSpPr>
          <p:nvPr/>
        </p:nvSpPr>
        <p:spPr>
          <a:xfrm xmlns:a="http://schemas.openxmlformats.org/drawingml/2006/main">
            <a:off x="6134100" y="3619500"/>
            <a:ext cx="51054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9E2EC"/>
            </a:solidFill>
            <a:prstDash val="solid"/>
          </a:ln>
        </p:spPr>
      </p:sp>
      <p:sp>
        <p:nvSpPr>
          <p:cNvPr id="31" name="">
            <a:extLst xmlns:a="http://schemas.openxmlformats.org/drawingml/2006/main">
              <a:ext uri="{FF2B5EF4-FFF2-40B4-BE49-F238E27FC236}">
                <a16:creationId xmlns:a16="http://schemas.microsoft.com/office/drawing/2014/main" id="{7EE2A37F-0C5A-4337-8313-51990DF83CA8}"/>
              </a:ext>
            </a:extLst>
          </p:cNvPr>
          <p:cNvSpPr>
            <a:spLocks xmlns:a="http://schemas.openxmlformats.org/drawingml/2006/main" noGrp="1"/>
          </p:cNvSpPr>
          <p:nvPr/>
        </p:nvSpPr>
        <p:spPr>
          <a:xfrm xmlns:a="http://schemas.openxmlformats.org/drawingml/2006/main">
            <a:off x="6362700" y="3848100"/>
            <a:ext cx="495300" cy="495300"/>
          </a:xfrm>
          <a:prstGeom xmlns:a="http://schemas.openxmlformats.org/drawingml/2006/main" prst="ellipse">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A872E649-4445-48F9-8AF5-5601E136DB59}"/>
              </a:ext>
            </a:extLst>
          </p:cNvPr>
          <p:cNvSpPr>
            <a:spLocks xmlns:a="http://schemas.openxmlformats.org/drawingml/2006/main" noGrp="1"/>
          </p:cNvSpPr>
          <p:nvPr/>
        </p:nvSpPr>
        <p:spPr>
          <a:xfrm xmlns:a="http://schemas.openxmlformats.org/drawingml/2006/main">
            <a:off x="6362700" y="40005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2BB673"/>
                </a:solidFill>
              </a:defRPr>
            </a:pPr>
            <a:r>
              <a:rPr sz="1200" b="1">
                <a:solidFill>
                  <a:srgbClr val="2BB673"/>
                </a:solidFill>
              </a:rPr>
              <a:t>4</a:t>
            </a:r>
          </a:p>
        </p:txBody>
      </p:sp>
      <p:sp>
        <p:nvSpPr>
          <p:cNvPr id="33" name="">
            <a:extLst xmlns:a="http://schemas.openxmlformats.org/drawingml/2006/main">
              <a:ext uri="{FF2B5EF4-FFF2-40B4-BE49-F238E27FC236}">
                <a16:creationId xmlns:a16="http://schemas.microsoft.com/office/drawing/2014/main" id="{0B11A052-3E03-43F3-B831-FBD347C261ED}"/>
              </a:ext>
            </a:extLst>
          </p:cNvPr>
          <p:cNvSpPr>
            <a:spLocks xmlns:a="http://schemas.openxmlformats.org/drawingml/2006/main" noGrp="1"/>
          </p:cNvSpPr>
          <p:nvPr/>
        </p:nvSpPr>
        <p:spPr>
          <a:xfrm xmlns:a="http://schemas.openxmlformats.org/drawingml/2006/main">
            <a:off x="7029450" y="38862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AI 助手接入</a:t>
            </a:r>
          </a:p>
        </p:txBody>
      </p:sp>
      <p:sp>
        <p:nvSpPr>
          <p:cNvPr id="34" name="">
            <a:extLst xmlns:a="http://schemas.openxmlformats.org/drawingml/2006/main">
              <a:ext uri="{FF2B5EF4-FFF2-40B4-BE49-F238E27FC236}">
                <a16:creationId xmlns:a16="http://schemas.microsoft.com/office/drawing/2014/main" id="{7B2D832F-B428-4981-9F33-A3F2E7DB057F}"/>
              </a:ext>
            </a:extLst>
          </p:cNvPr>
          <p:cNvSpPr>
            <a:spLocks xmlns:a="http://schemas.openxmlformats.org/drawingml/2006/main" noGrp="1"/>
          </p:cNvSpPr>
          <p:nvPr/>
        </p:nvSpPr>
        <p:spPr>
          <a:xfrm xmlns:a="http://schemas.openxmlformats.org/drawingml/2006/main">
            <a:off x="7029450" y="4171950"/>
            <a:ext cx="38100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486581"/>
                </a:solidFill>
              </a:defRPr>
            </a:pPr>
            <a:r>
              <a:rPr sz="975" b="0">
                <a:solidFill>
                  <a:srgbClr val="486581"/>
                </a:solidFill>
              </a:rPr>
              <a:t>集成通义千问兼容接口，支持普通问答与 SSE 流式响应，为科研服务提供扩展入口。</a:t>
            </a:r>
          </a:p>
        </p:txBody>
      </p:sp>
      <p:sp>
        <p:nvSpPr>
          <p:cNvPr id="35" name="">
            <a:extLst xmlns:a="http://schemas.openxmlformats.org/drawingml/2006/main">
              <a:ext uri="{FF2B5EF4-FFF2-40B4-BE49-F238E27FC236}">
                <a16:creationId xmlns:a16="http://schemas.microsoft.com/office/drawing/2014/main" id="{A4BE1EA8-D24F-48BB-912F-7EED1DA4B4AF}"/>
              </a:ext>
            </a:extLst>
          </p:cNvPr>
          <p:cNvSpPr>
            <a:spLocks xmlns:a="http://schemas.openxmlformats.org/drawingml/2006/main" noGrp="1"/>
          </p:cNvSpPr>
          <p:nvPr/>
        </p:nvSpPr>
        <p:spPr>
          <a:xfrm xmlns:a="http://schemas.openxmlformats.org/drawingml/2006/main">
            <a:off x="10058400" y="3886200"/>
            <a:ext cx="8763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00B6DC07-62E1-4EAA-910D-6F1721BBF909}"/>
              </a:ext>
            </a:extLst>
          </p:cNvPr>
          <p:cNvSpPr>
            <a:spLocks xmlns:a="http://schemas.openxmlformats.org/drawingml/2006/main" noGrp="1"/>
          </p:cNvSpPr>
          <p:nvPr/>
        </p:nvSpPr>
        <p:spPr>
          <a:xfrm xmlns:a="http://schemas.openxmlformats.org/drawingml/2006/main">
            <a:off x="10172700" y="3924300"/>
            <a:ext cx="647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特色设计</a:t>
            </a:r>
          </a:p>
        </p:txBody>
      </p:sp>
      <p:sp>
        <p:nvSpPr>
          <p:cNvPr id="37" name="">
            <a:extLst xmlns:a="http://schemas.openxmlformats.org/drawingml/2006/main">
              <a:ext uri="{FF2B5EF4-FFF2-40B4-BE49-F238E27FC236}">
                <a16:creationId xmlns:a16="http://schemas.microsoft.com/office/drawing/2014/main" id="{564A0B6A-FDF9-4A43-9AAD-DAD063654508}"/>
              </a:ext>
            </a:extLst>
          </p:cNvPr>
          <p:cNvSpPr>
            <a:spLocks xmlns:a="http://schemas.openxmlformats.org/drawingml/2006/main" noGrp="1"/>
          </p:cNvSpPr>
          <p:nvPr/>
        </p:nvSpPr>
        <p:spPr>
          <a:xfrm xmlns:a="http://schemas.openxmlformats.org/drawingml/2006/main">
            <a:off x="685800" y="5619750"/>
            <a:ext cx="85725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9B6A2EBD-3DCD-48DF-8B3F-5604925BD539}"/>
              </a:ext>
            </a:extLst>
          </p:cNvPr>
          <p:cNvSpPr>
            <a:spLocks xmlns:a="http://schemas.openxmlformats.org/drawingml/2006/main" noGrp="1"/>
          </p:cNvSpPr>
          <p:nvPr/>
        </p:nvSpPr>
        <p:spPr>
          <a:xfrm xmlns:a="http://schemas.openxmlformats.org/drawingml/2006/main">
            <a:off x="800100" y="56578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前后端分离</a:t>
            </a:r>
          </a:p>
        </p:txBody>
      </p:sp>
      <p:sp>
        <p:nvSpPr>
          <p:cNvPr id="39" name="">
            <a:extLst xmlns:a="http://schemas.openxmlformats.org/drawingml/2006/main">
              <a:ext uri="{FF2B5EF4-FFF2-40B4-BE49-F238E27FC236}">
                <a16:creationId xmlns:a16="http://schemas.microsoft.com/office/drawing/2014/main" id="{A4AC502F-45D7-4874-ADD2-55AB41974031}"/>
              </a:ext>
            </a:extLst>
          </p:cNvPr>
          <p:cNvSpPr>
            <a:spLocks xmlns:a="http://schemas.openxmlformats.org/drawingml/2006/main" noGrp="1"/>
          </p:cNvSpPr>
          <p:nvPr/>
        </p:nvSpPr>
        <p:spPr>
          <a:xfrm xmlns:a="http://schemas.openxmlformats.org/drawingml/2006/main">
            <a:off x="2781300" y="5619750"/>
            <a:ext cx="85725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0293F2E-2007-466B-91CF-C40836980DBA}"/>
              </a:ext>
            </a:extLst>
          </p:cNvPr>
          <p:cNvSpPr>
            <a:spLocks xmlns:a="http://schemas.openxmlformats.org/drawingml/2006/main" noGrp="1"/>
          </p:cNvSpPr>
          <p:nvPr/>
        </p:nvSpPr>
        <p:spPr>
          <a:xfrm xmlns:a="http://schemas.openxmlformats.org/drawingml/2006/main">
            <a:off x="2895600" y="56578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流程可追踪</a:t>
            </a:r>
          </a:p>
        </p:txBody>
      </p:sp>
      <p:sp>
        <p:nvSpPr>
          <p:cNvPr id="41" name="">
            <a:extLst xmlns:a="http://schemas.openxmlformats.org/drawingml/2006/main">
              <a:ext uri="{FF2B5EF4-FFF2-40B4-BE49-F238E27FC236}">
                <a16:creationId xmlns:a16="http://schemas.microsoft.com/office/drawing/2014/main" id="{81A500E9-B7A1-48CE-8649-958A14B8693E}"/>
              </a:ext>
            </a:extLst>
          </p:cNvPr>
          <p:cNvSpPr>
            <a:spLocks xmlns:a="http://schemas.openxmlformats.org/drawingml/2006/main" noGrp="1"/>
          </p:cNvSpPr>
          <p:nvPr/>
        </p:nvSpPr>
        <p:spPr>
          <a:xfrm xmlns:a="http://schemas.openxmlformats.org/drawingml/2006/main">
            <a:off x="4876800" y="5619750"/>
            <a:ext cx="93345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02308669-FC9A-47D1-A189-82C8F0D5C76E}"/>
              </a:ext>
            </a:extLst>
          </p:cNvPr>
          <p:cNvSpPr>
            <a:spLocks xmlns:a="http://schemas.openxmlformats.org/drawingml/2006/main" noGrp="1"/>
          </p:cNvSpPr>
          <p:nvPr/>
        </p:nvSpPr>
        <p:spPr>
          <a:xfrm xmlns:a="http://schemas.openxmlformats.org/drawingml/2006/main">
            <a:off x="4991100" y="56578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预算可视化</a:t>
            </a:r>
          </a:p>
        </p:txBody>
      </p:sp>
      <p:sp>
        <p:nvSpPr>
          <p:cNvPr id="43" name="">
            <a:extLst xmlns:a="http://schemas.openxmlformats.org/drawingml/2006/main">
              <a:ext uri="{FF2B5EF4-FFF2-40B4-BE49-F238E27FC236}">
                <a16:creationId xmlns:a16="http://schemas.microsoft.com/office/drawing/2014/main" id="{C5DEE702-E771-4129-ACDD-7E1B33438C68}"/>
              </a:ext>
            </a:extLst>
          </p:cNvPr>
          <p:cNvSpPr>
            <a:spLocks xmlns:a="http://schemas.openxmlformats.org/drawingml/2006/main" noGrp="1"/>
          </p:cNvSpPr>
          <p:nvPr/>
        </p:nvSpPr>
        <p:spPr>
          <a:xfrm xmlns:a="http://schemas.openxmlformats.org/drawingml/2006/main">
            <a:off x="6972300" y="5619750"/>
            <a:ext cx="85725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B2216056-1EA4-48C1-8B33-3D08B4C72DCD}"/>
              </a:ext>
            </a:extLst>
          </p:cNvPr>
          <p:cNvSpPr>
            <a:spLocks xmlns:a="http://schemas.openxmlformats.org/drawingml/2006/main" noGrp="1"/>
          </p:cNvSpPr>
          <p:nvPr/>
        </p:nvSpPr>
        <p:spPr>
          <a:xfrm xmlns:a="http://schemas.openxmlformats.org/drawingml/2006/main">
            <a:off x="7086600" y="56578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文件可导出</a:t>
            </a:r>
          </a:p>
        </p:txBody>
      </p:sp>
      <p:sp>
        <p:nvSpPr>
          <p:cNvPr id="45" name="">
            <a:extLst xmlns:a="http://schemas.openxmlformats.org/drawingml/2006/main">
              <a:ext uri="{FF2B5EF4-FFF2-40B4-BE49-F238E27FC236}">
                <a16:creationId xmlns:a16="http://schemas.microsoft.com/office/drawing/2014/main" id="{6EC82403-09EE-4287-9C9F-1D0CF86A6721}"/>
              </a:ext>
            </a:extLst>
          </p:cNvPr>
          <p:cNvSpPr>
            <a:spLocks xmlns:a="http://schemas.openxmlformats.org/drawingml/2006/main" noGrp="1"/>
          </p:cNvSpPr>
          <p:nvPr/>
        </p:nvSpPr>
        <p:spPr>
          <a:xfrm xmlns:a="http://schemas.openxmlformats.org/drawingml/2006/main">
            <a:off x="9067800" y="5619750"/>
            <a:ext cx="85725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4DBC91FE-4904-4309-A847-F9461E6FBC70}"/>
              </a:ext>
            </a:extLst>
          </p:cNvPr>
          <p:cNvSpPr>
            <a:spLocks xmlns:a="http://schemas.openxmlformats.org/drawingml/2006/main" noGrp="1"/>
          </p:cNvSpPr>
          <p:nvPr/>
        </p:nvSpPr>
        <p:spPr>
          <a:xfrm xmlns:a="http://schemas.openxmlformats.org/drawingml/2006/main">
            <a:off x="9182100" y="56578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AI 可扩展</a:t>
            </a:r>
          </a:p>
        </p:txBody>
      </p:sp>
    </p:spTree>
    <p:extLst>
      <p:ext uri="{BB962C8B-B14F-4D97-AF65-F5344CB8AC3E}">
        <p14:creationId xmlns:p14="http://schemas.microsoft.com/office/powerpoint/2010/main" val="905063844"/>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964C13F-8B6C-4F8E-8DCE-918F116200FB}"/>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0A90719-60EB-40B9-B708-42A3688EEA9A}"/>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FAB1BAC-7D29-4F6D-8065-2E3874E62C8B}"/>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UI DEMO</a:t>
            </a:r>
          </a:p>
        </p:txBody>
      </p:sp>
      <p:sp>
        <p:nvSpPr>
          <p:cNvPr id="5" name="">
            <a:extLst xmlns:a="http://schemas.openxmlformats.org/drawingml/2006/main">
              <a:ext uri="{FF2B5EF4-FFF2-40B4-BE49-F238E27FC236}">
                <a16:creationId xmlns:a16="http://schemas.microsoft.com/office/drawing/2014/main" id="{56A9354D-CC32-4120-918A-34ED3F10AD60}"/>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13</a:t>
            </a:r>
          </a:p>
        </p:txBody>
      </p:sp>
      <p:sp>
        <p:nvSpPr>
          <p:cNvPr id="6" name="">
            <a:extLst xmlns:a="http://schemas.openxmlformats.org/drawingml/2006/main">
              <a:ext uri="{FF2B5EF4-FFF2-40B4-BE49-F238E27FC236}">
                <a16:creationId xmlns:a16="http://schemas.microsoft.com/office/drawing/2014/main" id="{AF11CBD5-C871-45F9-B179-F9C51DA0AE68}"/>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系统界面展示：登录与工作台</a:t>
            </a:r>
          </a:p>
        </p:txBody>
      </p:sp>
      <p:sp>
        <p:nvSpPr>
          <p:cNvPr id="7" name="">
            <a:extLst xmlns:a="http://schemas.openxmlformats.org/drawingml/2006/main">
              <a:ext uri="{FF2B5EF4-FFF2-40B4-BE49-F238E27FC236}">
                <a16:creationId xmlns:a16="http://schemas.microsoft.com/office/drawing/2014/main" id="{796E8B2D-D461-41ED-95D5-090CE82FCC83}"/>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答辩时可以用这两页界面示意快速说明系统的入口设计与日常工作场景。</a:t>
            </a:r>
          </a:p>
        </p:txBody>
      </p:sp>
      <p:sp>
        <p:nvSpPr>
          <p:cNvPr id="8" name="">
            <a:extLst xmlns:a="http://schemas.openxmlformats.org/drawingml/2006/main">
              <a:ext uri="{FF2B5EF4-FFF2-40B4-BE49-F238E27FC236}">
                <a16:creationId xmlns:a16="http://schemas.microsoft.com/office/drawing/2014/main" id="{BDF515ED-1451-4AC9-9A89-AE5050452DF7}"/>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F9DDD12-7010-4C33-B4E4-FB99B171188B}"/>
              </a:ext>
            </a:extLst>
          </p:cNvPr>
          <p:cNvSpPr>
            <a:spLocks xmlns:a="http://schemas.openxmlformats.org/drawingml/2006/main" noGrp="1"/>
          </p:cNvSpPr>
          <p:nvPr/>
        </p:nvSpPr>
        <p:spPr>
          <a:xfrm xmlns:a="http://schemas.openxmlformats.org/drawingml/2006/main">
            <a:off x="781050" y="1905000"/>
            <a:ext cx="4819650" cy="3905250"/>
          </a:xfrm>
          <a:prstGeom xmlns:a="http://schemas.openxmlformats.org/drawingml/2006/main" prst="roundRect">
            <a:avLst>
              <a:gd name="adj" fmla="val 1951"/>
            </a:avLst>
          </a:prstGeom>
          <a:solidFill xmlns:a="http://schemas.openxmlformats.org/drawingml/2006/main">
            <a:srgbClr val="0C2438">
              <a:alpha val="6275"/>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0FECCC2-83F9-4AAA-81E7-AC7E60CA3AE7}"/>
              </a:ext>
            </a:extLst>
          </p:cNvPr>
          <p:cNvSpPr>
            <a:spLocks xmlns:a="http://schemas.openxmlformats.org/drawingml/2006/main" noGrp="1"/>
          </p:cNvSpPr>
          <p:nvPr/>
        </p:nvSpPr>
        <p:spPr>
          <a:xfrm xmlns:a="http://schemas.openxmlformats.org/drawingml/2006/main">
            <a:off x="685800" y="1809750"/>
            <a:ext cx="481965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1430">
            <a:solidFill>
              <a:srgbClr val="D9E2EC"/>
            </a:solidFill>
            <a:prstDash val="solid"/>
          </a:ln>
        </p:spPr>
      </p:sp>
      <p:sp>
        <p:nvSpPr>
          <p:cNvPr id="11" name="">
            <a:extLst xmlns:a="http://schemas.openxmlformats.org/drawingml/2006/main">
              <a:ext uri="{FF2B5EF4-FFF2-40B4-BE49-F238E27FC236}">
                <a16:creationId xmlns:a16="http://schemas.microsoft.com/office/drawing/2014/main" id="{32E88063-B7F7-43C4-957B-239E7ABEB39A}"/>
              </a:ext>
            </a:extLst>
          </p:cNvPr>
          <p:cNvSpPr>
            <a:spLocks xmlns:a="http://schemas.openxmlformats.org/drawingml/2006/main" noGrp="1"/>
          </p:cNvSpPr>
          <p:nvPr/>
        </p:nvSpPr>
        <p:spPr>
          <a:xfrm xmlns:a="http://schemas.openxmlformats.org/drawingml/2006/main">
            <a:off x="819150" y="1943100"/>
            <a:ext cx="4552950" cy="361950"/>
          </a:xfrm>
          <a:prstGeom xmlns:a="http://schemas.openxmlformats.org/drawingml/2006/main" prst="roundRect">
            <a:avLst>
              <a:gd name="adj" fmla="val 21053"/>
            </a:avLst>
          </a:prstGeom>
          <a:solidFill xmlns:a="http://schemas.openxmlformats.org/drawingml/2006/main">
            <a:srgbClr val="F8FAFC"/>
          </a:solidFill>
          <a:ln xmlns:a="http://schemas.openxmlformats.org/drawingml/2006/main" w="9525">
            <a:solidFill>
              <a:srgbClr val="D9E2EC"/>
            </a:solidFill>
            <a:prstDash val="solid"/>
          </a:ln>
        </p:spPr>
      </p:sp>
      <p:sp>
        <p:nvSpPr>
          <p:cNvPr id="12" name="">
            <a:extLst xmlns:a="http://schemas.openxmlformats.org/drawingml/2006/main">
              <a:ext uri="{FF2B5EF4-FFF2-40B4-BE49-F238E27FC236}">
                <a16:creationId xmlns:a16="http://schemas.microsoft.com/office/drawing/2014/main" id="{E73B1079-5E3B-45C1-A1B3-A72AB4D7A052}"/>
              </a:ext>
            </a:extLst>
          </p:cNvPr>
          <p:cNvSpPr>
            <a:spLocks xmlns:a="http://schemas.openxmlformats.org/drawingml/2006/main" noGrp="1"/>
          </p:cNvSpPr>
          <p:nvPr/>
        </p:nvSpPr>
        <p:spPr>
          <a:xfrm xmlns:a="http://schemas.openxmlformats.org/drawingml/2006/main">
            <a:off x="952500" y="2076450"/>
            <a:ext cx="85725" cy="85725"/>
          </a:xfrm>
          <a:prstGeom xmlns:a="http://schemas.openxmlformats.org/drawingml/2006/main" prst="ellipse">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1285A44-DFF0-43E0-AC6E-763D8635A676}"/>
              </a:ext>
            </a:extLst>
          </p:cNvPr>
          <p:cNvSpPr>
            <a:spLocks xmlns:a="http://schemas.openxmlformats.org/drawingml/2006/main" noGrp="1"/>
          </p:cNvSpPr>
          <p:nvPr/>
        </p:nvSpPr>
        <p:spPr>
          <a:xfrm xmlns:a="http://schemas.openxmlformats.org/drawingml/2006/main">
            <a:off x="1104900" y="2076450"/>
            <a:ext cx="85725" cy="85725"/>
          </a:xfrm>
          <a:prstGeom xmlns:a="http://schemas.openxmlformats.org/drawingml/2006/main" prst="ellipse">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4ADB3DA-9FAB-466C-98DF-2A843207C080}"/>
              </a:ext>
            </a:extLst>
          </p:cNvPr>
          <p:cNvSpPr>
            <a:spLocks xmlns:a="http://schemas.openxmlformats.org/drawingml/2006/main" noGrp="1"/>
          </p:cNvSpPr>
          <p:nvPr/>
        </p:nvSpPr>
        <p:spPr>
          <a:xfrm xmlns:a="http://schemas.openxmlformats.org/drawingml/2006/main">
            <a:off x="1257300" y="2076450"/>
            <a:ext cx="85725" cy="85725"/>
          </a:xfrm>
          <a:prstGeom xmlns:a="http://schemas.openxmlformats.org/drawingml/2006/main" prst="ellipse">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2FF7A5E-8EA6-4163-B83A-5D0E4D5D55A1}"/>
              </a:ext>
            </a:extLst>
          </p:cNvPr>
          <p:cNvSpPr>
            <a:spLocks xmlns:a="http://schemas.openxmlformats.org/drawingml/2006/main" noGrp="1"/>
          </p:cNvSpPr>
          <p:nvPr/>
        </p:nvSpPr>
        <p:spPr>
          <a:xfrm xmlns:a="http://schemas.openxmlformats.org/drawingml/2006/main">
            <a:off x="1524000" y="2028825"/>
            <a:ext cx="3581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8794"/>
                </a:solidFill>
              </a:defRPr>
            </a:pPr>
            <a:r>
              <a:rPr sz="900" b="1">
                <a:solidFill>
                  <a:srgbClr val="7B8794"/>
                </a:solidFill>
              </a:rPr>
              <a:t>登录界面</a:t>
            </a:r>
          </a:p>
        </p:txBody>
      </p:sp>
      <p:sp>
        <p:nvSpPr>
          <p:cNvPr id="16" name="">
            <a:extLst xmlns:a="http://schemas.openxmlformats.org/drawingml/2006/main">
              <a:ext uri="{FF2B5EF4-FFF2-40B4-BE49-F238E27FC236}">
                <a16:creationId xmlns:a16="http://schemas.microsoft.com/office/drawing/2014/main" id="{2FD519B3-C4E8-493E-BF18-7090E1D88BB7}"/>
              </a:ext>
            </a:extLst>
          </p:cNvPr>
          <p:cNvSpPr>
            <a:spLocks xmlns:a="http://schemas.openxmlformats.org/drawingml/2006/main" noGrp="1"/>
          </p:cNvSpPr>
          <p:nvPr/>
        </p:nvSpPr>
        <p:spPr>
          <a:xfrm xmlns:a="http://schemas.openxmlformats.org/drawingml/2006/main">
            <a:off x="876300" y="2419350"/>
            <a:ext cx="2308098" cy="3105150"/>
          </a:xfrm>
          <a:prstGeom xmlns:a="http://schemas.openxmlformats.org/drawingml/2006/main" prst="roundRect">
            <a:avLst>
              <a:gd name="adj" fmla="val 3301"/>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98D42CE-D0AE-4088-9E08-ED80A3F15F2C}"/>
              </a:ext>
            </a:extLst>
          </p:cNvPr>
          <p:cNvSpPr>
            <a:spLocks xmlns:a="http://schemas.openxmlformats.org/drawingml/2006/main" noGrp="1"/>
          </p:cNvSpPr>
          <p:nvPr/>
        </p:nvSpPr>
        <p:spPr>
          <a:xfrm xmlns:a="http://schemas.openxmlformats.org/drawingml/2006/main">
            <a:off x="1257300" y="2667000"/>
            <a:ext cx="1333500" cy="952500"/>
          </a:xfrm>
          <a:prstGeom xmlns:a="http://schemas.openxmlformats.org/drawingml/2006/main" prst="ellipse">
            <a:avLst/>
          </a:prstGeom>
          <a:solidFill xmlns:a="http://schemas.openxmlformats.org/drawingml/2006/main">
            <a:srgbClr val="18B6B0">
              <a:alpha val="18824"/>
            </a:srgbClr>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650536E-38BA-407A-9B69-5A216F5E7525}"/>
              </a:ext>
            </a:extLst>
          </p:cNvPr>
          <p:cNvSpPr>
            <a:spLocks xmlns:a="http://schemas.openxmlformats.org/drawingml/2006/main" noGrp="1"/>
          </p:cNvSpPr>
          <p:nvPr/>
        </p:nvSpPr>
        <p:spPr>
          <a:xfrm xmlns:a="http://schemas.openxmlformats.org/drawingml/2006/main">
            <a:off x="2609850" y="3543300"/>
            <a:ext cx="1047750" cy="762000"/>
          </a:xfrm>
          <a:prstGeom xmlns:a="http://schemas.openxmlformats.org/drawingml/2006/main" prst="ellipse">
            <a:avLst/>
          </a:prstGeom>
          <a:solidFill xmlns:a="http://schemas.openxmlformats.org/drawingml/2006/main">
            <a:srgbClr val="F2B35E">
              <a:alpha val="18824"/>
            </a:srgbClr>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8892F41-8D2E-4F07-BB78-8BD7727C0FB6}"/>
              </a:ext>
            </a:extLst>
          </p:cNvPr>
          <p:cNvSpPr>
            <a:spLocks xmlns:a="http://schemas.openxmlformats.org/drawingml/2006/main" noGrp="1"/>
          </p:cNvSpPr>
          <p:nvPr/>
        </p:nvSpPr>
        <p:spPr>
          <a:xfrm xmlns:a="http://schemas.openxmlformats.org/drawingml/2006/main">
            <a:off x="1257300" y="2819400"/>
            <a:ext cx="20955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defRPr>
            </a:pPr>
            <a:r>
              <a:rPr sz="1800" b="1">
                <a:solidFill>
                  <a:srgbClr val="FFFFFF"/>
                </a:solidFill>
              </a:rPr>
              <a:t>高校科研</a:t>
            </a:r>
          </a:p>
          <a:p xmlns:a="http://schemas.openxmlformats.org/drawingml/2006/main">
            <a:pPr algn="l">
              <a:defRPr sz="1800" b="1">
                <a:solidFill>
                  <a:srgbClr val="FFFFFF"/>
                </a:solidFill>
              </a:defRPr>
            </a:pPr>
            <a:r>
              <a:rPr sz="1800" b="1">
                <a:solidFill>
                  <a:srgbClr val="FFFFFF"/>
                </a:solidFill>
              </a:rPr>
              <a:t>管理系统</a:t>
            </a:r>
          </a:p>
        </p:txBody>
      </p:sp>
      <p:sp>
        <p:nvSpPr>
          <p:cNvPr id="20" name="">
            <a:extLst xmlns:a="http://schemas.openxmlformats.org/drawingml/2006/main">
              <a:ext uri="{FF2B5EF4-FFF2-40B4-BE49-F238E27FC236}">
                <a16:creationId xmlns:a16="http://schemas.microsoft.com/office/drawing/2014/main" id="{2A526B20-B8D1-47CA-BEFA-B38D0502E0FB}"/>
              </a:ext>
            </a:extLst>
          </p:cNvPr>
          <p:cNvSpPr>
            <a:spLocks xmlns:a="http://schemas.openxmlformats.org/drawingml/2006/main" noGrp="1"/>
          </p:cNvSpPr>
          <p:nvPr/>
        </p:nvSpPr>
        <p:spPr>
          <a:xfrm xmlns:a="http://schemas.openxmlformats.org/drawingml/2006/main">
            <a:off x="1257300" y="3981450"/>
            <a:ext cx="2286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9F7F4"/>
                </a:solidFill>
              </a:defRPr>
            </a:pPr>
            <a:r>
              <a:rPr sz="900" b="0">
                <a:solidFill>
                  <a:srgbClr val="D9F7F4"/>
                </a:solidFill>
              </a:rPr>
              <a:t>统一身份认证、菜单分发与路由鉴权</a:t>
            </a:r>
          </a:p>
        </p:txBody>
      </p:sp>
      <p:sp>
        <p:nvSpPr>
          <p:cNvPr id="21" name="">
            <a:extLst xmlns:a="http://schemas.openxmlformats.org/drawingml/2006/main">
              <a:ext uri="{FF2B5EF4-FFF2-40B4-BE49-F238E27FC236}">
                <a16:creationId xmlns:a16="http://schemas.microsoft.com/office/drawing/2014/main" id="{ACB3BDC1-C724-4F38-9F27-C4829223A595}"/>
              </a:ext>
            </a:extLst>
          </p:cNvPr>
          <p:cNvSpPr>
            <a:spLocks xmlns:a="http://schemas.openxmlformats.org/drawingml/2006/main" noGrp="1"/>
          </p:cNvSpPr>
          <p:nvPr/>
        </p:nvSpPr>
        <p:spPr>
          <a:xfrm xmlns:a="http://schemas.openxmlformats.org/drawingml/2006/main">
            <a:off x="3450717" y="2743200"/>
            <a:ext cx="1420368" cy="1790700"/>
          </a:xfrm>
          <a:prstGeom xmlns:a="http://schemas.openxmlformats.org/drawingml/2006/main" prst="roundRect">
            <a:avLst>
              <a:gd name="adj" fmla="val 5365"/>
            </a:avLst>
          </a:prstGeom>
          <a:solidFill xmlns:a="http://schemas.openxmlformats.org/drawingml/2006/main">
            <a:srgbClr val="FFFFFF"/>
          </a:solidFill>
          <a:ln xmlns:a="http://schemas.openxmlformats.org/drawingml/2006/main" w="9525">
            <a:solidFill>
              <a:srgbClr val="E5EDF5"/>
            </a:solidFill>
            <a:prstDash val="solid"/>
          </a:ln>
        </p:spPr>
      </p:sp>
      <p:sp>
        <p:nvSpPr>
          <p:cNvPr id="22" name="">
            <a:extLst xmlns:a="http://schemas.openxmlformats.org/drawingml/2006/main">
              <a:ext uri="{FF2B5EF4-FFF2-40B4-BE49-F238E27FC236}">
                <a16:creationId xmlns:a16="http://schemas.microsoft.com/office/drawing/2014/main" id="{0C357174-0408-4E89-8DA6-B725BCF272E0}"/>
              </a:ext>
            </a:extLst>
          </p:cNvPr>
          <p:cNvSpPr>
            <a:spLocks xmlns:a="http://schemas.openxmlformats.org/drawingml/2006/main" noGrp="1"/>
          </p:cNvSpPr>
          <p:nvPr/>
        </p:nvSpPr>
        <p:spPr>
          <a:xfrm xmlns:a="http://schemas.openxmlformats.org/drawingml/2006/main">
            <a:off x="3679317" y="29337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A43"/>
                </a:solidFill>
              </a:defRPr>
            </a:pPr>
            <a:r>
              <a:rPr sz="1500" b="1">
                <a:solidFill>
                  <a:srgbClr val="102A43"/>
                </a:solidFill>
              </a:rPr>
              <a:t>欢迎登录</a:t>
            </a:r>
          </a:p>
        </p:txBody>
      </p:sp>
      <p:sp>
        <p:nvSpPr>
          <p:cNvPr id="23" name="">
            <a:extLst xmlns:a="http://schemas.openxmlformats.org/drawingml/2006/main">
              <a:ext uri="{FF2B5EF4-FFF2-40B4-BE49-F238E27FC236}">
                <a16:creationId xmlns:a16="http://schemas.microsoft.com/office/drawing/2014/main" id="{FDF549F0-F21E-4443-B6FD-CA978C6B47B2}"/>
              </a:ext>
            </a:extLst>
          </p:cNvPr>
          <p:cNvSpPr>
            <a:spLocks xmlns:a="http://schemas.openxmlformats.org/drawingml/2006/main" noGrp="1"/>
          </p:cNvSpPr>
          <p:nvPr/>
        </p:nvSpPr>
        <p:spPr>
          <a:xfrm xmlns:a="http://schemas.openxmlformats.org/drawingml/2006/main">
            <a:off x="3679317" y="3295650"/>
            <a:ext cx="963168" cy="323850"/>
          </a:xfrm>
          <a:prstGeom xmlns:a="http://schemas.openxmlformats.org/drawingml/2006/main" prst="roundRect">
            <a:avLst>
              <a:gd name="adj" fmla="val 23529"/>
            </a:avLst>
          </a:prstGeom>
          <a:solidFill xmlns:a="http://schemas.openxmlformats.org/drawingml/2006/main">
            <a:srgbClr val="F8FAFC"/>
          </a:solidFill>
          <a:ln xmlns:a="http://schemas.openxmlformats.org/drawingml/2006/main" w="9525">
            <a:solidFill>
              <a:srgbClr val="D9E2EC"/>
            </a:solidFill>
            <a:prstDash val="solid"/>
          </a:ln>
        </p:spPr>
      </p:sp>
      <p:sp>
        <p:nvSpPr>
          <p:cNvPr id="24" name="">
            <a:extLst xmlns:a="http://schemas.openxmlformats.org/drawingml/2006/main">
              <a:ext uri="{FF2B5EF4-FFF2-40B4-BE49-F238E27FC236}">
                <a16:creationId xmlns:a16="http://schemas.microsoft.com/office/drawing/2014/main" id="{EE488503-F98C-40A5-9084-7544F4489A29}"/>
              </a:ext>
            </a:extLst>
          </p:cNvPr>
          <p:cNvSpPr>
            <a:spLocks xmlns:a="http://schemas.openxmlformats.org/drawingml/2006/main" noGrp="1"/>
          </p:cNvSpPr>
          <p:nvPr/>
        </p:nvSpPr>
        <p:spPr>
          <a:xfrm xmlns:a="http://schemas.openxmlformats.org/drawingml/2006/main">
            <a:off x="3679317" y="3733800"/>
            <a:ext cx="963168" cy="323850"/>
          </a:xfrm>
          <a:prstGeom xmlns:a="http://schemas.openxmlformats.org/drawingml/2006/main" prst="roundRect">
            <a:avLst>
              <a:gd name="adj" fmla="val 23529"/>
            </a:avLst>
          </a:prstGeom>
          <a:solidFill xmlns:a="http://schemas.openxmlformats.org/drawingml/2006/main">
            <a:srgbClr val="F8FAFC"/>
          </a:solidFill>
          <a:ln xmlns:a="http://schemas.openxmlformats.org/drawingml/2006/main" w="9525">
            <a:solidFill>
              <a:srgbClr val="D9E2EC"/>
            </a:solidFill>
            <a:prstDash val="solid"/>
          </a:ln>
        </p:spPr>
      </p:sp>
      <p:sp>
        <p:nvSpPr>
          <p:cNvPr id="25" name="">
            <a:extLst xmlns:a="http://schemas.openxmlformats.org/drawingml/2006/main">
              <a:ext uri="{FF2B5EF4-FFF2-40B4-BE49-F238E27FC236}">
                <a16:creationId xmlns:a16="http://schemas.microsoft.com/office/drawing/2014/main" id="{18085BC8-76A0-42F6-A0B5-E8149B00FF50}"/>
              </a:ext>
            </a:extLst>
          </p:cNvPr>
          <p:cNvSpPr>
            <a:spLocks xmlns:a="http://schemas.openxmlformats.org/drawingml/2006/main" noGrp="1"/>
          </p:cNvSpPr>
          <p:nvPr/>
        </p:nvSpPr>
        <p:spPr>
          <a:xfrm xmlns:a="http://schemas.openxmlformats.org/drawingml/2006/main">
            <a:off x="3679317" y="4191000"/>
            <a:ext cx="963168" cy="323850"/>
          </a:xfrm>
          <a:prstGeom xmlns:a="http://schemas.openxmlformats.org/drawingml/2006/main" prst="roundRect">
            <a:avLst>
              <a:gd name="adj" fmla="val 23529"/>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C584D4D-B5C5-4405-9861-F0C70E86F3A8}"/>
              </a:ext>
            </a:extLst>
          </p:cNvPr>
          <p:cNvSpPr>
            <a:spLocks xmlns:a="http://schemas.openxmlformats.org/drawingml/2006/main" noGrp="1"/>
          </p:cNvSpPr>
          <p:nvPr/>
        </p:nvSpPr>
        <p:spPr>
          <a:xfrm xmlns:a="http://schemas.openxmlformats.org/drawingml/2006/main">
            <a:off x="3831717" y="3381375"/>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B8794"/>
                </a:solidFill>
              </a:defRPr>
            </a:pPr>
            <a:r>
              <a:rPr sz="825" b="0">
                <a:solidFill>
                  <a:srgbClr val="7B8794"/>
                </a:solidFill>
              </a:rPr>
              <a:t>账号</a:t>
            </a:r>
          </a:p>
        </p:txBody>
      </p:sp>
      <p:sp>
        <p:nvSpPr>
          <p:cNvPr id="27" name="">
            <a:extLst xmlns:a="http://schemas.openxmlformats.org/drawingml/2006/main">
              <a:ext uri="{FF2B5EF4-FFF2-40B4-BE49-F238E27FC236}">
                <a16:creationId xmlns:a16="http://schemas.microsoft.com/office/drawing/2014/main" id="{32DDF6D3-0DB2-4CF6-914A-7BCDBFC17FC8}"/>
              </a:ext>
            </a:extLst>
          </p:cNvPr>
          <p:cNvSpPr>
            <a:spLocks xmlns:a="http://schemas.openxmlformats.org/drawingml/2006/main" noGrp="1"/>
          </p:cNvSpPr>
          <p:nvPr/>
        </p:nvSpPr>
        <p:spPr>
          <a:xfrm xmlns:a="http://schemas.openxmlformats.org/drawingml/2006/main">
            <a:off x="3831717" y="3819525"/>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B8794"/>
                </a:solidFill>
              </a:defRPr>
            </a:pPr>
            <a:r>
              <a:rPr sz="825" b="0">
                <a:solidFill>
                  <a:srgbClr val="7B8794"/>
                </a:solidFill>
              </a:rPr>
              <a:t>密码</a:t>
            </a:r>
          </a:p>
        </p:txBody>
      </p:sp>
      <p:sp>
        <p:nvSpPr>
          <p:cNvPr id="28" name="">
            <a:extLst xmlns:a="http://schemas.openxmlformats.org/drawingml/2006/main">
              <a:ext uri="{FF2B5EF4-FFF2-40B4-BE49-F238E27FC236}">
                <a16:creationId xmlns:a16="http://schemas.microsoft.com/office/drawing/2014/main" id="{DC0C0E76-DD00-440D-B717-008E8BF1238B}"/>
              </a:ext>
            </a:extLst>
          </p:cNvPr>
          <p:cNvSpPr>
            <a:spLocks xmlns:a="http://schemas.openxmlformats.org/drawingml/2006/main" noGrp="1"/>
          </p:cNvSpPr>
          <p:nvPr/>
        </p:nvSpPr>
        <p:spPr>
          <a:xfrm xmlns:a="http://schemas.openxmlformats.org/drawingml/2006/main">
            <a:off x="3679317" y="4267200"/>
            <a:ext cx="963168"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defRPr>
            </a:pPr>
            <a:r>
              <a:rPr sz="975" b="1">
                <a:solidFill>
                  <a:srgbClr val="FFFFFF"/>
                </a:solidFill>
              </a:rPr>
              <a:t>登录</a:t>
            </a:r>
          </a:p>
        </p:txBody>
      </p:sp>
      <p:sp>
        <p:nvSpPr>
          <p:cNvPr id="29" name="">
            <a:extLst xmlns:a="http://schemas.openxmlformats.org/drawingml/2006/main">
              <a:ext uri="{FF2B5EF4-FFF2-40B4-BE49-F238E27FC236}">
                <a16:creationId xmlns:a16="http://schemas.microsoft.com/office/drawing/2014/main" id="{9E196E89-F4A5-4FD2-B75E-FB33852E592B}"/>
              </a:ext>
            </a:extLst>
          </p:cNvPr>
          <p:cNvSpPr>
            <a:spLocks xmlns:a="http://schemas.openxmlformats.org/drawingml/2006/main" noGrp="1"/>
          </p:cNvSpPr>
          <p:nvPr/>
        </p:nvSpPr>
        <p:spPr>
          <a:xfrm xmlns:a="http://schemas.openxmlformats.org/drawingml/2006/main">
            <a:off x="6210300" y="1905000"/>
            <a:ext cx="5372100" cy="3905250"/>
          </a:xfrm>
          <a:prstGeom xmlns:a="http://schemas.openxmlformats.org/drawingml/2006/main" prst="roundRect">
            <a:avLst>
              <a:gd name="adj" fmla="val 1951"/>
            </a:avLst>
          </a:prstGeom>
          <a:solidFill xmlns:a="http://schemas.openxmlformats.org/drawingml/2006/main">
            <a:srgbClr val="0C2438">
              <a:alpha val="6275"/>
            </a:srgbClr>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A919FF1F-E899-4869-A9CE-D15F26F38669}"/>
              </a:ext>
            </a:extLst>
          </p:cNvPr>
          <p:cNvSpPr>
            <a:spLocks xmlns:a="http://schemas.openxmlformats.org/drawingml/2006/main" noGrp="1"/>
          </p:cNvSpPr>
          <p:nvPr/>
        </p:nvSpPr>
        <p:spPr>
          <a:xfrm xmlns:a="http://schemas.openxmlformats.org/drawingml/2006/main">
            <a:off x="6115050" y="1809750"/>
            <a:ext cx="53721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1430">
            <a:solidFill>
              <a:srgbClr val="D9E2EC"/>
            </a:solidFill>
            <a:prstDash val="solid"/>
          </a:ln>
        </p:spPr>
      </p:sp>
      <p:sp>
        <p:nvSpPr>
          <p:cNvPr id="31" name="">
            <a:extLst xmlns:a="http://schemas.openxmlformats.org/drawingml/2006/main">
              <a:ext uri="{FF2B5EF4-FFF2-40B4-BE49-F238E27FC236}">
                <a16:creationId xmlns:a16="http://schemas.microsoft.com/office/drawing/2014/main" id="{F7F33A6C-1894-4EF7-91A8-0DD6A1A8ED0D}"/>
              </a:ext>
            </a:extLst>
          </p:cNvPr>
          <p:cNvSpPr>
            <a:spLocks xmlns:a="http://schemas.openxmlformats.org/drawingml/2006/main" noGrp="1"/>
          </p:cNvSpPr>
          <p:nvPr/>
        </p:nvSpPr>
        <p:spPr>
          <a:xfrm xmlns:a="http://schemas.openxmlformats.org/drawingml/2006/main">
            <a:off x="6248400" y="1943100"/>
            <a:ext cx="5105400" cy="361950"/>
          </a:xfrm>
          <a:prstGeom xmlns:a="http://schemas.openxmlformats.org/drawingml/2006/main" prst="roundRect">
            <a:avLst>
              <a:gd name="adj" fmla="val 21053"/>
            </a:avLst>
          </a:prstGeom>
          <a:solidFill xmlns:a="http://schemas.openxmlformats.org/drawingml/2006/main">
            <a:srgbClr val="F8FAFC"/>
          </a:solidFill>
          <a:ln xmlns:a="http://schemas.openxmlformats.org/drawingml/2006/main" w="9525">
            <a:solidFill>
              <a:srgbClr val="D9E2EC"/>
            </a:solidFill>
            <a:prstDash val="solid"/>
          </a:ln>
        </p:spPr>
      </p:sp>
      <p:sp>
        <p:nvSpPr>
          <p:cNvPr id="32" name="">
            <a:extLst xmlns:a="http://schemas.openxmlformats.org/drawingml/2006/main">
              <a:ext uri="{FF2B5EF4-FFF2-40B4-BE49-F238E27FC236}">
                <a16:creationId xmlns:a16="http://schemas.microsoft.com/office/drawing/2014/main" id="{3D2CA07C-7B03-4776-A254-D8D3F55A758A}"/>
              </a:ext>
            </a:extLst>
          </p:cNvPr>
          <p:cNvSpPr>
            <a:spLocks xmlns:a="http://schemas.openxmlformats.org/drawingml/2006/main" noGrp="1"/>
          </p:cNvSpPr>
          <p:nvPr/>
        </p:nvSpPr>
        <p:spPr>
          <a:xfrm xmlns:a="http://schemas.openxmlformats.org/drawingml/2006/main">
            <a:off x="6381750" y="2076450"/>
            <a:ext cx="85725" cy="85725"/>
          </a:xfrm>
          <a:prstGeom xmlns:a="http://schemas.openxmlformats.org/drawingml/2006/main" prst="ellipse">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DBDE2F23-5879-4956-A16A-FE747FC45995}"/>
              </a:ext>
            </a:extLst>
          </p:cNvPr>
          <p:cNvSpPr>
            <a:spLocks xmlns:a="http://schemas.openxmlformats.org/drawingml/2006/main" noGrp="1"/>
          </p:cNvSpPr>
          <p:nvPr/>
        </p:nvSpPr>
        <p:spPr>
          <a:xfrm xmlns:a="http://schemas.openxmlformats.org/drawingml/2006/main">
            <a:off x="6534150" y="2076450"/>
            <a:ext cx="85725" cy="85725"/>
          </a:xfrm>
          <a:prstGeom xmlns:a="http://schemas.openxmlformats.org/drawingml/2006/main" prst="ellipse">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E5B66BAE-3581-41FE-B804-7C30583ACAAA}"/>
              </a:ext>
            </a:extLst>
          </p:cNvPr>
          <p:cNvSpPr>
            <a:spLocks xmlns:a="http://schemas.openxmlformats.org/drawingml/2006/main" noGrp="1"/>
          </p:cNvSpPr>
          <p:nvPr/>
        </p:nvSpPr>
        <p:spPr>
          <a:xfrm xmlns:a="http://schemas.openxmlformats.org/drawingml/2006/main">
            <a:off x="6686550" y="2076450"/>
            <a:ext cx="85725" cy="85725"/>
          </a:xfrm>
          <a:prstGeom xmlns:a="http://schemas.openxmlformats.org/drawingml/2006/main" prst="ellipse">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DB94E620-AA88-447E-A71C-F6A484CD380B}"/>
              </a:ext>
            </a:extLst>
          </p:cNvPr>
          <p:cNvSpPr>
            <a:spLocks xmlns:a="http://schemas.openxmlformats.org/drawingml/2006/main" noGrp="1"/>
          </p:cNvSpPr>
          <p:nvPr/>
        </p:nvSpPr>
        <p:spPr>
          <a:xfrm xmlns:a="http://schemas.openxmlformats.org/drawingml/2006/main">
            <a:off x="6953250" y="2028825"/>
            <a:ext cx="413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8794"/>
                </a:solidFill>
              </a:defRPr>
            </a:pPr>
            <a:r>
              <a:rPr sz="900" b="1">
                <a:solidFill>
                  <a:srgbClr val="7B8794"/>
                </a:solidFill>
              </a:rPr>
              <a:t>首页工作台</a:t>
            </a:r>
          </a:p>
        </p:txBody>
      </p:sp>
      <p:sp>
        <p:nvSpPr>
          <p:cNvPr id="36" name="">
            <a:extLst xmlns:a="http://schemas.openxmlformats.org/drawingml/2006/main">
              <a:ext uri="{FF2B5EF4-FFF2-40B4-BE49-F238E27FC236}">
                <a16:creationId xmlns:a16="http://schemas.microsoft.com/office/drawing/2014/main" id="{CAD94873-EB93-41B8-9D82-F6DF64F6DB5E}"/>
              </a:ext>
            </a:extLst>
          </p:cNvPr>
          <p:cNvSpPr>
            <a:spLocks xmlns:a="http://schemas.openxmlformats.org/drawingml/2006/main" noGrp="1"/>
          </p:cNvSpPr>
          <p:nvPr/>
        </p:nvSpPr>
        <p:spPr>
          <a:xfrm xmlns:a="http://schemas.openxmlformats.org/drawingml/2006/main">
            <a:off x="6305550" y="2419350"/>
            <a:ext cx="781050" cy="3105150"/>
          </a:xfrm>
          <a:prstGeom xmlns:a="http://schemas.openxmlformats.org/drawingml/2006/main" prst="roundRect">
            <a:avLst>
              <a:gd name="adj" fmla="val 9756"/>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D494F4ED-6DD4-4373-89D2-2F991A00D7A4}"/>
              </a:ext>
            </a:extLst>
          </p:cNvPr>
          <p:cNvSpPr>
            <a:spLocks xmlns:a="http://schemas.openxmlformats.org/drawingml/2006/main" noGrp="1"/>
          </p:cNvSpPr>
          <p:nvPr/>
        </p:nvSpPr>
        <p:spPr>
          <a:xfrm xmlns:a="http://schemas.openxmlformats.org/drawingml/2006/main">
            <a:off x="6419850" y="2590800"/>
            <a:ext cx="552450" cy="247650"/>
          </a:xfrm>
          <a:prstGeom xmlns:a="http://schemas.openxmlformats.org/drawingml/2006/main" prst="roundRect">
            <a:avLst>
              <a:gd name="adj" fmla="val 30769"/>
            </a:avLst>
          </a:prstGeom>
          <a:solidFill xmlns:a="http://schemas.openxmlformats.org/drawingml/2006/main">
            <a:srgbClr val="18B6B0">
              <a:alpha val="15686"/>
            </a:srgbClr>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DEAE52BB-0F90-4493-BC4A-74BE6F125788}"/>
              </a:ext>
            </a:extLst>
          </p:cNvPr>
          <p:cNvSpPr>
            <a:spLocks xmlns:a="http://schemas.openxmlformats.org/drawingml/2006/main" noGrp="1"/>
          </p:cNvSpPr>
          <p:nvPr/>
        </p:nvSpPr>
        <p:spPr>
          <a:xfrm xmlns:a="http://schemas.openxmlformats.org/drawingml/2006/main">
            <a:off x="6534150" y="2647950"/>
            <a:ext cx="381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defRPr>
            </a:pPr>
            <a:r>
              <a:rPr sz="750" b="1">
                <a:solidFill>
                  <a:srgbClr val="FFFFFF"/>
                </a:solidFill>
              </a:rPr>
              <a:t>首页</a:t>
            </a:r>
          </a:p>
        </p:txBody>
      </p:sp>
      <p:sp>
        <p:nvSpPr>
          <p:cNvPr id="39" name="">
            <a:extLst xmlns:a="http://schemas.openxmlformats.org/drawingml/2006/main">
              <a:ext uri="{FF2B5EF4-FFF2-40B4-BE49-F238E27FC236}">
                <a16:creationId xmlns:a16="http://schemas.microsoft.com/office/drawing/2014/main" id="{9C308267-58B9-49DE-B6F6-AFE95ACBA6C7}"/>
              </a:ext>
            </a:extLst>
          </p:cNvPr>
          <p:cNvSpPr>
            <a:spLocks xmlns:a="http://schemas.openxmlformats.org/drawingml/2006/main" noGrp="1"/>
          </p:cNvSpPr>
          <p:nvPr/>
        </p:nvSpPr>
        <p:spPr>
          <a:xfrm xmlns:a="http://schemas.openxmlformats.org/drawingml/2006/main">
            <a:off x="6419850" y="2990850"/>
            <a:ext cx="552450" cy="247650"/>
          </a:xfrm>
          <a:prstGeom xmlns:a="http://schemas.openxmlformats.org/drawingml/2006/main" prst="roundRect">
            <a:avLst>
              <a:gd name="adj" fmla="val 30769"/>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2CD182A1-BD54-48AA-A6D9-C80717C61EC0}"/>
              </a:ext>
            </a:extLst>
          </p:cNvPr>
          <p:cNvSpPr>
            <a:spLocks xmlns:a="http://schemas.openxmlformats.org/drawingml/2006/main" noGrp="1"/>
          </p:cNvSpPr>
          <p:nvPr/>
        </p:nvSpPr>
        <p:spPr>
          <a:xfrm xmlns:a="http://schemas.openxmlformats.org/drawingml/2006/main">
            <a:off x="6534150" y="3048000"/>
            <a:ext cx="381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FFFFFF"/>
                </a:solidFill>
              </a:defRPr>
            </a:pPr>
            <a:r>
              <a:rPr sz="750" b="0">
                <a:solidFill>
                  <a:srgbClr val="FFFFFF"/>
                </a:solidFill>
              </a:rPr>
              <a:t>项目</a:t>
            </a:r>
          </a:p>
        </p:txBody>
      </p:sp>
      <p:sp>
        <p:nvSpPr>
          <p:cNvPr id="41" name="">
            <a:extLst xmlns:a="http://schemas.openxmlformats.org/drawingml/2006/main">
              <a:ext uri="{FF2B5EF4-FFF2-40B4-BE49-F238E27FC236}">
                <a16:creationId xmlns:a16="http://schemas.microsoft.com/office/drawing/2014/main" id="{8E5EDCF2-9BEE-4406-997C-129E4A11B883}"/>
              </a:ext>
            </a:extLst>
          </p:cNvPr>
          <p:cNvSpPr>
            <a:spLocks xmlns:a="http://schemas.openxmlformats.org/drawingml/2006/main" noGrp="1"/>
          </p:cNvSpPr>
          <p:nvPr/>
        </p:nvSpPr>
        <p:spPr>
          <a:xfrm xmlns:a="http://schemas.openxmlformats.org/drawingml/2006/main">
            <a:off x="6419850" y="3390900"/>
            <a:ext cx="552450" cy="247650"/>
          </a:xfrm>
          <a:prstGeom xmlns:a="http://schemas.openxmlformats.org/drawingml/2006/main" prst="roundRect">
            <a:avLst>
              <a:gd name="adj" fmla="val 30769"/>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5D86E024-64E7-414A-A2D3-007BCB789CE0}"/>
              </a:ext>
            </a:extLst>
          </p:cNvPr>
          <p:cNvSpPr>
            <a:spLocks xmlns:a="http://schemas.openxmlformats.org/drawingml/2006/main" noGrp="1"/>
          </p:cNvSpPr>
          <p:nvPr/>
        </p:nvSpPr>
        <p:spPr>
          <a:xfrm xmlns:a="http://schemas.openxmlformats.org/drawingml/2006/main">
            <a:off x="6534150" y="3448050"/>
            <a:ext cx="381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FFFFFF"/>
                </a:solidFill>
              </a:defRPr>
            </a:pPr>
            <a:r>
              <a:rPr sz="750" b="0">
                <a:solidFill>
                  <a:srgbClr val="FFFFFF"/>
                </a:solidFill>
              </a:rPr>
              <a:t>审批</a:t>
            </a:r>
          </a:p>
        </p:txBody>
      </p:sp>
      <p:sp>
        <p:nvSpPr>
          <p:cNvPr id="43" name="">
            <a:extLst xmlns:a="http://schemas.openxmlformats.org/drawingml/2006/main">
              <a:ext uri="{FF2B5EF4-FFF2-40B4-BE49-F238E27FC236}">
                <a16:creationId xmlns:a16="http://schemas.microsoft.com/office/drawing/2014/main" id="{DCD3701A-C356-4E14-9239-1706C110A7FF}"/>
              </a:ext>
            </a:extLst>
          </p:cNvPr>
          <p:cNvSpPr>
            <a:spLocks xmlns:a="http://schemas.openxmlformats.org/drawingml/2006/main" noGrp="1"/>
          </p:cNvSpPr>
          <p:nvPr/>
        </p:nvSpPr>
        <p:spPr>
          <a:xfrm xmlns:a="http://schemas.openxmlformats.org/drawingml/2006/main">
            <a:off x="6419850" y="3790950"/>
            <a:ext cx="552450" cy="247650"/>
          </a:xfrm>
          <a:prstGeom xmlns:a="http://schemas.openxmlformats.org/drawingml/2006/main" prst="roundRect">
            <a:avLst>
              <a:gd name="adj" fmla="val 30769"/>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E81C7AAB-ED82-4BCE-AFBF-C245CB62C5D0}"/>
              </a:ext>
            </a:extLst>
          </p:cNvPr>
          <p:cNvSpPr>
            <a:spLocks xmlns:a="http://schemas.openxmlformats.org/drawingml/2006/main" noGrp="1"/>
          </p:cNvSpPr>
          <p:nvPr/>
        </p:nvSpPr>
        <p:spPr>
          <a:xfrm xmlns:a="http://schemas.openxmlformats.org/drawingml/2006/main">
            <a:off x="6534150" y="3848100"/>
            <a:ext cx="381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FFFFFF"/>
                </a:solidFill>
              </a:defRPr>
            </a:pPr>
            <a:r>
              <a:rPr sz="750" b="0">
                <a:solidFill>
                  <a:srgbClr val="FFFFFF"/>
                </a:solidFill>
              </a:rPr>
              <a:t>成果</a:t>
            </a:r>
          </a:p>
        </p:txBody>
      </p:sp>
      <p:sp>
        <p:nvSpPr>
          <p:cNvPr id="45" name="">
            <a:extLst xmlns:a="http://schemas.openxmlformats.org/drawingml/2006/main">
              <a:ext uri="{FF2B5EF4-FFF2-40B4-BE49-F238E27FC236}">
                <a16:creationId xmlns:a16="http://schemas.microsoft.com/office/drawing/2014/main" id="{536CE895-6CA7-45AB-BE91-8DD692081062}"/>
              </a:ext>
            </a:extLst>
          </p:cNvPr>
          <p:cNvSpPr>
            <a:spLocks xmlns:a="http://schemas.openxmlformats.org/drawingml/2006/main" noGrp="1"/>
          </p:cNvSpPr>
          <p:nvPr/>
        </p:nvSpPr>
        <p:spPr>
          <a:xfrm xmlns:a="http://schemas.openxmlformats.org/drawingml/2006/main">
            <a:off x="6419850" y="4191000"/>
            <a:ext cx="552450" cy="247650"/>
          </a:xfrm>
          <a:prstGeom xmlns:a="http://schemas.openxmlformats.org/drawingml/2006/main" prst="roundRect">
            <a:avLst>
              <a:gd name="adj" fmla="val 30769"/>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D58FC4A2-5352-4BB7-81D2-FAB074727E83}"/>
              </a:ext>
            </a:extLst>
          </p:cNvPr>
          <p:cNvSpPr>
            <a:spLocks xmlns:a="http://schemas.openxmlformats.org/drawingml/2006/main" noGrp="1"/>
          </p:cNvSpPr>
          <p:nvPr/>
        </p:nvSpPr>
        <p:spPr>
          <a:xfrm xmlns:a="http://schemas.openxmlformats.org/drawingml/2006/main">
            <a:off x="6534150" y="4248150"/>
            <a:ext cx="381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FFFFFF"/>
                </a:solidFill>
              </a:defRPr>
            </a:pPr>
            <a:r>
              <a:rPr sz="750" b="0">
                <a:solidFill>
                  <a:srgbClr val="FFFFFF"/>
                </a:solidFill>
              </a:rPr>
              <a:t>报销</a:t>
            </a:r>
          </a:p>
        </p:txBody>
      </p:sp>
      <p:sp>
        <p:nvSpPr>
          <p:cNvPr id="47" name="">
            <a:extLst xmlns:a="http://schemas.openxmlformats.org/drawingml/2006/main">
              <a:ext uri="{FF2B5EF4-FFF2-40B4-BE49-F238E27FC236}">
                <a16:creationId xmlns:a16="http://schemas.microsoft.com/office/drawing/2014/main" id="{3BBEC882-B434-48BF-82A3-57DBA152B790}"/>
              </a:ext>
            </a:extLst>
          </p:cNvPr>
          <p:cNvSpPr>
            <a:spLocks xmlns:a="http://schemas.openxmlformats.org/drawingml/2006/main" noGrp="1"/>
          </p:cNvSpPr>
          <p:nvPr/>
        </p:nvSpPr>
        <p:spPr>
          <a:xfrm xmlns:a="http://schemas.openxmlformats.org/drawingml/2006/main">
            <a:off x="6419850" y="4591050"/>
            <a:ext cx="552450" cy="247650"/>
          </a:xfrm>
          <a:prstGeom xmlns:a="http://schemas.openxmlformats.org/drawingml/2006/main" prst="roundRect">
            <a:avLst>
              <a:gd name="adj" fmla="val 30769"/>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2DA33001-1141-428B-89D7-DCD36648D79C}"/>
              </a:ext>
            </a:extLst>
          </p:cNvPr>
          <p:cNvSpPr>
            <a:spLocks xmlns:a="http://schemas.openxmlformats.org/drawingml/2006/main" noGrp="1"/>
          </p:cNvSpPr>
          <p:nvPr/>
        </p:nvSpPr>
        <p:spPr>
          <a:xfrm xmlns:a="http://schemas.openxmlformats.org/drawingml/2006/main">
            <a:off x="6534150" y="4648200"/>
            <a:ext cx="381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FFFFFF"/>
                </a:solidFill>
              </a:defRPr>
            </a:pPr>
            <a:r>
              <a:rPr sz="750" b="0">
                <a:solidFill>
                  <a:srgbClr val="FFFFFF"/>
                </a:solidFill>
              </a:rPr>
              <a:t>用户</a:t>
            </a:r>
          </a:p>
        </p:txBody>
      </p:sp>
      <p:sp>
        <p:nvSpPr>
          <p:cNvPr id="49" name="">
            <a:extLst xmlns:a="http://schemas.openxmlformats.org/drawingml/2006/main">
              <a:ext uri="{FF2B5EF4-FFF2-40B4-BE49-F238E27FC236}">
                <a16:creationId xmlns:a16="http://schemas.microsoft.com/office/drawing/2014/main" id="{BED4491C-15E8-4440-92DD-7F6E92D4A82A}"/>
              </a:ext>
            </a:extLst>
          </p:cNvPr>
          <p:cNvSpPr>
            <a:spLocks xmlns:a="http://schemas.openxmlformats.org/drawingml/2006/main" noGrp="1"/>
          </p:cNvSpPr>
          <p:nvPr/>
        </p:nvSpPr>
        <p:spPr>
          <a:xfrm xmlns:a="http://schemas.openxmlformats.org/drawingml/2006/main">
            <a:off x="7219950" y="2419350"/>
            <a:ext cx="4076700" cy="285750"/>
          </a:xfrm>
          <a:prstGeom xmlns:a="http://schemas.openxmlformats.org/drawingml/2006/main" prst="roundRect">
            <a:avLst>
              <a:gd name="adj" fmla="val 26667"/>
            </a:avLst>
          </a:prstGeom>
          <a:solidFill xmlns:a="http://schemas.openxmlformats.org/drawingml/2006/main">
            <a:srgbClr val="F8FAFC"/>
          </a:solidFill>
          <a:ln xmlns:a="http://schemas.openxmlformats.org/drawingml/2006/main" w="9525">
            <a:solidFill>
              <a:srgbClr val="D9E2EC"/>
            </a:solidFill>
            <a:prstDash val="solid"/>
          </a:ln>
        </p:spPr>
      </p:sp>
      <p:sp>
        <p:nvSpPr>
          <p:cNvPr id="50" name="">
            <a:extLst xmlns:a="http://schemas.openxmlformats.org/drawingml/2006/main">
              <a:ext uri="{FF2B5EF4-FFF2-40B4-BE49-F238E27FC236}">
                <a16:creationId xmlns:a16="http://schemas.microsoft.com/office/drawing/2014/main" id="{B6F1E028-BA79-44CD-A647-537F31C6E8B6}"/>
              </a:ext>
            </a:extLst>
          </p:cNvPr>
          <p:cNvSpPr>
            <a:spLocks xmlns:a="http://schemas.openxmlformats.org/drawingml/2006/main" noGrp="1"/>
          </p:cNvSpPr>
          <p:nvPr/>
        </p:nvSpPr>
        <p:spPr>
          <a:xfrm xmlns:a="http://schemas.openxmlformats.org/drawingml/2006/main">
            <a:off x="7410450" y="2495550"/>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B8794"/>
                </a:solidFill>
              </a:defRPr>
            </a:pPr>
            <a:r>
              <a:rPr sz="825" b="0">
                <a:solidFill>
                  <a:srgbClr val="7B8794"/>
                </a:solidFill>
              </a:rPr>
              <a:t>数据总览 / 待办中心 / 预算对比</a:t>
            </a:r>
          </a:p>
        </p:txBody>
      </p:sp>
      <p:sp>
        <p:nvSpPr>
          <p:cNvPr id="51" name="">
            <a:extLst xmlns:a="http://schemas.openxmlformats.org/drawingml/2006/main">
              <a:ext uri="{FF2B5EF4-FFF2-40B4-BE49-F238E27FC236}">
                <a16:creationId xmlns:a16="http://schemas.microsoft.com/office/drawing/2014/main" id="{A86E0226-B137-4546-893B-B55C2F665791}"/>
              </a:ext>
            </a:extLst>
          </p:cNvPr>
          <p:cNvSpPr>
            <a:spLocks xmlns:a="http://schemas.openxmlformats.org/drawingml/2006/main" noGrp="1"/>
          </p:cNvSpPr>
          <p:nvPr/>
        </p:nvSpPr>
        <p:spPr>
          <a:xfrm xmlns:a="http://schemas.openxmlformats.org/drawingml/2006/main">
            <a:off x="7219950" y="2819400"/>
            <a:ext cx="938213" cy="628650"/>
          </a:xfrm>
          <a:prstGeom xmlns:a="http://schemas.openxmlformats.org/drawingml/2006/main" prst="roundRect">
            <a:avLst>
              <a:gd name="adj" fmla="val 12121"/>
            </a:avLst>
          </a:prstGeom>
          <a:solidFill xmlns:a="http://schemas.openxmlformats.org/drawingml/2006/main">
            <a:srgbClr val="FBFDFF"/>
          </a:solidFill>
          <a:ln xmlns:a="http://schemas.openxmlformats.org/drawingml/2006/main" w="9525">
            <a:solidFill>
              <a:srgbClr val="D9E2EC"/>
            </a:solidFill>
            <a:prstDash val="solid"/>
          </a:ln>
        </p:spPr>
      </p:sp>
      <p:sp>
        <p:nvSpPr>
          <p:cNvPr id="52" name="">
            <a:extLst xmlns:a="http://schemas.openxmlformats.org/drawingml/2006/main">
              <a:ext uri="{FF2B5EF4-FFF2-40B4-BE49-F238E27FC236}">
                <a16:creationId xmlns:a16="http://schemas.microsoft.com/office/drawing/2014/main" id="{4E2EB229-568E-4278-AA27-B9A5B34632CA}"/>
              </a:ext>
            </a:extLst>
          </p:cNvPr>
          <p:cNvSpPr>
            <a:spLocks xmlns:a="http://schemas.openxmlformats.org/drawingml/2006/main" noGrp="1"/>
          </p:cNvSpPr>
          <p:nvPr/>
        </p:nvSpPr>
        <p:spPr>
          <a:xfrm xmlns:a="http://schemas.openxmlformats.org/drawingml/2006/main">
            <a:off x="7353300" y="2952750"/>
            <a:ext cx="671513"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B8794"/>
                </a:solidFill>
              </a:defRPr>
            </a:pPr>
            <a:r>
              <a:rPr sz="750" b="0">
                <a:solidFill>
                  <a:srgbClr val="7B8794"/>
                </a:solidFill>
              </a:rPr>
              <a:t>总项目数</a:t>
            </a:r>
          </a:p>
        </p:txBody>
      </p:sp>
      <p:sp>
        <p:nvSpPr>
          <p:cNvPr id="53" name="">
            <a:extLst xmlns:a="http://schemas.openxmlformats.org/drawingml/2006/main">
              <a:ext uri="{FF2B5EF4-FFF2-40B4-BE49-F238E27FC236}">
                <a16:creationId xmlns:a16="http://schemas.microsoft.com/office/drawing/2014/main" id="{3F22A754-B16E-4BCC-9996-F86018707CCE}"/>
              </a:ext>
            </a:extLst>
          </p:cNvPr>
          <p:cNvSpPr>
            <a:spLocks xmlns:a="http://schemas.openxmlformats.org/drawingml/2006/main" noGrp="1"/>
          </p:cNvSpPr>
          <p:nvPr/>
        </p:nvSpPr>
        <p:spPr>
          <a:xfrm xmlns:a="http://schemas.openxmlformats.org/drawingml/2006/main">
            <a:off x="7353300" y="3124200"/>
            <a:ext cx="671513"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项目概览</a:t>
            </a:r>
          </a:p>
        </p:txBody>
      </p:sp>
      <p:sp>
        <p:nvSpPr>
          <p:cNvPr id="54" name="">
            <a:extLst xmlns:a="http://schemas.openxmlformats.org/drawingml/2006/main">
              <a:ext uri="{FF2B5EF4-FFF2-40B4-BE49-F238E27FC236}">
                <a16:creationId xmlns:a16="http://schemas.microsoft.com/office/drawing/2014/main" id="{43F25496-12A6-4126-8A5D-B7A326E7834D}"/>
              </a:ext>
            </a:extLst>
          </p:cNvPr>
          <p:cNvSpPr>
            <a:spLocks xmlns:a="http://schemas.openxmlformats.org/drawingml/2006/main" noGrp="1"/>
          </p:cNvSpPr>
          <p:nvPr/>
        </p:nvSpPr>
        <p:spPr>
          <a:xfrm xmlns:a="http://schemas.openxmlformats.org/drawingml/2006/main">
            <a:off x="8234363" y="2819400"/>
            <a:ext cx="938213" cy="628650"/>
          </a:xfrm>
          <a:prstGeom xmlns:a="http://schemas.openxmlformats.org/drawingml/2006/main" prst="roundRect">
            <a:avLst>
              <a:gd name="adj" fmla="val 12121"/>
            </a:avLst>
          </a:prstGeom>
          <a:solidFill xmlns:a="http://schemas.openxmlformats.org/drawingml/2006/main">
            <a:srgbClr val="FBFDFF"/>
          </a:solidFill>
          <a:ln xmlns:a="http://schemas.openxmlformats.org/drawingml/2006/main" w="9525">
            <a:solidFill>
              <a:srgbClr val="D9E2EC"/>
            </a:solidFill>
            <a:prstDash val="solid"/>
          </a:ln>
        </p:spPr>
      </p:sp>
      <p:sp>
        <p:nvSpPr>
          <p:cNvPr id="55" name="">
            <a:extLst xmlns:a="http://schemas.openxmlformats.org/drawingml/2006/main">
              <a:ext uri="{FF2B5EF4-FFF2-40B4-BE49-F238E27FC236}">
                <a16:creationId xmlns:a16="http://schemas.microsoft.com/office/drawing/2014/main" id="{94B7400B-DBC8-4966-A880-181367891DD6}"/>
              </a:ext>
            </a:extLst>
          </p:cNvPr>
          <p:cNvSpPr>
            <a:spLocks xmlns:a="http://schemas.openxmlformats.org/drawingml/2006/main" noGrp="1"/>
          </p:cNvSpPr>
          <p:nvPr/>
        </p:nvSpPr>
        <p:spPr>
          <a:xfrm xmlns:a="http://schemas.openxmlformats.org/drawingml/2006/main">
            <a:off x="8367713" y="2952750"/>
            <a:ext cx="671513"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B8794"/>
                </a:solidFill>
              </a:defRPr>
            </a:pPr>
            <a:r>
              <a:rPr sz="750" b="0">
                <a:solidFill>
                  <a:srgbClr val="7B8794"/>
                </a:solidFill>
              </a:rPr>
              <a:t>待审批</a:t>
            </a:r>
          </a:p>
        </p:txBody>
      </p:sp>
      <p:sp>
        <p:nvSpPr>
          <p:cNvPr id="56" name="">
            <a:extLst xmlns:a="http://schemas.openxmlformats.org/drawingml/2006/main">
              <a:ext uri="{FF2B5EF4-FFF2-40B4-BE49-F238E27FC236}">
                <a16:creationId xmlns:a16="http://schemas.microsoft.com/office/drawing/2014/main" id="{03563AE8-400F-4CED-A53F-BA028F28C105}"/>
              </a:ext>
            </a:extLst>
          </p:cNvPr>
          <p:cNvSpPr>
            <a:spLocks xmlns:a="http://schemas.openxmlformats.org/drawingml/2006/main" noGrp="1"/>
          </p:cNvSpPr>
          <p:nvPr/>
        </p:nvSpPr>
        <p:spPr>
          <a:xfrm xmlns:a="http://schemas.openxmlformats.org/drawingml/2006/main">
            <a:off x="8367713" y="3124200"/>
            <a:ext cx="671513"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待办追踪</a:t>
            </a:r>
          </a:p>
        </p:txBody>
      </p:sp>
      <p:sp>
        <p:nvSpPr>
          <p:cNvPr id="57" name="">
            <a:extLst xmlns:a="http://schemas.openxmlformats.org/drawingml/2006/main">
              <a:ext uri="{FF2B5EF4-FFF2-40B4-BE49-F238E27FC236}">
                <a16:creationId xmlns:a16="http://schemas.microsoft.com/office/drawing/2014/main" id="{7BDC41CC-0654-47BF-94E3-85C85AD94D5B}"/>
              </a:ext>
            </a:extLst>
          </p:cNvPr>
          <p:cNvSpPr>
            <a:spLocks xmlns:a="http://schemas.openxmlformats.org/drawingml/2006/main" noGrp="1"/>
          </p:cNvSpPr>
          <p:nvPr/>
        </p:nvSpPr>
        <p:spPr>
          <a:xfrm xmlns:a="http://schemas.openxmlformats.org/drawingml/2006/main">
            <a:off x="9248775" y="2819400"/>
            <a:ext cx="938213" cy="628650"/>
          </a:xfrm>
          <a:prstGeom xmlns:a="http://schemas.openxmlformats.org/drawingml/2006/main" prst="roundRect">
            <a:avLst>
              <a:gd name="adj" fmla="val 12121"/>
            </a:avLst>
          </a:prstGeom>
          <a:solidFill xmlns:a="http://schemas.openxmlformats.org/drawingml/2006/main">
            <a:srgbClr val="FBFDFF"/>
          </a:solidFill>
          <a:ln xmlns:a="http://schemas.openxmlformats.org/drawingml/2006/main" w="9525">
            <a:solidFill>
              <a:srgbClr val="D9E2EC"/>
            </a:solidFill>
            <a:prstDash val="solid"/>
          </a:ln>
        </p:spPr>
      </p:sp>
      <p:sp>
        <p:nvSpPr>
          <p:cNvPr id="58" name="">
            <a:extLst xmlns:a="http://schemas.openxmlformats.org/drawingml/2006/main">
              <a:ext uri="{FF2B5EF4-FFF2-40B4-BE49-F238E27FC236}">
                <a16:creationId xmlns:a16="http://schemas.microsoft.com/office/drawing/2014/main" id="{4CC718AF-707C-49D7-98AC-0F105195316F}"/>
              </a:ext>
            </a:extLst>
          </p:cNvPr>
          <p:cNvSpPr>
            <a:spLocks xmlns:a="http://schemas.openxmlformats.org/drawingml/2006/main" noGrp="1"/>
          </p:cNvSpPr>
          <p:nvPr/>
        </p:nvSpPr>
        <p:spPr>
          <a:xfrm xmlns:a="http://schemas.openxmlformats.org/drawingml/2006/main">
            <a:off x="9382125" y="2952750"/>
            <a:ext cx="671513"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B8794"/>
                </a:solidFill>
              </a:defRPr>
            </a:pPr>
            <a:r>
              <a:rPr sz="750" b="0">
                <a:solidFill>
                  <a:srgbClr val="7B8794"/>
                </a:solidFill>
              </a:rPr>
              <a:t>执行中</a:t>
            </a:r>
          </a:p>
        </p:txBody>
      </p:sp>
      <p:sp>
        <p:nvSpPr>
          <p:cNvPr id="59" name="">
            <a:extLst xmlns:a="http://schemas.openxmlformats.org/drawingml/2006/main">
              <a:ext uri="{FF2B5EF4-FFF2-40B4-BE49-F238E27FC236}">
                <a16:creationId xmlns:a16="http://schemas.microsoft.com/office/drawing/2014/main" id="{EDE92031-6004-45D8-947A-1CCE1AA4DC1E}"/>
              </a:ext>
            </a:extLst>
          </p:cNvPr>
          <p:cNvSpPr>
            <a:spLocks xmlns:a="http://schemas.openxmlformats.org/drawingml/2006/main" noGrp="1"/>
          </p:cNvSpPr>
          <p:nvPr/>
        </p:nvSpPr>
        <p:spPr>
          <a:xfrm xmlns:a="http://schemas.openxmlformats.org/drawingml/2006/main">
            <a:off x="9382125" y="3124200"/>
            <a:ext cx="671513"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进度状态</a:t>
            </a:r>
          </a:p>
        </p:txBody>
      </p:sp>
      <p:sp>
        <p:nvSpPr>
          <p:cNvPr id="60" name="">
            <a:extLst xmlns:a="http://schemas.openxmlformats.org/drawingml/2006/main">
              <a:ext uri="{FF2B5EF4-FFF2-40B4-BE49-F238E27FC236}">
                <a16:creationId xmlns:a16="http://schemas.microsoft.com/office/drawing/2014/main" id="{13F94859-D82D-491C-971D-B432695FFFEF}"/>
              </a:ext>
            </a:extLst>
          </p:cNvPr>
          <p:cNvSpPr>
            <a:spLocks xmlns:a="http://schemas.openxmlformats.org/drawingml/2006/main" noGrp="1"/>
          </p:cNvSpPr>
          <p:nvPr/>
        </p:nvSpPr>
        <p:spPr>
          <a:xfrm xmlns:a="http://schemas.openxmlformats.org/drawingml/2006/main">
            <a:off x="10263188" y="2819400"/>
            <a:ext cx="938213" cy="628650"/>
          </a:xfrm>
          <a:prstGeom xmlns:a="http://schemas.openxmlformats.org/drawingml/2006/main" prst="roundRect">
            <a:avLst>
              <a:gd name="adj" fmla="val 12121"/>
            </a:avLst>
          </a:prstGeom>
          <a:solidFill xmlns:a="http://schemas.openxmlformats.org/drawingml/2006/main">
            <a:srgbClr val="FBFDFF"/>
          </a:solidFill>
          <a:ln xmlns:a="http://schemas.openxmlformats.org/drawingml/2006/main" w="9525">
            <a:solidFill>
              <a:srgbClr val="D9E2EC"/>
            </a:solidFill>
            <a:prstDash val="solid"/>
          </a:ln>
        </p:spPr>
      </p:sp>
      <p:sp>
        <p:nvSpPr>
          <p:cNvPr id="61" name="">
            <a:extLst xmlns:a="http://schemas.openxmlformats.org/drawingml/2006/main">
              <a:ext uri="{FF2B5EF4-FFF2-40B4-BE49-F238E27FC236}">
                <a16:creationId xmlns:a16="http://schemas.microsoft.com/office/drawing/2014/main" id="{8C73315A-2244-41D3-B6D7-EAD9E43AD631}"/>
              </a:ext>
            </a:extLst>
          </p:cNvPr>
          <p:cNvSpPr>
            <a:spLocks xmlns:a="http://schemas.openxmlformats.org/drawingml/2006/main" noGrp="1"/>
          </p:cNvSpPr>
          <p:nvPr/>
        </p:nvSpPr>
        <p:spPr>
          <a:xfrm xmlns:a="http://schemas.openxmlformats.org/drawingml/2006/main">
            <a:off x="10396538" y="2952750"/>
            <a:ext cx="671513"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7B8794"/>
                </a:solidFill>
              </a:defRPr>
            </a:pPr>
            <a:r>
              <a:rPr sz="750" b="0">
                <a:solidFill>
                  <a:srgbClr val="7B8794"/>
                </a:solidFill>
              </a:rPr>
              <a:t>已完成</a:t>
            </a:r>
          </a:p>
        </p:txBody>
      </p:sp>
      <p:sp>
        <p:nvSpPr>
          <p:cNvPr id="62" name="">
            <a:extLst xmlns:a="http://schemas.openxmlformats.org/drawingml/2006/main">
              <a:ext uri="{FF2B5EF4-FFF2-40B4-BE49-F238E27FC236}">
                <a16:creationId xmlns:a16="http://schemas.microsoft.com/office/drawing/2014/main" id="{4993EF6F-1B0B-48DB-848C-C8C99655CBBF}"/>
              </a:ext>
            </a:extLst>
          </p:cNvPr>
          <p:cNvSpPr>
            <a:spLocks xmlns:a="http://schemas.openxmlformats.org/drawingml/2006/main" noGrp="1"/>
          </p:cNvSpPr>
          <p:nvPr/>
        </p:nvSpPr>
        <p:spPr>
          <a:xfrm xmlns:a="http://schemas.openxmlformats.org/drawingml/2006/main">
            <a:off x="10396538" y="3124200"/>
            <a:ext cx="671513"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结题情况</a:t>
            </a:r>
          </a:p>
        </p:txBody>
      </p:sp>
      <p:sp>
        <p:nvSpPr>
          <p:cNvPr id="63" name="">
            <a:extLst xmlns:a="http://schemas.openxmlformats.org/drawingml/2006/main">
              <a:ext uri="{FF2B5EF4-FFF2-40B4-BE49-F238E27FC236}">
                <a16:creationId xmlns:a16="http://schemas.microsoft.com/office/drawing/2014/main" id="{A89950B1-65E0-4DD7-B17B-0787DA1D9F70}"/>
              </a:ext>
            </a:extLst>
          </p:cNvPr>
          <p:cNvSpPr>
            <a:spLocks xmlns:a="http://schemas.openxmlformats.org/drawingml/2006/main" noGrp="1"/>
          </p:cNvSpPr>
          <p:nvPr/>
        </p:nvSpPr>
        <p:spPr>
          <a:xfrm xmlns:a="http://schemas.openxmlformats.org/drawingml/2006/main">
            <a:off x="7219950" y="3562350"/>
            <a:ext cx="2795016"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D9E2EC"/>
            </a:solidFill>
            <a:prstDash val="solid"/>
          </a:ln>
        </p:spPr>
      </p:sp>
      <p:sp>
        <p:nvSpPr>
          <p:cNvPr id="64" name="">
            <a:extLst xmlns:a="http://schemas.openxmlformats.org/drawingml/2006/main">
              <a:ext uri="{FF2B5EF4-FFF2-40B4-BE49-F238E27FC236}">
                <a16:creationId xmlns:a16="http://schemas.microsoft.com/office/drawing/2014/main" id="{B61616ED-2ADA-4E1E-A7C0-76283301E23B}"/>
              </a:ext>
            </a:extLst>
          </p:cNvPr>
          <p:cNvSpPr>
            <a:spLocks xmlns:a="http://schemas.openxmlformats.org/drawingml/2006/main" noGrp="1"/>
          </p:cNvSpPr>
          <p:nvPr/>
        </p:nvSpPr>
        <p:spPr>
          <a:xfrm xmlns:a="http://schemas.openxmlformats.org/drawingml/2006/main">
            <a:off x="7372350" y="371475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预算与实际支出对比</a:t>
            </a:r>
          </a:p>
        </p:txBody>
      </p:sp>
      <p:sp>
        <p:nvSpPr>
          <p:cNvPr id="65" name="">
            <a:extLst xmlns:a="http://schemas.openxmlformats.org/drawingml/2006/main">
              <a:ext uri="{FF2B5EF4-FFF2-40B4-BE49-F238E27FC236}">
                <a16:creationId xmlns:a16="http://schemas.microsoft.com/office/drawing/2014/main" id="{1F19C24C-C988-4BE0-897E-A7CDF8F0617D}"/>
              </a:ext>
            </a:extLst>
          </p:cNvPr>
          <p:cNvSpPr>
            <a:spLocks xmlns:a="http://schemas.openxmlformats.org/drawingml/2006/main" noGrp="1"/>
          </p:cNvSpPr>
          <p:nvPr/>
        </p:nvSpPr>
        <p:spPr>
          <a:xfrm xmlns:a="http://schemas.openxmlformats.org/drawingml/2006/main">
            <a:off x="7562850" y="4400550"/>
            <a:ext cx="152400" cy="59055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EBD3F866-87A7-43F3-9B94-FDF98A51B673}"/>
              </a:ext>
            </a:extLst>
          </p:cNvPr>
          <p:cNvSpPr>
            <a:spLocks xmlns:a="http://schemas.openxmlformats.org/drawingml/2006/main" noGrp="1"/>
          </p:cNvSpPr>
          <p:nvPr/>
        </p:nvSpPr>
        <p:spPr>
          <a:xfrm xmlns:a="http://schemas.openxmlformats.org/drawingml/2006/main">
            <a:off x="7772400" y="4514850"/>
            <a:ext cx="152400" cy="47625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4A8F3DC1-FD92-4B85-AE7C-65A5BE18B876}"/>
              </a:ext>
            </a:extLst>
          </p:cNvPr>
          <p:cNvSpPr>
            <a:spLocks xmlns:a="http://schemas.openxmlformats.org/drawingml/2006/main" noGrp="1"/>
          </p:cNvSpPr>
          <p:nvPr/>
        </p:nvSpPr>
        <p:spPr>
          <a:xfrm xmlns:a="http://schemas.openxmlformats.org/drawingml/2006/main">
            <a:off x="8058150" y="4191000"/>
            <a:ext cx="152400" cy="8001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600A0262-1863-4DD4-A174-DF9225EB3D8F}"/>
              </a:ext>
            </a:extLst>
          </p:cNvPr>
          <p:cNvSpPr>
            <a:spLocks xmlns:a="http://schemas.openxmlformats.org/drawingml/2006/main" noGrp="1"/>
          </p:cNvSpPr>
          <p:nvPr/>
        </p:nvSpPr>
        <p:spPr>
          <a:xfrm xmlns:a="http://schemas.openxmlformats.org/drawingml/2006/main">
            <a:off x="8267700" y="4305300"/>
            <a:ext cx="152400" cy="68580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D401ADA3-0020-46A1-BBF9-5520E0D173F9}"/>
              </a:ext>
            </a:extLst>
          </p:cNvPr>
          <p:cNvSpPr>
            <a:spLocks xmlns:a="http://schemas.openxmlformats.org/drawingml/2006/main" noGrp="1"/>
          </p:cNvSpPr>
          <p:nvPr/>
        </p:nvSpPr>
        <p:spPr>
          <a:xfrm xmlns:a="http://schemas.openxmlformats.org/drawingml/2006/main">
            <a:off x="8553450" y="4533900"/>
            <a:ext cx="152400" cy="4572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B81FCE37-11A7-413E-8E5A-9518E44E2B3E}"/>
              </a:ext>
            </a:extLst>
          </p:cNvPr>
          <p:cNvSpPr>
            <a:spLocks xmlns:a="http://schemas.openxmlformats.org/drawingml/2006/main" noGrp="1"/>
          </p:cNvSpPr>
          <p:nvPr/>
        </p:nvSpPr>
        <p:spPr>
          <a:xfrm xmlns:a="http://schemas.openxmlformats.org/drawingml/2006/main">
            <a:off x="8763000" y="4648200"/>
            <a:ext cx="152400" cy="34290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A21F4605-2057-4B16-8B68-888119F77A06}"/>
              </a:ext>
            </a:extLst>
          </p:cNvPr>
          <p:cNvSpPr>
            <a:spLocks xmlns:a="http://schemas.openxmlformats.org/drawingml/2006/main" noGrp="1"/>
          </p:cNvSpPr>
          <p:nvPr/>
        </p:nvSpPr>
        <p:spPr>
          <a:xfrm xmlns:a="http://schemas.openxmlformats.org/drawingml/2006/main">
            <a:off x="9048750" y="4076700"/>
            <a:ext cx="152400" cy="91440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5FE30AD6-5F3A-4707-9244-FFCD949C386A}"/>
              </a:ext>
            </a:extLst>
          </p:cNvPr>
          <p:cNvSpPr>
            <a:spLocks xmlns:a="http://schemas.openxmlformats.org/drawingml/2006/main" noGrp="1"/>
          </p:cNvSpPr>
          <p:nvPr/>
        </p:nvSpPr>
        <p:spPr>
          <a:xfrm xmlns:a="http://schemas.openxmlformats.org/drawingml/2006/main">
            <a:off x="9258300" y="4191000"/>
            <a:ext cx="152400" cy="80010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6D0FC7DF-A63F-4775-8F2E-159996FB2D65}"/>
              </a:ext>
            </a:extLst>
          </p:cNvPr>
          <p:cNvSpPr>
            <a:spLocks xmlns:a="http://schemas.openxmlformats.org/drawingml/2006/main" noGrp="1"/>
          </p:cNvSpPr>
          <p:nvPr/>
        </p:nvSpPr>
        <p:spPr>
          <a:xfrm xmlns:a="http://schemas.openxmlformats.org/drawingml/2006/main">
            <a:off x="9544050" y="4324350"/>
            <a:ext cx="152400" cy="666750"/>
          </a:xfrm>
          <a:prstGeom xmlns:a="http://schemas.openxmlformats.org/drawingml/2006/main" prst="rect">
            <a:avLst/>
          </a:prstGeom>
          <a:solidFill xmlns:a="http://schemas.openxmlformats.org/drawingml/2006/main">
            <a:srgbClr val="18B6B0"/>
          </a:solidFill>
          <a:ln xmlns:a="http://schemas.openxmlformats.org/drawingml/2006/main" w="0">
            <a:solidFill>
              <a:srgbClr val="000000">
                <a:alpha val="0"/>
              </a:srgbClr>
            </a:solidFill>
            <a:prstDash val="solid"/>
          </a:ln>
        </p:spPr>
      </p:sp>
      <p:sp>
        <p:nvSpPr>
          <p:cNvPr id="74" name="">
            <a:extLst xmlns:a="http://schemas.openxmlformats.org/drawingml/2006/main">
              <a:ext uri="{FF2B5EF4-FFF2-40B4-BE49-F238E27FC236}">
                <a16:creationId xmlns:a16="http://schemas.microsoft.com/office/drawing/2014/main" id="{AD0BCFB1-F976-4949-90CF-0937F593EC29}"/>
              </a:ext>
            </a:extLst>
          </p:cNvPr>
          <p:cNvSpPr>
            <a:spLocks xmlns:a="http://schemas.openxmlformats.org/drawingml/2006/main" noGrp="1"/>
          </p:cNvSpPr>
          <p:nvPr/>
        </p:nvSpPr>
        <p:spPr>
          <a:xfrm xmlns:a="http://schemas.openxmlformats.org/drawingml/2006/main">
            <a:off x="9753600" y="4438650"/>
            <a:ext cx="152400" cy="552450"/>
          </a:xfrm>
          <a:prstGeom xmlns:a="http://schemas.openxmlformats.org/drawingml/2006/main" prst="rect">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8650F0AB-40E2-4AB6-ACA5-4EB2F2213F3A}"/>
              </a:ext>
            </a:extLst>
          </p:cNvPr>
          <p:cNvSpPr>
            <a:spLocks xmlns:a="http://schemas.openxmlformats.org/drawingml/2006/main" noGrp="1"/>
          </p:cNvSpPr>
          <p:nvPr/>
        </p:nvSpPr>
        <p:spPr>
          <a:xfrm xmlns:a="http://schemas.openxmlformats.org/drawingml/2006/main">
            <a:off x="10114788" y="3562350"/>
            <a:ext cx="1497330" cy="1847850"/>
          </a:xfrm>
          <a:prstGeom xmlns:a="http://schemas.openxmlformats.org/drawingml/2006/main" prst="roundRect">
            <a:avLst>
              <a:gd name="adj" fmla="val 5089"/>
            </a:avLst>
          </a:prstGeom>
          <a:solidFill xmlns:a="http://schemas.openxmlformats.org/drawingml/2006/main">
            <a:srgbClr val="FFFFFF"/>
          </a:solidFill>
          <a:ln xmlns:a="http://schemas.openxmlformats.org/drawingml/2006/main" w="9525">
            <a:solidFill>
              <a:srgbClr val="D9E2EC"/>
            </a:solidFill>
            <a:prstDash val="solid"/>
          </a:ln>
        </p:spPr>
      </p:sp>
      <p:sp>
        <p:nvSpPr>
          <p:cNvPr id="76" name="">
            <a:extLst xmlns:a="http://schemas.openxmlformats.org/drawingml/2006/main">
              <a:ext uri="{FF2B5EF4-FFF2-40B4-BE49-F238E27FC236}">
                <a16:creationId xmlns:a16="http://schemas.microsoft.com/office/drawing/2014/main" id="{78907F03-5F6B-4082-9D13-EE577A5C75DD}"/>
              </a:ext>
            </a:extLst>
          </p:cNvPr>
          <p:cNvSpPr>
            <a:spLocks xmlns:a="http://schemas.openxmlformats.org/drawingml/2006/main" noGrp="1"/>
          </p:cNvSpPr>
          <p:nvPr/>
        </p:nvSpPr>
        <p:spPr>
          <a:xfrm xmlns:a="http://schemas.openxmlformats.org/drawingml/2006/main">
            <a:off x="10267188" y="37147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待办事项</a:t>
            </a:r>
          </a:p>
        </p:txBody>
      </p:sp>
      <p:sp>
        <p:nvSpPr>
          <p:cNvPr id="77" name="">
            <a:extLst xmlns:a="http://schemas.openxmlformats.org/drawingml/2006/main">
              <a:ext uri="{FF2B5EF4-FFF2-40B4-BE49-F238E27FC236}">
                <a16:creationId xmlns:a16="http://schemas.microsoft.com/office/drawing/2014/main" id="{B5433071-D41D-40E2-AB85-8727E8334B31}"/>
              </a:ext>
            </a:extLst>
          </p:cNvPr>
          <p:cNvSpPr>
            <a:spLocks xmlns:a="http://schemas.openxmlformats.org/drawingml/2006/main" noGrp="1"/>
          </p:cNvSpPr>
          <p:nvPr/>
        </p:nvSpPr>
        <p:spPr>
          <a:xfrm xmlns:a="http://schemas.openxmlformats.org/drawingml/2006/main">
            <a:off x="10267188" y="4000500"/>
            <a:ext cx="1192530" cy="285750"/>
          </a:xfrm>
          <a:prstGeom xmlns:a="http://schemas.openxmlformats.org/drawingml/2006/main" prst="roundRect">
            <a:avLst>
              <a:gd name="adj" fmla="val 26667"/>
            </a:avLst>
          </a:prstGeom>
          <a:solidFill xmlns:a="http://schemas.openxmlformats.org/drawingml/2006/main">
            <a:srgbClr val="F8FAFC"/>
          </a:solidFill>
          <a:ln xmlns:a="http://schemas.openxmlformats.org/drawingml/2006/main" w="9525">
            <a:solidFill>
              <a:srgbClr val="D9E2EC"/>
            </a:solidFill>
            <a:prstDash val="solid"/>
          </a:ln>
        </p:spPr>
      </p:sp>
      <p:sp>
        <p:nvSpPr>
          <p:cNvPr id="78" name="">
            <a:extLst xmlns:a="http://schemas.openxmlformats.org/drawingml/2006/main">
              <a:ext uri="{FF2B5EF4-FFF2-40B4-BE49-F238E27FC236}">
                <a16:creationId xmlns:a16="http://schemas.microsoft.com/office/drawing/2014/main" id="{EC16E96F-DE07-4DFA-8DA8-BAF15BCBCB4D}"/>
              </a:ext>
            </a:extLst>
          </p:cNvPr>
          <p:cNvSpPr>
            <a:spLocks xmlns:a="http://schemas.openxmlformats.org/drawingml/2006/main" noGrp="1"/>
          </p:cNvSpPr>
          <p:nvPr/>
        </p:nvSpPr>
        <p:spPr>
          <a:xfrm xmlns:a="http://schemas.openxmlformats.org/drawingml/2006/main">
            <a:off x="10381488" y="4076700"/>
            <a:ext cx="857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243B53"/>
                </a:solidFill>
              </a:defRPr>
            </a:pPr>
            <a:r>
              <a:rPr sz="750" b="0">
                <a:solidFill>
                  <a:srgbClr val="243B53"/>
                </a:solidFill>
              </a:rPr>
              <a:t>流程审批</a:t>
            </a:r>
          </a:p>
        </p:txBody>
      </p:sp>
      <p:sp>
        <p:nvSpPr>
          <p:cNvPr id="79" name="">
            <a:extLst xmlns:a="http://schemas.openxmlformats.org/drawingml/2006/main">
              <a:ext uri="{FF2B5EF4-FFF2-40B4-BE49-F238E27FC236}">
                <a16:creationId xmlns:a16="http://schemas.microsoft.com/office/drawing/2014/main" id="{EB844FBC-9C76-4FF7-8898-DF58881E9B74}"/>
              </a:ext>
            </a:extLst>
          </p:cNvPr>
          <p:cNvSpPr>
            <a:spLocks xmlns:a="http://schemas.openxmlformats.org/drawingml/2006/main" noGrp="1"/>
          </p:cNvSpPr>
          <p:nvPr/>
        </p:nvSpPr>
        <p:spPr>
          <a:xfrm xmlns:a="http://schemas.openxmlformats.org/drawingml/2006/main">
            <a:off x="11238738" y="4019550"/>
            <a:ext cx="70485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80" name="">
            <a:extLst xmlns:a="http://schemas.openxmlformats.org/drawingml/2006/main">
              <a:ext uri="{FF2B5EF4-FFF2-40B4-BE49-F238E27FC236}">
                <a16:creationId xmlns:a16="http://schemas.microsoft.com/office/drawing/2014/main" id="{4FC1E6A1-A3F5-449F-AAF9-FECA28616D6C}"/>
              </a:ext>
            </a:extLst>
          </p:cNvPr>
          <p:cNvSpPr>
            <a:spLocks xmlns:a="http://schemas.openxmlformats.org/drawingml/2006/main" noGrp="1"/>
          </p:cNvSpPr>
          <p:nvPr/>
        </p:nvSpPr>
        <p:spPr>
          <a:xfrm xmlns:a="http://schemas.openxmlformats.org/drawingml/2006/main">
            <a:off x="11353038" y="40576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处理中</a:t>
            </a:r>
          </a:p>
        </p:txBody>
      </p:sp>
      <p:sp>
        <p:nvSpPr>
          <p:cNvPr id="81" name="">
            <a:extLst xmlns:a="http://schemas.openxmlformats.org/drawingml/2006/main">
              <a:ext uri="{FF2B5EF4-FFF2-40B4-BE49-F238E27FC236}">
                <a16:creationId xmlns:a16="http://schemas.microsoft.com/office/drawing/2014/main" id="{FA24C4F5-4A4E-4DBC-87A3-0574A44A7BC6}"/>
              </a:ext>
            </a:extLst>
          </p:cNvPr>
          <p:cNvSpPr>
            <a:spLocks xmlns:a="http://schemas.openxmlformats.org/drawingml/2006/main" noGrp="1"/>
          </p:cNvSpPr>
          <p:nvPr/>
        </p:nvSpPr>
        <p:spPr>
          <a:xfrm xmlns:a="http://schemas.openxmlformats.org/drawingml/2006/main">
            <a:off x="10267188" y="4419600"/>
            <a:ext cx="1192530" cy="285750"/>
          </a:xfrm>
          <a:prstGeom xmlns:a="http://schemas.openxmlformats.org/drawingml/2006/main" prst="roundRect">
            <a:avLst>
              <a:gd name="adj" fmla="val 26667"/>
            </a:avLst>
          </a:prstGeom>
          <a:solidFill xmlns:a="http://schemas.openxmlformats.org/drawingml/2006/main">
            <a:srgbClr val="F8FAFC"/>
          </a:solidFill>
          <a:ln xmlns:a="http://schemas.openxmlformats.org/drawingml/2006/main" w="9525">
            <a:solidFill>
              <a:srgbClr val="D9E2EC"/>
            </a:solidFill>
            <a:prstDash val="solid"/>
          </a:ln>
        </p:spPr>
      </p:sp>
      <p:sp>
        <p:nvSpPr>
          <p:cNvPr id="82" name="">
            <a:extLst xmlns:a="http://schemas.openxmlformats.org/drawingml/2006/main">
              <a:ext uri="{FF2B5EF4-FFF2-40B4-BE49-F238E27FC236}">
                <a16:creationId xmlns:a16="http://schemas.microsoft.com/office/drawing/2014/main" id="{1B6E91AE-E9BD-4D52-ACEF-063BB413249B}"/>
              </a:ext>
            </a:extLst>
          </p:cNvPr>
          <p:cNvSpPr>
            <a:spLocks xmlns:a="http://schemas.openxmlformats.org/drawingml/2006/main" noGrp="1"/>
          </p:cNvSpPr>
          <p:nvPr/>
        </p:nvSpPr>
        <p:spPr>
          <a:xfrm xmlns:a="http://schemas.openxmlformats.org/drawingml/2006/main">
            <a:off x="10381488" y="4495800"/>
            <a:ext cx="857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243B53"/>
                </a:solidFill>
              </a:defRPr>
            </a:pPr>
            <a:r>
              <a:rPr sz="750" b="0">
                <a:solidFill>
                  <a:srgbClr val="243B53"/>
                </a:solidFill>
              </a:rPr>
              <a:t>报销审核</a:t>
            </a:r>
          </a:p>
        </p:txBody>
      </p:sp>
      <p:sp>
        <p:nvSpPr>
          <p:cNvPr id="83" name="">
            <a:extLst xmlns:a="http://schemas.openxmlformats.org/drawingml/2006/main">
              <a:ext uri="{FF2B5EF4-FFF2-40B4-BE49-F238E27FC236}">
                <a16:creationId xmlns:a16="http://schemas.microsoft.com/office/drawing/2014/main" id="{9D6F855B-605B-443C-82B9-5EF39150D17D}"/>
              </a:ext>
            </a:extLst>
          </p:cNvPr>
          <p:cNvSpPr>
            <a:spLocks xmlns:a="http://schemas.openxmlformats.org/drawingml/2006/main" noGrp="1"/>
          </p:cNvSpPr>
          <p:nvPr/>
        </p:nvSpPr>
        <p:spPr>
          <a:xfrm xmlns:a="http://schemas.openxmlformats.org/drawingml/2006/main">
            <a:off x="11238738" y="4438650"/>
            <a:ext cx="70485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84" name="">
            <a:extLst xmlns:a="http://schemas.openxmlformats.org/drawingml/2006/main">
              <a:ext uri="{FF2B5EF4-FFF2-40B4-BE49-F238E27FC236}">
                <a16:creationId xmlns:a16="http://schemas.microsoft.com/office/drawing/2014/main" id="{E998AA01-B41D-42EE-8E4F-D9149ECBAA70}"/>
              </a:ext>
            </a:extLst>
          </p:cNvPr>
          <p:cNvSpPr>
            <a:spLocks xmlns:a="http://schemas.openxmlformats.org/drawingml/2006/main" noGrp="1"/>
          </p:cNvSpPr>
          <p:nvPr/>
        </p:nvSpPr>
        <p:spPr>
          <a:xfrm xmlns:a="http://schemas.openxmlformats.org/drawingml/2006/main">
            <a:off x="11353038" y="44767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处理中</a:t>
            </a:r>
          </a:p>
        </p:txBody>
      </p:sp>
      <p:sp>
        <p:nvSpPr>
          <p:cNvPr id="85" name="">
            <a:extLst xmlns:a="http://schemas.openxmlformats.org/drawingml/2006/main">
              <a:ext uri="{FF2B5EF4-FFF2-40B4-BE49-F238E27FC236}">
                <a16:creationId xmlns:a16="http://schemas.microsoft.com/office/drawing/2014/main" id="{BBBBC8E4-477D-4454-AE99-AC181140AE58}"/>
              </a:ext>
            </a:extLst>
          </p:cNvPr>
          <p:cNvSpPr>
            <a:spLocks xmlns:a="http://schemas.openxmlformats.org/drawingml/2006/main" noGrp="1"/>
          </p:cNvSpPr>
          <p:nvPr/>
        </p:nvSpPr>
        <p:spPr>
          <a:xfrm xmlns:a="http://schemas.openxmlformats.org/drawingml/2006/main">
            <a:off x="10267188" y="4838700"/>
            <a:ext cx="1192530" cy="285750"/>
          </a:xfrm>
          <a:prstGeom xmlns:a="http://schemas.openxmlformats.org/drawingml/2006/main" prst="roundRect">
            <a:avLst>
              <a:gd name="adj" fmla="val 26667"/>
            </a:avLst>
          </a:prstGeom>
          <a:solidFill xmlns:a="http://schemas.openxmlformats.org/drawingml/2006/main">
            <a:srgbClr val="F8FAFC"/>
          </a:solidFill>
          <a:ln xmlns:a="http://schemas.openxmlformats.org/drawingml/2006/main" w="9525">
            <a:solidFill>
              <a:srgbClr val="D9E2EC"/>
            </a:solidFill>
            <a:prstDash val="solid"/>
          </a:ln>
        </p:spPr>
      </p:sp>
      <p:sp>
        <p:nvSpPr>
          <p:cNvPr id="86" name="">
            <a:extLst xmlns:a="http://schemas.openxmlformats.org/drawingml/2006/main">
              <a:ext uri="{FF2B5EF4-FFF2-40B4-BE49-F238E27FC236}">
                <a16:creationId xmlns:a16="http://schemas.microsoft.com/office/drawing/2014/main" id="{10BD1184-77A7-4069-8A65-C19037B015A1}"/>
              </a:ext>
            </a:extLst>
          </p:cNvPr>
          <p:cNvSpPr>
            <a:spLocks xmlns:a="http://schemas.openxmlformats.org/drawingml/2006/main" noGrp="1"/>
          </p:cNvSpPr>
          <p:nvPr/>
        </p:nvSpPr>
        <p:spPr>
          <a:xfrm xmlns:a="http://schemas.openxmlformats.org/drawingml/2006/main">
            <a:off x="10381488" y="4914900"/>
            <a:ext cx="857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243B53"/>
                </a:solidFill>
              </a:defRPr>
            </a:pPr>
            <a:r>
              <a:rPr sz="750" b="0">
                <a:solidFill>
                  <a:srgbClr val="243B53"/>
                </a:solidFill>
              </a:rPr>
              <a:t>阶段提交</a:t>
            </a:r>
          </a:p>
        </p:txBody>
      </p:sp>
      <p:sp>
        <p:nvSpPr>
          <p:cNvPr id="87" name="">
            <a:extLst xmlns:a="http://schemas.openxmlformats.org/drawingml/2006/main">
              <a:ext uri="{FF2B5EF4-FFF2-40B4-BE49-F238E27FC236}">
                <a16:creationId xmlns:a16="http://schemas.microsoft.com/office/drawing/2014/main" id="{84E2685C-0B62-4517-A057-4A37BF9CECEC}"/>
              </a:ext>
            </a:extLst>
          </p:cNvPr>
          <p:cNvSpPr>
            <a:spLocks xmlns:a="http://schemas.openxmlformats.org/drawingml/2006/main" noGrp="1"/>
          </p:cNvSpPr>
          <p:nvPr/>
        </p:nvSpPr>
        <p:spPr>
          <a:xfrm xmlns:a="http://schemas.openxmlformats.org/drawingml/2006/main">
            <a:off x="11238738" y="4857750"/>
            <a:ext cx="70485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88" name="">
            <a:extLst xmlns:a="http://schemas.openxmlformats.org/drawingml/2006/main">
              <a:ext uri="{FF2B5EF4-FFF2-40B4-BE49-F238E27FC236}">
                <a16:creationId xmlns:a16="http://schemas.microsoft.com/office/drawing/2014/main" id="{9ADD4F0D-DB92-49E3-AD9C-36977103A61F}"/>
              </a:ext>
            </a:extLst>
          </p:cNvPr>
          <p:cNvSpPr>
            <a:spLocks xmlns:a="http://schemas.openxmlformats.org/drawingml/2006/main" noGrp="1"/>
          </p:cNvSpPr>
          <p:nvPr/>
        </p:nvSpPr>
        <p:spPr>
          <a:xfrm xmlns:a="http://schemas.openxmlformats.org/drawingml/2006/main">
            <a:off x="11353038" y="48958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处理中</a:t>
            </a:r>
          </a:p>
        </p:txBody>
      </p:sp>
      <p:sp>
        <p:nvSpPr>
          <p:cNvPr id="89" name="">
            <a:extLst xmlns:a="http://schemas.openxmlformats.org/drawingml/2006/main">
              <a:ext uri="{FF2B5EF4-FFF2-40B4-BE49-F238E27FC236}">
                <a16:creationId xmlns:a16="http://schemas.microsoft.com/office/drawing/2014/main" id="{2F920446-6E98-49B9-B2FA-C3B13DBA15A4}"/>
              </a:ext>
            </a:extLst>
          </p:cNvPr>
          <p:cNvSpPr>
            <a:spLocks xmlns:a="http://schemas.openxmlformats.org/drawingml/2006/main" noGrp="1"/>
          </p:cNvSpPr>
          <p:nvPr/>
        </p:nvSpPr>
        <p:spPr>
          <a:xfrm xmlns:a="http://schemas.openxmlformats.org/drawingml/2006/main">
            <a:off x="10267188" y="5257800"/>
            <a:ext cx="1192530" cy="285750"/>
          </a:xfrm>
          <a:prstGeom xmlns:a="http://schemas.openxmlformats.org/drawingml/2006/main" prst="roundRect">
            <a:avLst>
              <a:gd name="adj" fmla="val 26667"/>
            </a:avLst>
          </a:prstGeom>
          <a:solidFill xmlns:a="http://schemas.openxmlformats.org/drawingml/2006/main">
            <a:srgbClr val="F8FAFC"/>
          </a:solidFill>
          <a:ln xmlns:a="http://schemas.openxmlformats.org/drawingml/2006/main" w="9525">
            <a:solidFill>
              <a:srgbClr val="D9E2EC"/>
            </a:solidFill>
            <a:prstDash val="solid"/>
          </a:ln>
        </p:spPr>
      </p:sp>
      <p:sp>
        <p:nvSpPr>
          <p:cNvPr id="90" name="">
            <a:extLst xmlns:a="http://schemas.openxmlformats.org/drawingml/2006/main">
              <a:ext uri="{FF2B5EF4-FFF2-40B4-BE49-F238E27FC236}">
                <a16:creationId xmlns:a16="http://schemas.microsoft.com/office/drawing/2014/main" id="{99F2AE3F-6816-419A-88C0-FD86D1AED70A}"/>
              </a:ext>
            </a:extLst>
          </p:cNvPr>
          <p:cNvSpPr>
            <a:spLocks xmlns:a="http://schemas.openxmlformats.org/drawingml/2006/main" noGrp="1"/>
          </p:cNvSpPr>
          <p:nvPr/>
        </p:nvSpPr>
        <p:spPr>
          <a:xfrm xmlns:a="http://schemas.openxmlformats.org/drawingml/2006/main">
            <a:off x="10381488" y="5334000"/>
            <a:ext cx="857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243B53"/>
                </a:solidFill>
              </a:defRPr>
            </a:pPr>
            <a:r>
              <a:rPr sz="750" b="0">
                <a:solidFill>
                  <a:srgbClr val="243B53"/>
                </a:solidFill>
              </a:rPr>
              <a:t>成果维护</a:t>
            </a:r>
          </a:p>
        </p:txBody>
      </p:sp>
      <p:sp>
        <p:nvSpPr>
          <p:cNvPr id="91" name="">
            <a:extLst xmlns:a="http://schemas.openxmlformats.org/drawingml/2006/main">
              <a:ext uri="{FF2B5EF4-FFF2-40B4-BE49-F238E27FC236}">
                <a16:creationId xmlns:a16="http://schemas.microsoft.com/office/drawing/2014/main" id="{765D2CCE-8F30-4EDC-9F33-D68B66075398}"/>
              </a:ext>
            </a:extLst>
          </p:cNvPr>
          <p:cNvSpPr>
            <a:spLocks xmlns:a="http://schemas.openxmlformats.org/drawingml/2006/main" noGrp="1"/>
          </p:cNvSpPr>
          <p:nvPr/>
        </p:nvSpPr>
        <p:spPr>
          <a:xfrm xmlns:a="http://schemas.openxmlformats.org/drawingml/2006/main">
            <a:off x="11238738" y="5276850"/>
            <a:ext cx="70485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92" name="">
            <a:extLst xmlns:a="http://schemas.openxmlformats.org/drawingml/2006/main">
              <a:ext uri="{FF2B5EF4-FFF2-40B4-BE49-F238E27FC236}">
                <a16:creationId xmlns:a16="http://schemas.microsoft.com/office/drawing/2014/main" id="{841AE511-3842-43C8-96EB-FE4C1473B04C}"/>
              </a:ext>
            </a:extLst>
          </p:cNvPr>
          <p:cNvSpPr>
            <a:spLocks xmlns:a="http://schemas.openxmlformats.org/drawingml/2006/main" noGrp="1"/>
          </p:cNvSpPr>
          <p:nvPr/>
        </p:nvSpPr>
        <p:spPr>
          <a:xfrm xmlns:a="http://schemas.openxmlformats.org/drawingml/2006/main">
            <a:off x="11353038" y="53149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处理中</a:t>
            </a:r>
          </a:p>
        </p:txBody>
      </p:sp>
      <p:sp>
        <p:nvSpPr>
          <p:cNvPr id="93" name="">
            <a:extLst xmlns:a="http://schemas.openxmlformats.org/drawingml/2006/main">
              <a:ext uri="{FF2B5EF4-FFF2-40B4-BE49-F238E27FC236}">
                <a16:creationId xmlns:a16="http://schemas.microsoft.com/office/drawing/2014/main" id="{F726A284-3B6B-4921-A488-05271F1FB2C8}"/>
              </a:ext>
            </a:extLst>
          </p:cNvPr>
          <p:cNvSpPr>
            <a:spLocks xmlns:a="http://schemas.openxmlformats.org/drawingml/2006/main" noGrp="1"/>
          </p:cNvSpPr>
          <p:nvPr/>
        </p:nvSpPr>
        <p:spPr>
          <a:xfrm xmlns:a="http://schemas.openxmlformats.org/drawingml/2006/main">
            <a:off x="685800" y="5924550"/>
            <a:ext cx="10801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486581"/>
                </a:solidFill>
              </a:defRPr>
            </a:pPr>
            <a:r>
              <a:rPr sz="975" b="0">
                <a:solidFill>
                  <a:srgbClr val="486581"/>
                </a:solidFill>
              </a:rPr>
              <a:t>登录页突出统一入口与权限分发，工作台则承担统计概览、待办聚合和预算对比展示。</a:t>
            </a:r>
          </a:p>
        </p:txBody>
      </p:sp>
    </p:spTree>
    <p:extLst>
      <p:ext uri="{BB962C8B-B14F-4D97-AF65-F5344CB8AC3E}">
        <p14:creationId xmlns:p14="http://schemas.microsoft.com/office/powerpoint/2010/main" val="20188819"/>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715E304-679B-415E-8E3C-C2E28F0C2B8F}"/>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6B18D25-581F-4F2C-A15A-907E0569A6D1}"/>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32C41EB-DB79-4ED0-A8ED-EF76CF3E1F69}"/>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UI DEMO</a:t>
            </a:r>
          </a:p>
        </p:txBody>
      </p:sp>
      <p:sp>
        <p:nvSpPr>
          <p:cNvPr id="5" name="">
            <a:extLst xmlns:a="http://schemas.openxmlformats.org/drawingml/2006/main">
              <a:ext uri="{FF2B5EF4-FFF2-40B4-BE49-F238E27FC236}">
                <a16:creationId xmlns:a16="http://schemas.microsoft.com/office/drawing/2014/main" id="{2C63C7CF-C883-4BA4-9BDC-451E9AE9FC33}"/>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14</a:t>
            </a:r>
          </a:p>
        </p:txBody>
      </p:sp>
      <p:sp>
        <p:nvSpPr>
          <p:cNvPr id="6" name="">
            <a:extLst xmlns:a="http://schemas.openxmlformats.org/drawingml/2006/main">
              <a:ext uri="{FF2B5EF4-FFF2-40B4-BE49-F238E27FC236}">
                <a16:creationId xmlns:a16="http://schemas.microsoft.com/office/drawing/2014/main" id="{D700046B-2056-4F79-B3D0-D6E9FFE2DDD0}"/>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系统界面展示：业务与管理页面</a:t>
            </a:r>
          </a:p>
        </p:txBody>
      </p:sp>
      <p:sp>
        <p:nvSpPr>
          <p:cNvPr id="7" name="">
            <a:extLst xmlns:a="http://schemas.openxmlformats.org/drawingml/2006/main">
              <a:ext uri="{FF2B5EF4-FFF2-40B4-BE49-F238E27FC236}">
                <a16:creationId xmlns:a16="http://schemas.microsoft.com/office/drawing/2014/main" id="{ACA02100-0CA6-48B0-A68E-CC35A1E6CC61}"/>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项目列表、审批报销和用户角色页面共同支撑系统的核心业务协同与后台维护。</a:t>
            </a:r>
          </a:p>
        </p:txBody>
      </p:sp>
      <p:sp>
        <p:nvSpPr>
          <p:cNvPr id="8" name="">
            <a:extLst xmlns:a="http://schemas.openxmlformats.org/drawingml/2006/main">
              <a:ext uri="{FF2B5EF4-FFF2-40B4-BE49-F238E27FC236}">
                <a16:creationId xmlns:a16="http://schemas.microsoft.com/office/drawing/2014/main" id="{6D8EA96C-8B76-462B-A9AB-7F9F31442F66}"/>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D04A3FA-0034-49C2-AABB-701D1DE0AD74}"/>
              </a:ext>
            </a:extLst>
          </p:cNvPr>
          <p:cNvSpPr>
            <a:spLocks xmlns:a="http://schemas.openxmlformats.org/drawingml/2006/main" noGrp="1"/>
          </p:cNvSpPr>
          <p:nvPr/>
        </p:nvSpPr>
        <p:spPr>
          <a:xfrm xmlns:a="http://schemas.openxmlformats.org/drawingml/2006/main">
            <a:off x="781050" y="2000250"/>
            <a:ext cx="3429000" cy="3562350"/>
          </a:xfrm>
          <a:prstGeom xmlns:a="http://schemas.openxmlformats.org/drawingml/2006/main" prst="roundRect">
            <a:avLst>
              <a:gd name="adj" fmla="val 2222"/>
            </a:avLst>
          </a:prstGeom>
          <a:solidFill xmlns:a="http://schemas.openxmlformats.org/drawingml/2006/main">
            <a:srgbClr val="0C2438">
              <a:alpha val="6275"/>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F42DCD1-680A-445C-AD88-4B7BDA494276}"/>
              </a:ext>
            </a:extLst>
          </p:cNvPr>
          <p:cNvSpPr>
            <a:spLocks xmlns:a="http://schemas.openxmlformats.org/drawingml/2006/main" noGrp="1"/>
          </p:cNvSpPr>
          <p:nvPr/>
        </p:nvSpPr>
        <p:spPr>
          <a:xfrm xmlns:a="http://schemas.openxmlformats.org/drawingml/2006/main">
            <a:off x="685800" y="1905000"/>
            <a:ext cx="3429000" cy="356235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1430">
            <a:solidFill>
              <a:srgbClr val="D9E2EC"/>
            </a:solidFill>
            <a:prstDash val="solid"/>
          </a:ln>
        </p:spPr>
      </p:sp>
      <p:sp>
        <p:nvSpPr>
          <p:cNvPr id="11" name="">
            <a:extLst xmlns:a="http://schemas.openxmlformats.org/drawingml/2006/main">
              <a:ext uri="{FF2B5EF4-FFF2-40B4-BE49-F238E27FC236}">
                <a16:creationId xmlns:a16="http://schemas.microsoft.com/office/drawing/2014/main" id="{306321D3-6D85-49A7-B1C8-6E355FEAFBD5}"/>
              </a:ext>
            </a:extLst>
          </p:cNvPr>
          <p:cNvSpPr>
            <a:spLocks xmlns:a="http://schemas.openxmlformats.org/drawingml/2006/main" noGrp="1"/>
          </p:cNvSpPr>
          <p:nvPr/>
        </p:nvSpPr>
        <p:spPr>
          <a:xfrm xmlns:a="http://schemas.openxmlformats.org/drawingml/2006/main">
            <a:off x="819150" y="2038350"/>
            <a:ext cx="3162300" cy="361950"/>
          </a:xfrm>
          <a:prstGeom xmlns:a="http://schemas.openxmlformats.org/drawingml/2006/main" prst="roundRect">
            <a:avLst>
              <a:gd name="adj" fmla="val 21053"/>
            </a:avLst>
          </a:prstGeom>
          <a:solidFill xmlns:a="http://schemas.openxmlformats.org/drawingml/2006/main">
            <a:srgbClr val="F8FAFC"/>
          </a:solidFill>
          <a:ln xmlns:a="http://schemas.openxmlformats.org/drawingml/2006/main" w="9525">
            <a:solidFill>
              <a:srgbClr val="D9E2EC"/>
            </a:solidFill>
            <a:prstDash val="solid"/>
          </a:ln>
        </p:spPr>
      </p:sp>
      <p:sp>
        <p:nvSpPr>
          <p:cNvPr id="12" name="">
            <a:extLst xmlns:a="http://schemas.openxmlformats.org/drawingml/2006/main">
              <a:ext uri="{FF2B5EF4-FFF2-40B4-BE49-F238E27FC236}">
                <a16:creationId xmlns:a16="http://schemas.microsoft.com/office/drawing/2014/main" id="{2F125451-DADC-4EEC-A6F7-D049DF017BBE}"/>
              </a:ext>
            </a:extLst>
          </p:cNvPr>
          <p:cNvSpPr>
            <a:spLocks xmlns:a="http://schemas.openxmlformats.org/drawingml/2006/main" noGrp="1"/>
          </p:cNvSpPr>
          <p:nvPr/>
        </p:nvSpPr>
        <p:spPr>
          <a:xfrm xmlns:a="http://schemas.openxmlformats.org/drawingml/2006/main">
            <a:off x="952500" y="2171700"/>
            <a:ext cx="85725" cy="85725"/>
          </a:xfrm>
          <a:prstGeom xmlns:a="http://schemas.openxmlformats.org/drawingml/2006/main" prst="ellipse">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0A300E8-5ADF-4E10-92A2-0E1E36A16421}"/>
              </a:ext>
            </a:extLst>
          </p:cNvPr>
          <p:cNvSpPr>
            <a:spLocks xmlns:a="http://schemas.openxmlformats.org/drawingml/2006/main" noGrp="1"/>
          </p:cNvSpPr>
          <p:nvPr/>
        </p:nvSpPr>
        <p:spPr>
          <a:xfrm xmlns:a="http://schemas.openxmlformats.org/drawingml/2006/main">
            <a:off x="1104900" y="2171700"/>
            <a:ext cx="85725" cy="85725"/>
          </a:xfrm>
          <a:prstGeom xmlns:a="http://schemas.openxmlformats.org/drawingml/2006/main" prst="ellipse">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7D08B28-19BF-43AE-9A0C-A79F4632BC1C}"/>
              </a:ext>
            </a:extLst>
          </p:cNvPr>
          <p:cNvSpPr>
            <a:spLocks xmlns:a="http://schemas.openxmlformats.org/drawingml/2006/main" noGrp="1"/>
          </p:cNvSpPr>
          <p:nvPr/>
        </p:nvSpPr>
        <p:spPr>
          <a:xfrm xmlns:a="http://schemas.openxmlformats.org/drawingml/2006/main">
            <a:off x="1257300" y="2171700"/>
            <a:ext cx="85725" cy="85725"/>
          </a:xfrm>
          <a:prstGeom xmlns:a="http://schemas.openxmlformats.org/drawingml/2006/main" prst="ellipse">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467B8BE-7AF1-49DF-9040-DB861292B486}"/>
              </a:ext>
            </a:extLst>
          </p:cNvPr>
          <p:cNvSpPr>
            <a:spLocks xmlns:a="http://schemas.openxmlformats.org/drawingml/2006/main" noGrp="1"/>
          </p:cNvSpPr>
          <p:nvPr/>
        </p:nvSpPr>
        <p:spPr>
          <a:xfrm xmlns:a="http://schemas.openxmlformats.org/drawingml/2006/main">
            <a:off x="1524000" y="2124075"/>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8794"/>
                </a:solidFill>
              </a:defRPr>
            </a:pPr>
            <a:r>
              <a:rPr sz="900" b="1">
                <a:solidFill>
                  <a:srgbClr val="7B8794"/>
                </a:solidFill>
              </a:rPr>
              <a:t>项目管理</a:t>
            </a:r>
          </a:p>
        </p:txBody>
      </p:sp>
      <p:sp>
        <p:nvSpPr>
          <p:cNvPr id="16" name="">
            <a:extLst xmlns:a="http://schemas.openxmlformats.org/drawingml/2006/main">
              <a:ext uri="{FF2B5EF4-FFF2-40B4-BE49-F238E27FC236}">
                <a16:creationId xmlns:a16="http://schemas.microsoft.com/office/drawing/2014/main" id="{6467B40F-AD8C-4253-8FB3-8310ABD24855}"/>
              </a:ext>
            </a:extLst>
          </p:cNvPr>
          <p:cNvSpPr>
            <a:spLocks xmlns:a="http://schemas.openxmlformats.org/drawingml/2006/main" noGrp="1"/>
          </p:cNvSpPr>
          <p:nvPr/>
        </p:nvSpPr>
        <p:spPr>
          <a:xfrm xmlns:a="http://schemas.openxmlformats.org/drawingml/2006/main">
            <a:off x="876300" y="2514600"/>
            <a:ext cx="3048000" cy="342900"/>
          </a:xfrm>
          <a:prstGeom xmlns:a="http://schemas.openxmlformats.org/drawingml/2006/main" prst="roundRect">
            <a:avLst>
              <a:gd name="adj" fmla="val 22222"/>
            </a:avLst>
          </a:prstGeom>
          <a:solidFill xmlns:a="http://schemas.openxmlformats.org/drawingml/2006/main">
            <a:srgbClr val="F8FAFC"/>
          </a:solidFill>
          <a:ln xmlns:a="http://schemas.openxmlformats.org/drawingml/2006/main" w="9525">
            <a:solidFill>
              <a:srgbClr val="D9E2EC"/>
            </a:solidFill>
            <a:prstDash val="solid"/>
          </a:ln>
        </p:spPr>
      </p:sp>
      <p:sp>
        <p:nvSpPr>
          <p:cNvPr id="17" name="">
            <a:extLst xmlns:a="http://schemas.openxmlformats.org/drawingml/2006/main">
              <a:ext uri="{FF2B5EF4-FFF2-40B4-BE49-F238E27FC236}">
                <a16:creationId xmlns:a16="http://schemas.microsoft.com/office/drawing/2014/main" id="{035F4797-FE15-47B3-B90E-820F12F53987}"/>
              </a:ext>
            </a:extLst>
          </p:cNvPr>
          <p:cNvSpPr>
            <a:spLocks xmlns:a="http://schemas.openxmlformats.org/drawingml/2006/main" noGrp="1"/>
          </p:cNvSpPr>
          <p:nvPr/>
        </p:nvSpPr>
        <p:spPr>
          <a:xfrm xmlns:a="http://schemas.openxmlformats.org/drawingml/2006/main">
            <a:off x="971550" y="2581275"/>
            <a:ext cx="8001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D9E2EC"/>
            </a:solidFill>
            <a:prstDash val="solid"/>
          </a:ln>
        </p:spPr>
      </p:sp>
      <p:sp>
        <p:nvSpPr>
          <p:cNvPr id="18" name="">
            <a:extLst xmlns:a="http://schemas.openxmlformats.org/drawingml/2006/main">
              <a:ext uri="{FF2B5EF4-FFF2-40B4-BE49-F238E27FC236}">
                <a16:creationId xmlns:a16="http://schemas.microsoft.com/office/drawing/2014/main" id="{E3FBDFEA-E5A8-469E-96EB-EB2DCF8EB6DE}"/>
              </a:ext>
            </a:extLst>
          </p:cNvPr>
          <p:cNvSpPr>
            <a:spLocks xmlns:a="http://schemas.openxmlformats.org/drawingml/2006/main" noGrp="1"/>
          </p:cNvSpPr>
          <p:nvPr/>
        </p:nvSpPr>
        <p:spPr>
          <a:xfrm xmlns:a="http://schemas.openxmlformats.org/drawingml/2006/main">
            <a:off x="1104900" y="2638425"/>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0">
                <a:solidFill>
                  <a:srgbClr val="7B8794"/>
                </a:solidFill>
              </a:defRPr>
            </a:pPr>
            <a:r>
              <a:rPr sz="675" b="0">
                <a:solidFill>
                  <a:srgbClr val="7B8794"/>
                </a:solidFill>
              </a:rPr>
              <a:t>项目名称</a:t>
            </a:r>
          </a:p>
        </p:txBody>
      </p:sp>
      <p:sp>
        <p:nvSpPr>
          <p:cNvPr id="19" name="">
            <a:extLst xmlns:a="http://schemas.openxmlformats.org/drawingml/2006/main">
              <a:ext uri="{FF2B5EF4-FFF2-40B4-BE49-F238E27FC236}">
                <a16:creationId xmlns:a16="http://schemas.microsoft.com/office/drawing/2014/main" id="{41221F14-69C0-4A4C-A09A-410F85029678}"/>
              </a:ext>
            </a:extLst>
          </p:cNvPr>
          <p:cNvSpPr>
            <a:spLocks xmlns:a="http://schemas.openxmlformats.org/drawingml/2006/main" noGrp="1"/>
          </p:cNvSpPr>
          <p:nvPr/>
        </p:nvSpPr>
        <p:spPr>
          <a:xfrm xmlns:a="http://schemas.openxmlformats.org/drawingml/2006/main">
            <a:off x="1885950" y="2581275"/>
            <a:ext cx="8001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D9E2EC"/>
            </a:solidFill>
            <a:prstDash val="solid"/>
          </a:ln>
        </p:spPr>
      </p:sp>
      <p:sp>
        <p:nvSpPr>
          <p:cNvPr id="20" name="">
            <a:extLst xmlns:a="http://schemas.openxmlformats.org/drawingml/2006/main">
              <a:ext uri="{FF2B5EF4-FFF2-40B4-BE49-F238E27FC236}">
                <a16:creationId xmlns:a16="http://schemas.microsoft.com/office/drawing/2014/main" id="{8A997861-593E-4099-B608-6FF6F74A320E}"/>
              </a:ext>
            </a:extLst>
          </p:cNvPr>
          <p:cNvSpPr>
            <a:spLocks xmlns:a="http://schemas.openxmlformats.org/drawingml/2006/main" noGrp="1"/>
          </p:cNvSpPr>
          <p:nvPr/>
        </p:nvSpPr>
        <p:spPr>
          <a:xfrm xmlns:a="http://schemas.openxmlformats.org/drawingml/2006/main">
            <a:off x="2019300" y="2638425"/>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0">
                <a:solidFill>
                  <a:srgbClr val="7B8794"/>
                </a:solidFill>
              </a:defRPr>
            </a:pPr>
            <a:r>
              <a:rPr sz="675" b="0">
                <a:solidFill>
                  <a:srgbClr val="7B8794"/>
                </a:solidFill>
              </a:rPr>
              <a:t>项目类型</a:t>
            </a:r>
          </a:p>
        </p:txBody>
      </p:sp>
      <p:sp>
        <p:nvSpPr>
          <p:cNvPr id="21" name="">
            <a:extLst xmlns:a="http://schemas.openxmlformats.org/drawingml/2006/main">
              <a:ext uri="{FF2B5EF4-FFF2-40B4-BE49-F238E27FC236}">
                <a16:creationId xmlns:a16="http://schemas.microsoft.com/office/drawing/2014/main" id="{40A970A3-D79F-4B09-9EB6-E4AC19C09C8D}"/>
              </a:ext>
            </a:extLst>
          </p:cNvPr>
          <p:cNvSpPr>
            <a:spLocks xmlns:a="http://schemas.openxmlformats.org/drawingml/2006/main" noGrp="1"/>
          </p:cNvSpPr>
          <p:nvPr/>
        </p:nvSpPr>
        <p:spPr>
          <a:xfrm xmlns:a="http://schemas.openxmlformats.org/drawingml/2006/main">
            <a:off x="2800350" y="2581275"/>
            <a:ext cx="800100"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D9E2EC"/>
            </a:solidFill>
            <a:prstDash val="solid"/>
          </a:ln>
        </p:spPr>
      </p:sp>
      <p:sp>
        <p:nvSpPr>
          <p:cNvPr id="22" name="">
            <a:extLst xmlns:a="http://schemas.openxmlformats.org/drawingml/2006/main">
              <a:ext uri="{FF2B5EF4-FFF2-40B4-BE49-F238E27FC236}">
                <a16:creationId xmlns:a16="http://schemas.microsoft.com/office/drawing/2014/main" id="{0FCE43B4-A416-49C5-A121-A309B6D19115}"/>
              </a:ext>
            </a:extLst>
          </p:cNvPr>
          <p:cNvSpPr>
            <a:spLocks xmlns:a="http://schemas.openxmlformats.org/drawingml/2006/main" noGrp="1"/>
          </p:cNvSpPr>
          <p:nvPr/>
        </p:nvSpPr>
        <p:spPr>
          <a:xfrm xmlns:a="http://schemas.openxmlformats.org/drawingml/2006/main">
            <a:off x="2933700" y="2638425"/>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0">
                <a:solidFill>
                  <a:srgbClr val="7B8794"/>
                </a:solidFill>
              </a:defRPr>
            </a:pPr>
            <a:r>
              <a:rPr sz="675" b="0">
                <a:solidFill>
                  <a:srgbClr val="7B8794"/>
                </a:solidFill>
              </a:rPr>
              <a:t>状态</a:t>
            </a:r>
          </a:p>
        </p:txBody>
      </p:sp>
      <p:sp>
        <p:nvSpPr>
          <p:cNvPr id="23" name="">
            <a:extLst xmlns:a="http://schemas.openxmlformats.org/drawingml/2006/main">
              <a:ext uri="{FF2B5EF4-FFF2-40B4-BE49-F238E27FC236}">
                <a16:creationId xmlns:a16="http://schemas.microsoft.com/office/drawing/2014/main" id="{D3485A38-28D8-4865-9115-83D10F57B826}"/>
              </a:ext>
            </a:extLst>
          </p:cNvPr>
          <p:cNvSpPr>
            <a:spLocks xmlns:a="http://schemas.openxmlformats.org/drawingml/2006/main" noGrp="1"/>
          </p:cNvSpPr>
          <p:nvPr/>
        </p:nvSpPr>
        <p:spPr>
          <a:xfrm xmlns:a="http://schemas.openxmlformats.org/drawingml/2006/main">
            <a:off x="2438400" y="2581275"/>
            <a:ext cx="590550" cy="209550"/>
          </a:xfrm>
          <a:prstGeom xmlns:a="http://schemas.openxmlformats.org/drawingml/2006/main" prst="roundRect">
            <a:avLst>
              <a:gd name="adj" fmla="val 36364"/>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D96A33E-F0CE-40B0-9AA5-32E1508E64B9}"/>
              </a:ext>
            </a:extLst>
          </p:cNvPr>
          <p:cNvSpPr>
            <a:spLocks xmlns:a="http://schemas.openxmlformats.org/drawingml/2006/main" noGrp="1"/>
          </p:cNvSpPr>
          <p:nvPr/>
        </p:nvSpPr>
        <p:spPr>
          <a:xfrm xmlns:a="http://schemas.openxmlformats.org/drawingml/2006/main">
            <a:off x="3105150" y="2581275"/>
            <a:ext cx="590550" cy="209550"/>
          </a:xfrm>
          <a:prstGeom xmlns:a="http://schemas.openxmlformats.org/drawingml/2006/main" prst="roundRect">
            <a:avLst>
              <a:gd name="adj" fmla="val 36364"/>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795197C4-AFFA-4CC4-8B91-429166E4B528}"/>
              </a:ext>
            </a:extLst>
          </p:cNvPr>
          <p:cNvSpPr>
            <a:spLocks xmlns:a="http://schemas.openxmlformats.org/drawingml/2006/main" noGrp="1"/>
          </p:cNvSpPr>
          <p:nvPr/>
        </p:nvSpPr>
        <p:spPr>
          <a:xfrm xmlns:a="http://schemas.openxmlformats.org/drawingml/2006/main">
            <a:off x="2438400" y="2638425"/>
            <a:ext cx="590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18B6B0"/>
                </a:solidFill>
              </a:defRPr>
            </a:pPr>
            <a:r>
              <a:rPr sz="675" b="1">
                <a:solidFill>
                  <a:srgbClr val="18B6B0"/>
                </a:solidFill>
              </a:rPr>
              <a:t>查询</a:t>
            </a:r>
          </a:p>
        </p:txBody>
      </p:sp>
      <p:sp>
        <p:nvSpPr>
          <p:cNvPr id="26" name="">
            <a:extLst xmlns:a="http://schemas.openxmlformats.org/drawingml/2006/main">
              <a:ext uri="{FF2B5EF4-FFF2-40B4-BE49-F238E27FC236}">
                <a16:creationId xmlns:a16="http://schemas.microsoft.com/office/drawing/2014/main" id="{24F94431-0B00-4703-99BC-27A32C54A07D}"/>
              </a:ext>
            </a:extLst>
          </p:cNvPr>
          <p:cNvSpPr>
            <a:spLocks xmlns:a="http://schemas.openxmlformats.org/drawingml/2006/main" noGrp="1"/>
          </p:cNvSpPr>
          <p:nvPr/>
        </p:nvSpPr>
        <p:spPr>
          <a:xfrm xmlns:a="http://schemas.openxmlformats.org/drawingml/2006/main">
            <a:off x="3105150" y="2638425"/>
            <a:ext cx="590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2B35E"/>
                </a:solidFill>
              </a:defRPr>
            </a:pPr>
            <a:r>
              <a:rPr sz="675" b="1">
                <a:solidFill>
                  <a:srgbClr val="F2B35E"/>
                </a:solidFill>
              </a:rPr>
              <a:t>导出</a:t>
            </a:r>
          </a:p>
        </p:txBody>
      </p:sp>
      <p:sp>
        <p:nvSpPr>
          <p:cNvPr id="27" name="">
            <a:extLst xmlns:a="http://schemas.openxmlformats.org/drawingml/2006/main">
              <a:ext uri="{FF2B5EF4-FFF2-40B4-BE49-F238E27FC236}">
                <a16:creationId xmlns:a16="http://schemas.microsoft.com/office/drawing/2014/main" id="{AA918E48-B9DE-4B47-A5D7-67C6D730183B}"/>
              </a:ext>
            </a:extLst>
          </p:cNvPr>
          <p:cNvSpPr>
            <a:spLocks xmlns:a="http://schemas.openxmlformats.org/drawingml/2006/main" noGrp="1"/>
          </p:cNvSpPr>
          <p:nvPr/>
        </p:nvSpPr>
        <p:spPr>
          <a:xfrm xmlns:a="http://schemas.openxmlformats.org/drawingml/2006/main">
            <a:off x="876300" y="2990850"/>
            <a:ext cx="3048000" cy="24765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B2A7F06-0447-4A7F-80E7-65B39920104B}"/>
              </a:ext>
            </a:extLst>
          </p:cNvPr>
          <p:cNvSpPr>
            <a:spLocks xmlns:a="http://schemas.openxmlformats.org/drawingml/2006/main" noGrp="1"/>
          </p:cNvSpPr>
          <p:nvPr/>
        </p:nvSpPr>
        <p:spPr>
          <a:xfrm xmlns:a="http://schemas.openxmlformats.org/drawingml/2006/main">
            <a:off x="952500" y="3057525"/>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7B8794"/>
                </a:solidFill>
              </a:defRPr>
            </a:pPr>
            <a:r>
              <a:rPr sz="675" b="1">
                <a:solidFill>
                  <a:srgbClr val="7B8794"/>
                </a:solidFill>
              </a:rPr>
              <a:t>编号</a:t>
            </a:r>
          </a:p>
        </p:txBody>
      </p:sp>
      <p:sp>
        <p:nvSpPr>
          <p:cNvPr id="29" name="">
            <a:extLst xmlns:a="http://schemas.openxmlformats.org/drawingml/2006/main">
              <a:ext uri="{FF2B5EF4-FFF2-40B4-BE49-F238E27FC236}">
                <a16:creationId xmlns:a16="http://schemas.microsoft.com/office/drawing/2014/main" id="{8D8C0345-7C8A-4FE1-90A7-E41FBB4CAA0A}"/>
              </a:ext>
            </a:extLst>
          </p:cNvPr>
          <p:cNvSpPr>
            <a:spLocks xmlns:a="http://schemas.openxmlformats.org/drawingml/2006/main" noGrp="1"/>
          </p:cNvSpPr>
          <p:nvPr/>
        </p:nvSpPr>
        <p:spPr>
          <a:xfrm xmlns:a="http://schemas.openxmlformats.org/drawingml/2006/main">
            <a:off x="1435100" y="3057525"/>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7B8794"/>
                </a:solidFill>
              </a:defRPr>
            </a:pPr>
            <a:r>
              <a:rPr sz="675" b="1">
                <a:solidFill>
                  <a:srgbClr val="7B8794"/>
                </a:solidFill>
              </a:rPr>
              <a:t>名称</a:t>
            </a:r>
          </a:p>
        </p:txBody>
      </p:sp>
      <p:sp>
        <p:nvSpPr>
          <p:cNvPr id="30" name="">
            <a:extLst xmlns:a="http://schemas.openxmlformats.org/drawingml/2006/main">
              <a:ext uri="{FF2B5EF4-FFF2-40B4-BE49-F238E27FC236}">
                <a16:creationId xmlns:a16="http://schemas.microsoft.com/office/drawing/2014/main" id="{92B8F908-2D38-4B8E-9A4D-8109F85DD1CF}"/>
              </a:ext>
            </a:extLst>
          </p:cNvPr>
          <p:cNvSpPr>
            <a:spLocks xmlns:a="http://schemas.openxmlformats.org/drawingml/2006/main" noGrp="1"/>
          </p:cNvSpPr>
          <p:nvPr/>
        </p:nvSpPr>
        <p:spPr>
          <a:xfrm xmlns:a="http://schemas.openxmlformats.org/drawingml/2006/main">
            <a:off x="1917700" y="3057525"/>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7B8794"/>
                </a:solidFill>
              </a:defRPr>
            </a:pPr>
            <a:r>
              <a:rPr sz="675" b="1">
                <a:solidFill>
                  <a:srgbClr val="7B8794"/>
                </a:solidFill>
              </a:rPr>
              <a:t>负责人</a:t>
            </a:r>
          </a:p>
        </p:txBody>
      </p:sp>
      <p:sp>
        <p:nvSpPr>
          <p:cNvPr id="31" name="">
            <a:extLst xmlns:a="http://schemas.openxmlformats.org/drawingml/2006/main">
              <a:ext uri="{FF2B5EF4-FFF2-40B4-BE49-F238E27FC236}">
                <a16:creationId xmlns:a16="http://schemas.microsoft.com/office/drawing/2014/main" id="{6309D874-AF8C-4BF5-B4FC-FDBA8855B58F}"/>
              </a:ext>
            </a:extLst>
          </p:cNvPr>
          <p:cNvSpPr>
            <a:spLocks xmlns:a="http://schemas.openxmlformats.org/drawingml/2006/main" noGrp="1"/>
          </p:cNvSpPr>
          <p:nvPr/>
        </p:nvSpPr>
        <p:spPr>
          <a:xfrm xmlns:a="http://schemas.openxmlformats.org/drawingml/2006/main">
            <a:off x="2400300" y="3057525"/>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7B8794"/>
                </a:solidFill>
              </a:defRPr>
            </a:pPr>
            <a:r>
              <a:rPr sz="675" b="1">
                <a:solidFill>
                  <a:srgbClr val="7B8794"/>
                </a:solidFill>
              </a:rPr>
              <a:t>状态</a:t>
            </a:r>
          </a:p>
        </p:txBody>
      </p:sp>
      <p:sp>
        <p:nvSpPr>
          <p:cNvPr id="32" name="">
            <a:extLst xmlns:a="http://schemas.openxmlformats.org/drawingml/2006/main">
              <a:ext uri="{FF2B5EF4-FFF2-40B4-BE49-F238E27FC236}">
                <a16:creationId xmlns:a16="http://schemas.microsoft.com/office/drawing/2014/main" id="{F7ACCB34-8929-4410-8AEC-1554226822EE}"/>
              </a:ext>
            </a:extLst>
          </p:cNvPr>
          <p:cNvSpPr>
            <a:spLocks xmlns:a="http://schemas.openxmlformats.org/drawingml/2006/main" noGrp="1"/>
          </p:cNvSpPr>
          <p:nvPr/>
        </p:nvSpPr>
        <p:spPr>
          <a:xfrm xmlns:a="http://schemas.openxmlformats.org/drawingml/2006/main">
            <a:off x="2882900" y="3057525"/>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7B8794"/>
                </a:solidFill>
              </a:defRPr>
            </a:pPr>
            <a:r>
              <a:rPr sz="675" b="1">
                <a:solidFill>
                  <a:srgbClr val="7B8794"/>
                </a:solidFill>
              </a:rPr>
              <a:t>阶段</a:t>
            </a:r>
          </a:p>
        </p:txBody>
      </p:sp>
      <p:sp>
        <p:nvSpPr>
          <p:cNvPr id="33" name="">
            <a:extLst xmlns:a="http://schemas.openxmlformats.org/drawingml/2006/main">
              <a:ext uri="{FF2B5EF4-FFF2-40B4-BE49-F238E27FC236}">
                <a16:creationId xmlns:a16="http://schemas.microsoft.com/office/drawing/2014/main" id="{F787A963-3DAD-4FB9-8A38-93F1DEADD19D}"/>
              </a:ext>
            </a:extLst>
          </p:cNvPr>
          <p:cNvSpPr>
            <a:spLocks xmlns:a="http://schemas.openxmlformats.org/drawingml/2006/main" noGrp="1"/>
          </p:cNvSpPr>
          <p:nvPr/>
        </p:nvSpPr>
        <p:spPr>
          <a:xfrm xmlns:a="http://schemas.openxmlformats.org/drawingml/2006/main">
            <a:off x="3365500" y="3057525"/>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7B8794"/>
                </a:solidFill>
              </a:defRPr>
            </a:pPr>
            <a:r>
              <a:rPr sz="675" b="1">
                <a:solidFill>
                  <a:srgbClr val="7B8794"/>
                </a:solidFill>
              </a:rPr>
              <a:t>操作</a:t>
            </a:r>
          </a:p>
        </p:txBody>
      </p:sp>
      <p:sp>
        <p:nvSpPr>
          <p:cNvPr id="34" name="">
            <a:extLst xmlns:a="http://schemas.openxmlformats.org/drawingml/2006/main">
              <a:ext uri="{FF2B5EF4-FFF2-40B4-BE49-F238E27FC236}">
                <a16:creationId xmlns:a16="http://schemas.microsoft.com/office/drawing/2014/main" id="{0E25F5EC-2C25-441B-B17F-E36D6497EE73}"/>
              </a:ext>
            </a:extLst>
          </p:cNvPr>
          <p:cNvSpPr>
            <a:spLocks xmlns:a="http://schemas.openxmlformats.org/drawingml/2006/main" noGrp="1"/>
          </p:cNvSpPr>
          <p:nvPr/>
        </p:nvSpPr>
        <p:spPr>
          <a:xfrm xmlns:a="http://schemas.openxmlformats.org/drawingml/2006/main">
            <a:off x="876300" y="3295650"/>
            <a:ext cx="3048000" cy="9525"/>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4176C7BE-695F-4C98-A856-E8290F80CBC7}"/>
              </a:ext>
            </a:extLst>
          </p:cNvPr>
          <p:cNvSpPr>
            <a:spLocks xmlns:a="http://schemas.openxmlformats.org/drawingml/2006/main" noGrp="1"/>
          </p:cNvSpPr>
          <p:nvPr/>
        </p:nvSpPr>
        <p:spPr>
          <a:xfrm xmlns:a="http://schemas.openxmlformats.org/drawingml/2006/main">
            <a:off x="971550" y="337185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GXKY-001</a:t>
            </a:r>
          </a:p>
        </p:txBody>
      </p:sp>
      <p:sp>
        <p:nvSpPr>
          <p:cNvPr id="36" name="">
            <a:extLst xmlns:a="http://schemas.openxmlformats.org/drawingml/2006/main">
              <a:ext uri="{FF2B5EF4-FFF2-40B4-BE49-F238E27FC236}">
                <a16:creationId xmlns:a16="http://schemas.microsoft.com/office/drawing/2014/main" id="{28739D05-ECA4-4026-8372-73C8529671F6}"/>
              </a:ext>
            </a:extLst>
          </p:cNvPr>
          <p:cNvSpPr>
            <a:spLocks xmlns:a="http://schemas.openxmlformats.org/drawingml/2006/main" noGrp="1"/>
          </p:cNvSpPr>
          <p:nvPr/>
        </p:nvSpPr>
        <p:spPr>
          <a:xfrm xmlns:a="http://schemas.openxmlformats.org/drawingml/2006/main">
            <a:off x="1695450" y="3371850"/>
            <a:ext cx="7239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项目示例 1</a:t>
            </a:r>
          </a:p>
        </p:txBody>
      </p:sp>
      <p:sp>
        <p:nvSpPr>
          <p:cNvPr id="37" name="">
            <a:extLst xmlns:a="http://schemas.openxmlformats.org/drawingml/2006/main">
              <a:ext uri="{FF2B5EF4-FFF2-40B4-BE49-F238E27FC236}">
                <a16:creationId xmlns:a16="http://schemas.microsoft.com/office/drawing/2014/main" id="{8829ABC4-9935-43AC-A676-4C6D1F196814}"/>
              </a:ext>
            </a:extLst>
          </p:cNvPr>
          <p:cNvSpPr>
            <a:spLocks xmlns:a="http://schemas.openxmlformats.org/drawingml/2006/main" noGrp="1"/>
          </p:cNvSpPr>
          <p:nvPr/>
        </p:nvSpPr>
        <p:spPr>
          <a:xfrm xmlns:a="http://schemas.openxmlformats.org/drawingml/2006/main">
            <a:off x="2647950" y="337185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教师用户</a:t>
            </a:r>
          </a:p>
        </p:txBody>
      </p:sp>
      <p:sp>
        <p:nvSpPr>
          <p:cNvPr id="38" name="">
            <a:extLst xmlns:a="http://schemas.openxmlformats.org/drawingml/2006/main">
              <a:ext uri="{FF2B5EF4-FFF2-40B4-BE49-F238E27FC236}">
                <a16:creationId xmlns:a16="http://schemas.microsoft.com/office/drawing/2014/main" id="{56F4B655-7DFA-45C8-8E55-14BDF56BCE2E}"/>
              </a:ext>
            </a:extLst>
          </p:cNvPr>
          <p:cNvSpPr>
            <a:spLocks xmlns:a="http://schemas.openxmlformats.org/drawingml/2006/main" noGrp="1"/>
          </p:cNvSpPr>
          <p:nvPr/>
        </p:nvSpPr>
        <p:spPr>
          <a:xfrm xmlns:a="http://schemas.openxmlformats.org/drawingml/2006/main">
            <a:off x="3390900" y="3324225"/>
            <a:ext cx="6858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B47B482E-59E1-4C06-99A4-7B17656D21DF}"/>
              </a:ext>
            </a:extLst>
          </p:cNvPr>
          <p:cNvSpPr>
            <a:spLocks xmlns:a="http://schemas.openxmlformats.org/drawingml/2006/main" noGrp="1"/>
          </p:cNvSpPr>
          <p:nvPr/>
        </p:nvSpPr>
        <p:spPr>
          <a:xfrm xmlns:a="http://schemas.openxmlformats.org/drawingml/2006/main">
            <a:off x="3505200" y="33623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申报中</a:t>
            </a:r>
          </a:p>
        </p:txBody>
      </p:sp>
      <p:sp>
        <p:nvSpPr>
          <p:cNvPr id="40" name="">
            <a:extLst xmlns:a="http://schemas.openxmlformats.org/drawingml/2006/main">
              <a:ext uri="{FF2B5EF4-FFF2-40B4-BE49-F238E27FC236}">
                <a16:creationId xmlns:a16="http://schemas.microsoft.com/office/drawing/2014/main" id="{18832E73-F0AD-47F2-AC20-5E516119A9C1}"/>
              </a:ext>
            </a:extLst>
          </p:cNvPr>
          <p:cNvSpPr>
            <a:spLocks xmlns:a="http://schemas.openxmlformats.org/drawingml/2006/main" noGrp="1"/>
          </p:cNvSpPr>
          <p:nvPr/>
        </p:nvSpPr>
        <p:spPr>
          <a:xfrm xmlns:a="http://schemas.openxmlformats.org/drawingml/2006/main">
            <a:off x="4286250" y="3371850"/>
            <a:ext cx="6477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流程推进</a:t>
            </a:r>
          </a:p>
        </p:txBody>
      </p:sp>
      <p:sp>
        <p:nvSpPr>
          <p:cNvPr id="41" name="">
            <a:extLst xmlns:a="http://schemas.openxmlformats.org/drawingml/2006/main">
              <a:ext uri="{FF2B5EF4-FFF2-40B4-BE49-F238E27FC236}">
                <a16:creationId xmlns:a16="http://schemas.microsoft.com/office/drawing/2014/main" id="{685F93E4-B49B-42A3-9BF0-31AEEA2E248F}"/>
              </a:ext>
            </a:extLst>
          </p:cNvPr>
          <p:cNvSpPr>
            <a:spLocks xmlns:a="http://schemas.openxmlformats.org/drawingml/2006/main" noGrp="1"/>
          </p:cNvSpPr>
          <p:nvPr/>
        </p:nvSpPr>
        <p:spPr>
          <a:xfrm xmlns:a="http://schemas.openxmlformats.org/drawingml/2006/main">
            <a:off x="5086350" y="3371850"/>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8B6B0"/>
                </a:solidFill>
              </a:defRPr>
            </a:pPr>
            <a:r>
              <a:rPr sz="675" b="1">
                <a:solidFill>
                  <a:srgbClr val="18B6B0"/>
                </a:solidFill>
              </a:rPr>
              <a:t>详情 / 编辑</a:t>
            </a:r>
          </a:p>
        </p:txBody>
      </p:sp>
      <p:sp>
        <p:nvSpPr>
          <p:cNvPr id="42" name="">
            <a:extLst xmlns:a="http://schemas.openxmlformats.org/drawingml/2006/main">
              <a:ext uri="{FF2B5EF4-FFF2-40B4-BE49-F238E27FC236}">
                <a16:creationId xmlns:a16="http://schemas.microsoft.com/office/drawing/2014/main" id="{BB62C0F4-BDF5-4441-B8B2-AD21E1C3703F}"/>
              </a:ext>
            </a:extLst>
          </p:cNvPr>
          <p:cNvSpPr>
            <a:spLocks xmlns:a="http://schemas.openxmlformats.org/drawingml/2006/main" noGrp="1"/>
          </p:cNvSpPr>
          <p:nvPr/>
        </p:nvSpPr>
        <p:spPr>
          <a:xfrm xmlns:a="http://schemas.openxmlformats.org/drawingml/2006/main">
            <a:off x="876300" y="3619500"/>
            <a:ext cx="3048000" cy="9525"/>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E5D5CCD3-BE33-4E3C-B287-16E844B14CAE}"/>
              </a:ext>
            </a:extLst>
          </p:cNvPr>
          <p:cNvSpPr>
            <a:spLocks xmlns:a="http://schemas.openxmlformats.org/drawingml/2006/main" noGrp="1"/>
          </p:cNvSpPr>
          <p:nvPr/>
        </p:nvSpPr>
        <p:spPr>
          <a:xfrm xmlns:a="http://schemas.openxmlformats.org/drawingml/2006/main">
            <a:off x="971550" y="369570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GXKY-002</a:t>
            </a:r>
          </a:p>
        </p:txBody>
      </p:sp>
      <p:sp>
        <p:nvSpPr>
          <p:cNvPr id="44" name="">
            <a:extLst xmlns:a="http://schemas.openxmlformats.org/drawingml/2006/main">
              <a:ext uri="{FF2B5EF4-FFF2-40B4-BE49-F238E27FC236}">
                <a16:creationId xmlns:a16="http://schemas.microsoft.com/office/drawing/2014/main" id="{C1E923B7-186A-4EF6-9FF8-1C54033F7BAF}"/>
              </a:ext>
            </a:extLst>
          </p:cNvPr>
          <p:cNvSpPr>
            <a:spLocks xmlns:a="http://schemas.openxmlformats.org/drawingml/2006/main" noGrp="1"/>
          </p:cNvSpPr>
          <p:nvPr/>
        </p:nvSpPr>
        <p:spPr>
          <a:xfrm xmlns:a="http://schemas.openxmlformats.org/drawingml/2006/main">
            <a:off x="1695450" y="3695700"/>
            <a:ext cx="7239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项目示例 2</a:t>
            </a:r>
          </a:p>
        </p:txBody>
      </p:sp>
      <p:sp>
        <p:nvSpPr>
          <p:cNvPr id="45" name="">
            <a:extLst xmlns:a="http://schemas.openxmlformats.org/drawingml/2006/main">
              <a:ext uri="{FF2B5EF4-FFF2-40B4-BE49-F238E27FC236}">
                <a16:creationId xmlns:a16="http://schemas.microsoft.com/office/drawing/2014/main" id="{952724B3-983A-464E-B9D6-5C66DEE25BE1}"/>
              </a:ext>
            </a:extLst>
          </p:cNvPr>
          <p:cNvSpPr>
            <a:spLocks xmlns:a="http://schemas.openxmlformats.org/drawingml/2006/main" noGrp="1"/>
          </p:cNvSpPr>
          <p:nvPr/>
        </p:nvSpPr>
        <p:spPr>
          <a:xfrm xmlns:a="http://schemas.openxmlformats.org/drawingml/2006/main">
            <a:off x="2647950" y="369570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教师用户</a:t>
            </a:r>
          </a:p>
        </p:txBody>
      </p:sp>
      <p:sp>
        <p:nvSpPr>
          <p:cNvPr id="46" name="">
            <a:extLst xmlns:a="http://schemas.openxmlformats.org/drawingml/2006/main">
              <a:ext uri="{FF2B5EF4-FFF2-40B4-BE49-F238E27FC236}">
                <a16:creationId xmlns:a16="http://schemas.microsoft.com/office/drawing/2014/main" id="{4FD0EF6F-EA36-439F-9D48-BD9FD79CF84E}"/>
              </a:ext>
            </a:extLst>
          </p:cNvPr>
          <p:cNvSpPr>
            <a:spLocks xmlns:a="http://schemas.openxmlformats.org/drawingml/2006/main" noGrp="1"/>
          </p:cNvSpPr>
          <p:nvPr/>
        </p:nvSpPr>
        <p:spPr>
          <a:xfrm xmlns:a="http://schemas.openxmlformats.org/drawingml/2006/main">
            <a:off x="3390900" y="3648075"/>
            <a:ext cx="685800" cy="266700"/>
          </a:xfrm>
          <a:prstGeom xmlns:a="http://schemas.openxmlformats.org/drawingml/2006/main" prst="roundRect">
            <a:avLst>
              <a:gd name="adj" fmla="val 28571"/>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0349EF62-3C59-4C2A-A8DD-3E13333D313C}"/>
              </a:ext>
            </a:extLst>
          </p:cNvPr>
          <p:cNvSpPr>
            <a:spLocks xmlns:a="http://schemas.openxmlformats.org/drawingml/2006/main" noGrp="1"/>
          </p:cNvSpPr>
          <p:nvPr/>
        </p:nvSpPr>
        <p:spPr>
          <a:xfrm xmlns:a="http://schemas.openxmlformats.org/drawingml/2006/main">
            <a:off x="3505200" y="368617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18B6B0"/>
                </a:solidFill>
              </a:defRPr>
            </a:pPr>
            <a:r>
              <a:rPr sz="900" b="1">
                <a:solidFill>
                  <a:srgbClr val="18B6B0"/>
                </a:solidFill>
              </a:rPr>
              <a:t>进行中</a:t>
            </a:r>
          </a:p>
        </p:txBody>
      </p:sp>
      <p:sp>
        <p:nvSpPr>
          <p:cNvPr id="48" name="">
            <a:extLst xmlns:a="http://schemas.openxmlformats.org/drawingml/2006/main">
              <a:ext uri="{FF2B5EF4-FFF2-40B4-BE49-F238E27FC236}">
                <a16:creationId xmlns:a16="http://schemas.microsoft.com/office/drawing/2014/main" id="{423D25A3-13AD-4B0D-B094-AF8DFC7416BD}"/>
              </a:ext>
            </a:extLst>
          </p:cNvPr>
          <p:cNvSpPr>
            <a:spLocks xmlns:a="http://schemas.openxmlformats.org/drawingml/2006/main" noGrp="1"/>
          </p:cNvSpPr>
          <p:nvPr/>
        </p:nvSpPr>
        <p:spPr>
          <a:xfrm xmlns:a="http://schemas.openxmlformats.org/drawingml/2006/main">
            <a:off x="4286250" y="3695700"/>
            <a:ext cx="6477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流程推进</a:t>
            </a:r>
          </a:p>
        </p:txBody>
      </p:sp>
      <p:sp>
        <p:nvSpPr>
          <p:cNvPr id="49" name="">
            <a:extLst xmlns:a="http://schemas.openxmlformats.org/drawingml/2006/main">
              <a:ext uri="{FF2B5EF4-FFF2-40B4-BE49-F238E27FC236}">
                <a16:creationId xmlns:a16="http://schemas.microsoft.com/office/drawing/2014/main" id="{1CFB0602-B719-447B-AE0D-57520BE71B0D}"/>
              </a:ext>
            </a:extLst>
          </p:cNvPr>
          <p:cNvSpPr>
            <a:spLocks xmlns:a="http://schemas.openxmlformats.org/drawingml/2006/main" noGrp="1"/>
          </p:cNvSpPr>
          <p:nvPr/>
        </p:nvSpPr>
        <p:spPr>
          <a:xfrm xmlns:a="http://schemas.openxmlformats.org/drawingml/2006/main">
            <a:off x="5086350" y="3695700"/>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8B6B0"/>
                </a:solidFill>
              </a:defRPr>
            </a:pPr>
            <a:r>
              <a:rPr sz="675" b="1">
                <a:solidFill>
                  <a:srgbClr val="18B6B0"/>
                </a:solidFill>
              </a:rPr>
              <a:t>详情 / 编辑</a:t>
            </a:r>
          </a:p>
        </p:txBody>
      </p:sp>
      <p:sp>
        <p:nvSpPr>
          <p:cNvPr id="50" name="">
            <a:extLst xmlns:a="http://schemas.openxmlformats.org/drawingml/2006/main">
              <a:ext uri="{FF2B5EF4-FFF2-40B4-BE49-F238E27FC236}">
                <a16:creationId xmlns:a16="http://schemas.microsoft.com/office/drawing/2014/main" id="{5A4A7366-2C95-4E34-BA2D-E009779B447D}"/>
              </a:ext>
            </a:extLst>
          </p:cNvPr>
          <p:cNvSpPr>
            <a:spLocks xmlns:a="http://schemas.openxmlformats.org/drawingml/2006/main" noGrp="1"/>
          </p:cNvSpPr>
          <p:nvPr/>
        </p:nvSpPr>
        <p:spPr>
          <a:xfrm xmlns:a="http://schemas.openxmlformats.org/drawingml/2006/main">
            <a:off x="876300" y="3943350"/>
            <a:ext cx="3048000" cy="9525"/>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A120F374-432E-445D-A1FA-91CB1BBFFF44}"/>
              </a:ext>
            </a:extLst>
          </p:cNvPr>
          <p:cNvSpPr>
            <a:spLocks xmlns:a="http://schemas.openxmlformats.org/drawingml/2006/main" noGrp="1"/>
          </p:cNvSpPr>
          <p:nvPr/>
        </p:nvSpPr>
        <p:spPr>
          <a:xfrm xmlns:a="http://schemas.openxmlformats.org/drawingml/2006/main">
            <a:off x="971550" y="401955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GXKY-003</a:t>
            </a:r>
          </a:p>
        </p:txBody>
      </p:sp>
      <p:sp>
        <p:nvSpPr>
          <p:cNvPr id="52" name="">
            <a:extLst xmlns:a="http://schemas.openxmlformats.org/drawingml/2006/main">
              <a:ext uri="{FF2B5EF4-FFF2-40B4-BE49-F238E27FC236}">
                <a16:creationId xmlns:a16="http://schemas.microsoft.com/office/drawing/2014/main" id="{1FBB957E-15F4-4DA6-B989-6B3014D5C743}"/>
              </a:ext>
            </a:extLst>
          </p:cNvPr>
          <p:cNvSpPr>
            <a:spLocks xmlns:a="http://schemas.openxmlformats.org/drawingml/2006/main" noGrp="1"/>
          </p:cNvSpPr>
          <p:nvPr/>
        </p:nvSpPr>
        <p:spPr>
          <a:xfrm xmlns:a="http://schemas.openxmlformats.org/drawingml/2006/main">
            <a:off x="1695450" y="4019550"/>
            <a:ext cx="7239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项目示例 3</a:t>
            </a:r>
          </a:p>
        </p:txBody>
      </p:sp>
      <p:sp>
        <p:nvSpPr>
          <p:cNvPr id="53" name="">
            <a:extLst xmlns:a="http://schemas.openxmlformats.org/drawingml/2006/main">
              <a:ext uri="{FF2B5EF4-FFF2-40B4-BE49-F238E27FC236}">
                <a16:creationId xmlns:a16="http://schemas.microsoft.com/office/drawing/2014/main" id="{27F42825-F815-47B8-8B06-1B69F50A86FA}"/>
              </a:ext>
            </a:extLst>
          </p:cNvPr>
          <p:cNvSpPr>
            <a:spLocks xmlns:a="http://schemas.openxmlformats.org/drawingml/2006/main" noGrp="1"/>
          </p:cNvSpPr>
          <p:nvPr/>
        </p:nvSpPr>
        <p:spPr>
          <a:xfrm xmlns:a="http://schemas.openxmlformats.org/drawingml/2006/main">
            <a:off x="2647950" y="401955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教师用户</a:t>
            </a:r>
          </a:p>
        </p:txBody>
      </p:sp>
      <p:sp>
        <p:nvSpPr>
          <p:cNvPr id="54" name="">
            <a:extLst xmlns:a="http://schemas.openxmlformats.org/drawingml/2006/main">
              <a:ext uri="{FF2B5EF4-FFF2-40B4-BE49-F238E27FC236}">
                <a16:creationId xmlns:a16="http://schemas.microsoft.com/office/drawing/2014/main" id="{6C13BE0A-48BA-4BFF-9A03-A77F56FDDC17}"/>
              </a:ext>
            </a:extLst>
          </p:cNvPr>
          <p:cNvSpPr>
            <a:spLocks xmlns:a="http://schemas.openxmlformats.org/drawingml/2006/main" noGrp="1"/>
          </p:cNvSpPr>
          <p:nvPr/>
        </p:nvSpPr>
        <p:spPr>
          <a:xfrm xmlns:a="http://schemas.openxmlformats.org/drawingml/2006/main">
            <a:off x="3390900" y="3971925"/>
            <a:ext cx="6858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63D764B9-D927-4823-BC4E-CFCCC47027F2}"/>
              </a:ext>
            </a:extLst>
          </p:cNvPr>
          <p:cNvSpPr>
            <a:spLocks xmlns:a="http://schemas.openxmlformats.org/drawingml/2006/main" noGrp="1"/>
          </p:cNvSpPr>
          <p:nvPr/>
        </p:nvSpPr>
        <p:spPr>
          <a:xfrm xmlns:a="http://schemas.openxmlformats.org/drawingml/2006/main">
            <a:off x="3505200" y="40100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已完成</a:t>
            </a:r>
          </a:p>
        </p:txBody>
      </p:sp>
      <p:sp>
        <p:nvSpPr>
          <p:cNvPr id="56" name="">
            <a:extLst xmlns:a="http://schemas.openxmlformats.org/drawingml/2006/main">
              <a:ext uri="{FF2B5EF4-FFF2-40B4-BE49-F238E27FC236}">
                <a16:creationId xmlns:a16="http://schemas.microsoft.com/office/drawing/2014/main" id="{9395131D-C6B1-4A7C-A0AC-5CC18FFE419F}"/>
              </a:ext>
            </a:extLst>
          </p:cNvPr>
          <p:cNvSpPr>
            <a:spLocks xmlns:a="http://schemas.openxmlformats.org/drawingml/2006/main" noGrp="1"/>
          </p:cNvSpPr>
          <p:nvPr/>
        </p:nvSpPr>
        <p:spPr>
          <a:xfrm xmlns:a="http://schemas.openxmlformats.org/drawingml/2006/main">
            <a:off x="4286250" y="4019550"/>
            <a:ext cx="6477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结题归档</a:t>
            </a:r>
          </a:p>
        </p:txBody>
      </p:sp>
      <p:sp>
        <p:nvSpPr>
          <p:cNvPr id="57" name="">
            <a:extLst xmlns:a="http://schemas.openxmlformats.org/drawingml/2006/main">
              <a:ext uri="{FF2B5EF4-FFF2-40B4-BE49-F238E27FC236}">
                <a16:creationId xmlns:a16="http://schemas.microsoft.com/office/drawing/2014/main" id="{E4EF45A6-CDAC-4EB8-820F-1D3517CC08F0}"/>
              </a:ext>
            </a:extLst>
          </p:cNvPr>
          <p:cNvSpPr>
            <a:spLocks xmlns:a="http://schemas.openxmlformats.org/drawingml/2006/main" noGrp="1"/>
          </p:cNvSpPr>
          <p:nvPr/>
        </p:nvSpPr>
        <p:spPr>
          <a:xfrm xmlns:a="http://schemas.openxmlformats.org/drawingml/2006/main">
            <a:off x="5086350" y="4019550"/>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8B6B0"/>
                </a:solidFill>
              </a:defRPr>
            </a:pPr>
            <a:r>
              <a:rPr sz="675" b="1">
                <a:solidFill>
                  <a:srgbClr val="18B6B0"/>
                </a:solidFill>
              </a:rPr>
              <a:t>详情 / 编辑</a:t>
            </a:r>
          </a:p>
        </p:txBody>
      </p:sp>
      <p:sp>
        <p:nvSpPr>
          <p:cNvPr id="58" name="">
            <a:extLst xmlns:a="http://schemas.openxmlformats.org/drawingml/2006/main">
              <a:ext uri="{FF2B5EF4-FFF2-40B4-BE49-F238E27FC236}">
                <a16:creationId xmlns:a16="http://schemas.microsoft.com/office/drawing/2014/main" id="{BFBE5F2B-D734-4D34-8841-35208BD950AA}"/>
              </a:ext>
            </a:extLst>
          </p:cNvPr>
          <p:cNvSpPr>
            <a:spLocks xmlns:a="http://schemas.openxmlformats.org/drawingml/2006/main" noGrp="1"/>
          </p:cNvSpPr>
          <p:nvPr/>
        </p:nvSpPr>
        <p:spPr>
          <a:xfrm xmlns:a="http://schemas.openxmlformats.org/drawingml/2006/main">
            <a:off x="876300" y="4267200"/>
            <a:ext cx="3048000" cy="9525"/>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3CA44CDF-FBCD-4347-8003-A7DAEC0EF68E}"/>
              </a:ext>
            </a:extLst>
          </p:cNvPr>
          <p:cNvSpPr>
            <a:spLocks xmlns:a="http://schemas.openxmlformats.org/drawingml/2006/main" noGrp="1"/>
          </p:cNvSpPr>
          <p:nvPr/>
        </p:nvSpPr>
        <p:spPr>
          <a:xfrm xmlns:a="http://schemas.openxmlformats.org/drawingml/2006/main">
            <a:off x="971550" y="434340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GXKY-004</a:t>
            </a:r>
          </a:p>
        </p:txBody>
      </p:sp>
      <p:sp>
        <p:nvSpPr>
          <p:cNvPr id="60" name="">
            <a:extLst xmlns:a="http://schemas.openxmlformats.org/drawingml/2006/main">
              <a:ext uri="{FF2B5EF4-FFF2-40B4-BE49-F238E27FC236}">
                <a16:creationId xmlns:a16="http://schemas.microsoft.com/office/drawing/2014/main" id="{3DC473D5-F0C3-4123-811A-189A5D0DD503}"/>
              </a:ext>
            </a:extLst>
          </p:cNvPr>
          <p:cNvSpPr>
            <a:spLocks xmlns:a="http://schemas.openxmlformats.org/drawingml/2006/main" noGrp="1"/>
          </p:cNvSpPr>
          <p:nvPr/>
        </p:nvSpPr>
        <p:spPr>
          <a:xfrm xmlns:a="http://schemas.openxmlformats.org/drawingml/2006/main">
            <a:off x="1695450" y="4343400"/>
            <a:ext cx="7239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项目示例 4</a:t>
            </a:r>
          </a:p>
        </p:txBody>
      </p:sp>
      <p:sp>
        <p:nvSpPr>
          <p:cNvPr id="61" name="">
            <a:extLst xmlns:a="http://schemas.openxmlformats.org/drawingml/2006/main">
              <a:ext uri="{FF2B5EF4-FFF2-40B4-BE49-F238E27FC236}">
                <a16:creationId xmlns:a16="http://schemas.microsoft.com/office/drawing/2014/main" id="{FB7F3D23-F61E-4654-8C4F-93F571677580}"/>
              </a:ext>
            </a:extLst>
          </p:cNvPr>
          <p:cNvSpPr>
            <a:spLocks xmlns:a="http://schemas.openxmlformats.org/drawingml/2006/main" noGrp="1"/>
          </p:cNvSpPr>
          <p:nvPr/>
        </p:nvSpPr>
        <p:spPr>
          <a:xfrm xmlns:a="http://schemas.openxmlformats.org/drawingml/2006/main">
            <a:off x="2647950" y="4343400"/>
            <a:ext cx="5715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教师用户</a:t>
            </a:r>
          </a:p>
        </p:txBody>
      </p:sp>
      <p:sp>
        <p:nvSpPr>
          <p:cNvPr id="62" name="">
            <a:extLst xmlns:a="http://schemas.openxmlformats.org/drawingml/2006/main">
              <a:ext uri="{FF2B5EF4-FFF2-40B4-BE49-F238E27FC236}">
                <a16:creationId xmlns:a16="http://schemas.microsoft.com/office/drawing/2014/main" id="{73B3247F-F16B-486F-B86A-5443CE534015}"/>
              </a:ext>
            </a:extLst>
          </p:cNvPr>
          <p:cNvSpPr>
            <a:spLocks xmlns:a="http://schemas.openxmlformats.org/drawingml/2006/main" noGrp="1"/>
          </p:cNvSpPr>
          <p:nvPr/>
        </p:nvSpPr>
        <p:spPr>
          <a:xfrm xmlns:a="http://schemas.openxmlformats.org/drawingml/2006/main">
            <a:off x="3390900" y="4295775"/>
            <a:ext cx="6858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850C7A52-E3AB-4280-963B-79BC3A752F6A}"/>
              </a:ext>
            </a:extLst>
          </p:cNvPr>
          <p:cNvSpPr>
            <a:spLocks xmlns:a="http://schemas.openxmlformats.org/drawingml/2006/main" noGrp="1"/>
          </p:cNvSpPr>
          <p:nvPr/>
        </p:nvSpPr>
        <p:spPr>
          <a:xfrm xmlns:a="http://schemas.openxmlformats.org/drawingml/2006/main">
            <a:off x="3505200" y="433387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中期检查</a:t>
            </a:r>
          </a:p>
        </p:txBody>
      </p:sp>
      <p:sp>
        <p:nvSpPr>
          <p:cNvPr id="64" name="">
            <a:extLst xmlns:a="http://schemas.openxmlformats.org/drawingml/2006/main">
              <a:ext uri="{FF2B5EF4-FFF2-40B4-BE49-F238E27FC236}">
                <a16:creationId xmlns:a16="http://schemas.microsoft.com/office/drawing/2014/main" id="{BDA11C14-AED7-4E08-BF55-5934C67E2359}"/>
              </a:ext>
            </a:extLst>
          </p:cNvPr>
          <p:cNvSpPr>
            <a:spLocks xmlns:a="http://schemas.openxmlformats.org/drawingml/2006/main" noGrp="1"/>
          </p:cNvSpPr>
          <p:nvPr/>
        </p:nvSpPr>
        <p:spPr>
          <a:xfrm xmlns:a="http://schemas.openxmlformats.org/drawingml/2006/main">
            <a:off x="4286250" y="4343400"/>
            <a:ext cx="6477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中期检查</a:t>
            </a:r>
          </a:p>
        </p:txBody>
      </p:sp>
      <p:sp>
        <p:nvSpPr>
          <p:cNvPr id="65" name="">
            <a:extLst xmlns:a="http://schemas.openxmlformats.org/drawingml/2006/main">
              <a:ext uri="{FF2B5EF4-FFF2-40B4-BE49-F238E27FC236}">
                <a16:creationId xmlns:a16="http://schemas.microsoft.com/office/drawing/2014/main" id="{5832E076-F62A-48BD-8EEB-05A84F03EC4C}"/>
              </a:ext>
            </a:extLst>
          </p:cNvPr>
          <p:cNvSpPr>
            <a:spLocks xmlns:a="http://schemas.openxmlformats.org/drawingml/2006/main" noGrp="1"/>
          </p:cNvSpPr>
          <p:nvPr/>
        </p:nvSpPr>
        <p:spPr>
          <a:xfrm xmlns:a="http://schemas.openxmlformats.org/drawingml/2006/main">
            <a:off x="5086350" y="4343400"/>
            <a:ext cx="6667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8B6B0"/>
                </a:solidFill>
              </a:defRPr>
            </a:pPr>
            <a:r>
              <a:rPr sz="675" b="1">
                <a:solidFill>
                  <a:srgbClr val="18B6B0"/>
                </a:solidFill>
              </a:rPr>
              <a:t>详情 / 编辑</a:t>
            </a:r>
          </a:p>
        </p:txBody>
      </p:sp>
      <p:sp>
        <p:nvSpPr>
          <p:cNvPr id="66" name="">
            <a:extLst xmlns:a="http://schemas.openxmlformats.org/drawingml/2006/main">
              <a:ext uri="{FF2B5EF4-FFF2-40B4-BE49-F238E27FC236}">
                <a16:creationId xmlns:a16="http://schemas.microsoft.com/office/drawing/2014/main" id="{0BBE6DDB-73A0-4A82-87C9-3B725D5B501A}"/>
              </a:ext>
            </a:extLst>
          </p:cNvPr>
          <p:cNvSpPr>
            <a:spLocks xmlns:a="http://schemas.openxmlformats.org/drawingml/2006/main" noGrp="1"/>
          </p:cNvSpPr>
          <p:nvPr/>
        </p:nvSpPr>
        <p:spPr>
          <a:xfrm xmlns:a="http://schemas.openxmlformats.org/drawingml/2006/main">
            <a:off x="4476750" y="2000250"/>
            <a:ext cx="3429000" cy="3562350"/>
          </a:xfrm>
          <a:prstGeom xmlns:a="http://schemas.openxmlformats.org/drawingml/2006/main" prst="roundRect">
            <a:avLst>
              <a:gd name="adj" fmla="val 2222"/>
            </a:avLst>
          </a:prstGeom>
          <a:solidFill xmlns:a="http://schemas.openxmlformats.org/drawingml/2006/main">
            <a:srgbClr val="0C2438">
              <a:alpha val="6275"/>
            </a:srgbClr>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83B9C396-E162-4680-BAC1-53297B87AAB1}"/>
              </a:ext>
            </a:extLst>
          </p:cNvPr>
          <p:cNvSpPr>
            <a:spLocks xmlns:a="http://schemas.openxmlformats.org/drawingml/2006/main" noGrp="1"/>
          </p:cNvSpPr>
          <p:nvPr/>
        </p:nvSpPr>
        <p:spPr>
          <a:xfrm xmlns:a="http://schemas.openxmlformats.org/drawingml/2006/main">
            <a:off x="4381500" y="1905000"/>
            <a:ext cx="3429000" cy="356235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1430">
            <a:solidFill>
              <a:srgbClr val="D9E2EC"/>
            </a:solidFill>
            <a:prstDash val="solid"/>
          </a:ln>
        </p:spPr>
      </p:sp>
      <p:sp>
        <p:nvSpPr>
          <p:cNvPr id="68" name="">
            <a:extLst xmlns:a="http://schemas.openxmlformats.org/drawingml/2006/main">
              <a:ext uri="{FF2B5EF4-FFF2-40B4-BE49-F238E27FC236}">
                <a16:creationId xmlns:a16="http://schemas.microsoft.com/office/drawing/2014/main" id="{F7FECD92-448E-495A-A961-BB83466F2E36}"/>
              </a:ext>
            </a:extLst>
          </p:cNvPr>
          <p:cNvSpPr>
            <a:spLocks xmlns:a="http://schemas.openxmlformats.org/drawingml/2006/main" noGrp="1"/>
          </p:cNvSpPr>
          <p:nvPr/>
        </p:nvSpPr>
        <p:spPr>
          <a:xfrm xmlns:a="http://schemas.openxmlformats.org/drawingml/2006/main">
            <a:off x="4514850" y="2038350"/>
            <a:ext cx="3162300" cy="361950"/>
          </a:xfrm>
          <a:prstGeom xmlns:a="http://schemas.openxmlformats.org/drawingml/2006/main" prst="roundRect">
            <a:avLst>
              <a:gd name="adj" fmla="val 21053"/>
            </a:avLst>
          </a:prstGeom>
          <a:solidFill xmlns:a="http://schemas.openxmlformats.org/drawingml/2006/main">
            <a:srgbClr val="F8FAFC"/>
          </a:solidFill>
          <a:ln xmlns:a="http://schemas.openxmlformats.org/drawingml/2006/main" w="9525">
            <a:solidFill>
              <a:srgbClr val="D9E2EC"/>
            </a:solidFill>
            <a:prstDash val="solid"/>
          </a:ln>
        </p:spPr>
      </p:sp>
      <p:sp>
        <p:nvSpPr>
          <p:cNvPr id="69" name="">
            <a:extLst xmlns:a="http://schemas.openxmlformats.org/drawingml/2006/main">
              <a:ext uri="{FF2B5EF4-FFF2-40B4-BE49-F238E27FC236}">
                <a16:creationId xmlns:a16="http://schemas.microsoft.com/office/drawing/2014/main" id="{79711771-704B-4611-B655-6BC569A0C843}"/>
              </a:ext>
            </a:extLst>
          </p:cNvPr>
          <p:cNvSpPr>
            <a:spLocks xmlns:a="http://schemas.openxmlformats.org/drawingml/2006/main" noGrp="1"/>
          </p:cNvSpPr>
          <p:nvPr/>
        </p:nvSpPr>
        <p:spPr>
          <a:xfrm xmlns:a="http://schemas.openxmlformats.org/drawingml/2006/main">
            <a:off x="4648200" y="2171700"/>
            <a:ext cx="85725" cy="85725"/>
          </a:xfrm>
          <a:prstGeom xmlns:a="http://schemas.openxmlformats.org/drawingml/2006/main" prst="ellipse">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FC608C8B-A3D8-4913-B605-83B0DD39CFD5}"/>
              </a:ext>
            </a:extLst>
          </p:cNvPr>
          <p:cNvSpPr>
            <a:spLocks xmlns:a="http://schemas.openxmlformats.org/drawingml/2006/main" noGrp="1"/>
          </p:cNvSpPr>
          <p:nvPr/>
        </p:nvSpPr>
        <p:spPr>
          <a:xfrm xmlns:a="http://schemas.openxmlformats.org/drawingml/2006/main">
            <a:off x="4800600" y="2171700"/>
            <a:ext cx="85725" cy="85725"/>
          </a:xfrm>
          <a:prstGeom xmlns:a="http://schemas.openxmlformats.org/drawingml/2006/main" prst="ellipse">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9C5E8700-310F-4153-859C-72847BFEDB24}"/>
              </a:ext>
            </a:extLst>
          </p:cNvPr>
          <p:cNvSpPr>
            <a:spLocks xmlns:a="http://schemas.openxmlformats.org/drawingml/2006/main" noGrp="1"/>
          </p:cNvSpPr>
          <p:nvPr/>
        </p:nvSpPr>
        <p:spPr>
          <a:xfrm xmlns:a="http://schemas.openxmlformats.org/drawingml/2006/main">
            <a:off x="4953000" y="2171700"/>
            <a:ext cx="85725" cy="85725"/>
          </a:xfrm>
          <a:prstGeom xmlns:a="http://schemas.openxmlformats.org/drawingml/2006/main" prst="ellipse">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18D51413-AD2C-4D28-93C7-42DF9442EF9A}"/>
              </a:ext>
            </a:extLst>
          </p:cNvPr>
          <p:cNvSpPr>
            <a:spLocks xmlns:a="http://schemas.openxmlformats.org/drawingml/2006/main" noGrp="1"/>
          </p:cNvSpPr>
          <p:nvPr/>
        </p:nvSpPr>
        <p:spPr>
          <a:xfrm xmlns:a="http://schemas.openxmlformats.org/drawingml/2006/main">
            <a:off x="5219700" y="2124075"/>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8794"/>
                </a:solidFill>
              </a:defRPr>
            </a:pPr>
            <a:r>
              <a:rPr sz="900" b="1">
                <a:solidFill>
                  <a:srgbClr val="7B8794"/>
                </a:solidFill>
              </a:rPr>
              <a:t>审批与报销</a:t>
            </a:r>
          </a:p>
        </p:txBody>
      </p:sp>
      <p:sp>
        <p:nvSpPr>
          <p:cNvPr id="73" name="">
            <a:extLst xmlns:a="http://schemas.openxmlformats.org/drawingml/2006/main">
              <a:ext uri="{FF2B5EF4-FFF2-40B4-BE49-F238E27FC236}">
                <a16:creationId xmlns:a16="http://schemas.microsoft.com/office/drawing/2014/main" id="{C38BAEAA-C0A9-4C53-939C-3DB70F168E17}"/>
              </a:ext>
            </a:extLst>
          </p:cNvPr>
          <p:cNvSpPr>
            <a:spLocks xmlns:a="http://schemas.openxmlformats.org/drawingml/2006/main" noGrp="1"/>
          </p:cNvSpPr>
          <p:nvPr/>
        </p:nvSpPr>
        <p:spPr>
          <a:xfrm xmlns:a="http://schemas.openxmlformats.org/drawingml/2006/main">
            <a:off x="4572000" y="2514600"/>
            <a:ext cx="1645920" cy="2762250"/>
          </a:xfrm>
          <a:prstGeom xmlns:a="http://schemas.openxmlformats.org/drawingml/2006/main" prst="roundRect">
            <a:avLst>
              <a:gd name="adj" fmla="val 4630"/>
            </a:avLst>
          </a:prstGeom>
          <a:solidFill xmlns:a="http://schemas.openxmlformats.org/drawingml/2006/main">
            <a:srgbClr val="FFFFFF"/>
          </a:solidFill>
          <a:ln xmlns:a="http://schemas.openxmlformats.org/drawingml/2006/main" w="9525">
            <a:solidFill>
              <a:srgbClr val="D9E2EC"/>
            </a:solidFill>
            <a:prstDash val="solid"/>
          </a:ln>
        </p:spPr>
      </p:sp>
      <p:sp>
        <p:nvSpPr>
          <p:cNvPr id="74" name="">
            <a:extLst xmlns:a="http://schemas.openxmlformats.org/drawingml/2006/main">
              <a:ext uri="{FF2B5EF4-FFF2-40B4-BE49-F238E27FC236}">
                <a16:creationId xmlns:a16="http://schemas.microsoft.com/office/drawing/2014/main" id="{64043334-FC61-42C1-B68B-4FE7344E83A7}"/>
              </a:ext>
            </a:extLst>
          </p:cNvPr>
          <p:cNvSpPr>
            <a:spLocks xmlns:a="http://schemas.openxmlformats.org/drawingml/2006/main" noGrp="1"/>
          </p:cNvSpPr>
          <p:nvPr/>
        </p:nvSpPr>
        <p:spPr>
          <a:xfrm xmlns:a="http://schemas.openxmlformats.org/drawingml/2006/main">
            <a:off x="4724400" y="26479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待审批记录</a:t>
            </a:r>
          </a:p>
        </p:txBody>
      </p:sp>
      <p:sp>
        <p:nvSpPr>
          <p:cNvPr id="75" name="">
            <a:extLst xmlns:a="http://schemas.openxmlformats.org/drawingml/2006/main">
              <a:ext uri="{FF2B5EF4-FFF2-40B4-BE49-F238E27FC236}">
                <a16:creationId xmlns:a16="http://schemas.microsoft.com/office/drawing/2014/main" id="{73990051-D7CE-4E5C-8270-750ACBA7FB81}"/>
              </a:ext>
            </a:extLst>
          </p:cNvPr>
          <p:cNvSpPr>
            <a:spLocks xmlns:a="http://schemas.openxmlformats.org/drawingml/2006/main" noGrp="1"/>
          </p:cNvSpPr>
          <p:nvPr/>
        </p:nvSpPr>
        <p:spPr>
          <a:xfrm xmlns:a="http://schemas.openxmlformats.org/drawingml/2006/main">
            <a:off x="4705350" y="2933700"/>
            <a:ext cx="1379220" cy="400050"/>
          </a:xfrm>
          <a:prstGeom xmlns:a="http://schemas.openxmlformats.org/drawingml/2006/main" prst="roundRect">
            <a:avLst>
              <a:gd name="adj" fmla="val 19048"/>
            </a:avLst>
          </a:prstGeom>
          <a:solidFill xmlns:a="http://schemas.openxmlformats.org/drawingml/2006/main">
            <a:srgbClr val="F8FAFC"/>
          </a:solidFill>
          <a:ln xmlns:a="http://schemas.openxmlformats.org/drawingml/2006/main" w="9525">
            <a:solidFill>
              <a:srgbClr val="D9E2EC"/>
            </a:solidFill>
            <a:prstDash val="solid"/>
          </a:ln>
        </p:spPr>
      </p:sp>
      <p:sp>
        <p:nvSpPr>
          <p:cNvPr id="76" name="">
            <a:extLst xmlns:a="http://schemas.openxmlformats.org/drawingml/2006/main">
              <a:ext uri="{FF2B5EF4-FFF2-40B4-BE49-F238E27FC236}">
                <a16:creationId xmlns:a16="http://schemas.microsoft.com/office/drawing/2014/main" id="{31700A79-21A1-4BB0-BC1D-5E5386E5301C}"/>
              </a:ext>
            </a:extLst>
          </p:cNvPr>
          <p:cNvSpPr>
            <a:spLocks xmlns:a="http://schemas.openxmlformats.org/drawingml/2006/main" noGrp="1"/>
          </p:cNvSpPr>
          <p:nvPr/>
        </p:nvSpPr>
        <p:spPr>
          <a:xfrm xmlns:a="http://schemas.openxmlformats.org/drawingml/2006/main">
            <a:off x="4838700" y="3028950"/>
            <a:ext cx="857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243B53"/>
                </a:solidFill>
              </a:defRPr>
            </a:pPr>
            <a:r>
              <a:rPr sz="750" b="1">
                <a:solidFill>
                  <a:srgbClr val="243B53"/>
                </a:solidFill>
              </a:rPr>
              <a:t>项目流程审批</a:t>
            </a:r>
          </a:p>
        </p:txBody>
      </p:sp>
      <p:sp>
        <p:nvSpPr>
          <p:cNvPr id="77" name="">
            <a:extLst xmlns:a="http://schemas.openxmlformats.org/drawingml/2006/main">
              <a:ext uri="{FF2B5EF4-FFF2-40B4-BE49-F238E27FC236}">
                <a16:creationId xmlns:a16="http://schemas.microsoft.com/office/drawing/2014/main" id="{31DA1065-75C2-4039-9DC9-C7D26F2E518B}"/>
              </a:ext>
            </a:extLst>
          </p:cNvPr>
          <p:cNvSpPr>
            <a:spLocks xmlns:a="http://schemas.openxmlformats.org/drawingml/2006/main" noGrp="1"/>
          </p:cNvSpPr>
          <p:nvPr/>
        </p:nvSpPr>
        <p:spPr>
          <a:xfrm xmlns:a="http://schemas.openxmlformats.org/drawingml/2006/main">
            <a:off x="4838700" y="3162300"/>
            <a:ext cx="107442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7B8794"/>
                </a:solidFill>
              </a:defRPr>
            </a:pPr>
            <a:r>
              <a:rPr sz="600" b="0">
                <a:solidFill>
                  <a:srgbClr val="7B8794"/>
                </a:solidFill>
              </a:rPr>
              <a:t>待处理事项进入详情后可填写意见并执行通过/驳回</a:t>
            </a:r>
          </a:p>
        </p:txBody>
      </p:sp>
      <p:sp>
        <p:nvSpPr>
          <p:cNvPr id="78" name="">
            <a:extLst xmlns:a="http://schemas.openxmlformats.org/drawingml/2006/main">
              <a:ext uri="{FF2B5EF4-FFF2-40B4-BE49-F238E27FC236}">
                <a16:creationId xmlns:a16="http://schemas.microsoft.com/office/drawing/2014/main" id="{02866D0C-75F4-44A9-A2AB-92CC3F011E7F}"/>
              </a:ext>
            </a:extLst>
          </p:cNvPr>
          <p:cNvSpPr>
            <a:spLocks xmlns:a="http://schemas.openxmlformats.org/drawingml/2006/main" noGrp="1"/>
          </p:cNvSpPr>
          <p:nvPr/>
        </p:nvSpPr>
        <p:spPr>
          <a:xfrm xmlns:a="http://schemas.openxmlformats.org/drawingml/2006/main">
            <a:off x="5265420" y="3000375"/>
            <a:ext cx="6858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79" name="">
            <a:extLst xmlns:a="http://schemas.openxmlformats.org/drawingml/2006/main">
              <a:ext uri="{FF2B5EF4-FFF2-40B4-BE49-F238E27FC236}">
                <a16:creationId xmlns:a16="http://schemas.microsoft.com/office/drawing/2014/main" id="{1CFC2C3C-F653-49E6-8C58-DFE8DC994068}"/>
              </a:ext>
            </a:extLst>
          </p:cNvPr>
          <p:cNvSpPr>
            <a:spLocks xmlns:a="http://schemas.openxmlformats.org/drawingml/2006/main" noGrp="1"/>
          </p:cNvSpPr>
          <p:nvPr/>
        </p:nvSpPr>
        <p:spPr>
          <a:xfrm xmlns:a="http://schemas.openxmlformats.org/drawingml/2006/main">
            <a:off x="5379720" y="303847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待处理</a:t>
            </a:r>
          </a:p>
        </p:txBody>
      </p:sp>
      <p:sp>
        <p:nvSpPr>
          <p:cNvPr id="80" name="">
            <a:extLst xmlns:a="http://schemas.openxmlformats.org/drawingml/2006/main">
              <a:ext uri="{FF2B5EF4-FFF2-40B4-BE49-F238E27FC236}">
                <a16:creationId xmlns:a16="http://schemas.microsoft.com/office/drawing/2014/main" id="{BF4B909F-72BB-43A7-AE21-FFF67A12A4FB}"/>
              </a:ext>
            </a:extLst>
          </p:cNvPr>
          <p:cNvSpPr>
            <a:spLocks xmlns:a="http://schemas.openxmlformats.org/drawingml/2006/main" noGrp="1"/>
          </p:cNvSpPr>
          <p:nvPr/>
        </p:nvSpPr>
        <p:spPr>
          <a:xfrm xmlns:a="http://schemas.openxmlformats.org/drawingml/2006/main">
            <a:off x="4705350" y="3448050"/>
            <a:ext cx="1379220" cy="400050"/>
          </a:xfrm>
          <a:prstGeom xmlns:a="http://schemas.openxmlformats.org/drawingml/2006/main" prst="roundRect">
            <a:avLst>
              <a:gd name="adj" fmla="val 19048"/>
            </a:avLst>
          </a:prstGeom>
          <a:solidFill xmlns:a="http://schemas.openxmlformats.org/drawingml/2006/main">
            <a:srgbClr val="F8FAFC"/>
          </a:solidFill>
          <a:ln xmlns:a="http://schemas.openxmlformats.org/drawingml/2006/main" w="9525">
            <a:solidFill>
              <a:srgbClr val="D9E2EC"/>
            </a:solidFill>
            <a:prstDash val="solid"/>
          </a:ln>
        </p:spPr>
      </p:sp>
      <p:sp>
        <p:nvSpPr>
          <p:cNvPr id="81" name="">
            <a:extLst xmlns:a="http://schemas.openxmlformats.org/drawingml/2006/main">
              <a:ext uri="{FF2B5EF4-FFF2-40B4-BE49-F238E27FC236}">
                <a16:creationId xmlns:a16="http://schemas.microsoft.com/office/drawing/2014/main" id="{CF133325-BA21-43AF-B0B6-C2F31E1F9B11}"/>
              </a:ext>
            </a:extLst>
          </p:cNvPr>
          <p:cNvSpPr>
            <a:spLocks xmlns:a="http://schemas.openxmlformats.org/drawingml/2006/main" noGrp="1"/>
          </p:cNvSpPr>
          <p:nvPr/>
        </p:nvSpPr>
        <p:spPr>
          <a:xfrm xmlns:a="http://schemas.openxmlformats.org/drawingml/2006/main">
            <a:off x="4838700" y="3543300"/>
            <a:ext cx="857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243B53"/>
                </a:solidFill>
              </a:defRPr>
            </a:pPr>
            <a:r>
              <a:rPr sz="750" b="1">
                <a:solidFill>
                  <a:srgbClr val="243B53"/>
                </a:solidFill>
              </a:rPr>
              <a:t>申请审批</a:t>
            </a:r>
          </a:p>
        </p:txBody>
      </p:sp>
      <p:sp>
        <p:nvSpPr>
          <p:cNvPr id="82" name="">
            <a:extLst xmlns:a="http://schemas.openxmlformats.org/drawingml/2006/main">
              <a:ext uri="{FF2B5EF4-FFF2-40B4-BE49-F238E27FC236}">
                <a16:creationId xmlns:a16="http://schemas.microsoft.com/office/drawing/2014/main" id="{BA9FEF9D-3055-4526-A561-8B5D73A1CD61}"/>
              </a:ext>
            </a:extLst>
          </p:cNvPr>
          <p:cNvSpPr>
            <a:spLocks xmlns:a="http://schemas.openxmlformats.org/drawingml/2006/main" noGrp="1"/>
          </p:cNvSpPr>
          <p:nvPr/>
        </p:nvSpPr>
        <p:spPr>
          <a:xfrm xmlns:a="http://schemas.openxmlformats.org/drawingml/2006/main">
            <a:off x="4838700" y="3676650"/>
            <a:ext cx="107442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7B8794"/>
                </a:solidFill>
              </a:defRPr>
            </a:pPr>
            <a:r>
              <a:rPr sz="600" b="0">
                <a:solidFill>
                  <a:srgbClr val="7B8794"/>
                </a:solidFill>
              </a:rPr>
              <a:t>待处理事项进入详情后可填写意见并执行通过/驳回</a:t>
            </a:r>
          </a:p>
        </p:txBody>
      </p:sp>
      <p:sp>
        <p:nvSpPr>
          <p:cNvPr id="83" name="">
            <a:extLst xmlns:a="http://schemas.openxmlformats.org/drawingml/2006/main">
              <a:ext uri="{FF2B5EF4-FFF2-40B4-BE49-F238E27FC236}">
                <a16:creationId xmlns:a16="http://schemas.microsoft.com/office/drawing/2014/main" id="{09E2F4C0-7F82-47CF-8057-BA3F1394B45A}"/>
              </a:ext>
            </a:extLst>
          </p:cNvPr>
          <p:cNvSpPr>
            <a:spLocks xmlns:a="http://schemas.openxmlformats.org/drawingml/2006/main" noGrp="1"/>
          </p:cNvSpPr>
          <p:nvPr/>
        </p:nvSpPr>
        <p:spPr>
          <a:xfrm xmlns:a="http://schemas.openxmlformats.org/drawingml/2006/main">
            <a:off x="5265420" y="3514725"/>
            <a:ext cx="6858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84" name="">
            <a:extLst xmlns:a="http://schemas.openxmlformats.org/drawingml/2006/main">
              <a:ext uri="{FF2B5EF4-FFF2-40B4-BE49-F238E27FC236}">
                <a16:creationId xmlns:a16="http://schemas.microsoft.com/office/drawing/2014/main" id="{7D6F202B-AC9C-4AA2-BD57-8B231BF77AED}"/>
              </a:ext>
            </a:extLst>
          </p:cNvPr>
          <p:cNvSpPr>
            <a:spLocks xmlns:a="http://schemas.openxmlformats.org/drawingml/2006/main" noGrp="1"/>
          </p:cNvSpPr>
          <p:nvPr/>
        </p:nvSpPr>
        <p:spPr>
          <a:xfrm xmlns:a="http://schemas.openxmlformats.org/drawingml/2006/main">
            <a:off x="5379720" y="355282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待处理</a:t>
            </a:r>
          </a:p>
        </p:txBody>
      </p:sp>
      <p:sp>
        <p:nvSpPr>
          <p:cNvPr id="85" name="">
            <a:extLst xmlns:a="http://schemas.openxmlformats.org/drawingml/2006/main">
              <a:ext uri="{FF2B5EF4-FFF2-40B4-BE49-F238E27FC236}">
                <a16:creationId xmlns:a16="http://schemas.microsoft.com/office/drawing/2014/main" id="{CD46B604-1C43-476A-AD5E-82E04A01E7B0}"/>
              </a:ext>
            </a:extLst>
          </p:cNvPr>
          <p:cNvSpPr>
            <a:spLocks xmlns:a="http://schemas.openxmlformats.org/drawingml/2006/main" noGrp="1"/>
          </p:cNvSpPr>
          <p:nvPr/>
        </p:nvSpPr>
        <p:spPr>
          <a:xfrm xmlns:a="http://schemas.openxmlformats.org/drawingml/2006/main">
            <a:off x="4705350" y="3962400"/>
            <a:ext cx="1379220" cy="400050"/>
          </a:xfrm>
          <a:prstGeom xmlns:a="http://schemas.openxmlformats.org/drawingml/2006/main" prst="roundRect">
            <a:avLst>
              <a:gd name="adj" fmla="val 19048"/>
            </a:avLst>
          </a:prstGeom>
          <a:solidFill xmlns:a="http://schemas.openxmlformats.org/drawingml/2006/main">
            <a:srgbClr val="F8FAFC"/>
          </a:solidFill>
          <a:ln xmlns:a="http://schemas.openxmlformats.org/drawingml/2006/main" w="9525">
            <a:solidFill>
              <a:srgbClr val="D9E2EC"/>
            </a:solidFill>
            <a:prstDash val="solid"/>
          </a:ln>
        </p:spPr>
      </p:sp>
      <p:sp>
        <p:nvSpPr>
          <p:cNvPr id="86" name="">
            <a:extLst xmlns:a="http://schemas.openxmlformats.org/drawingml/2006/main">
              <a:ext uri="{FF2B5EF4-FFF2-40B4-BE49-F238E27FC236}">
                <a16:creationId xmlns:a16="http://schemas.microsoft.com/office/drawing/2014/main" id="{EC2781C5-E82C-4723-BEB0-AC6AF36E678B}"/>
              </a:ext>
            </a:extLst>
          </p:cNvPr>
          <p:cNvSpPr>
            <a:spLocks xmlns:a="http://schemas.openxmlformats.org/drawingml/2006/main" noGrp="1"/>
          </p:cNvSpPr>
          <p:nvPr/>
        </p:nvSpPr>
        <p:spPr>
          <a:xfrm xmlns:a="http://schemas.openxmlformats.org/drawingml/2006/main">
            <a:off x="4838700" y="4057650"/>
            <a:ext cx="857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243B53"/>
                </a:solidFill>
              </a:defRPr>
            </a:pPr>
            <a:r>
              <a:rPr sz="750" b="1">
                <a:solidFill>
                  <a:srgbClr val="243B53"/>
                </a:solidFill>
              </a:rPr>
              <a:t>报销审批</a:t>
            </a:r>
          </a:p>
        </p:txBody>
      </p:sp>
      <p:sp>
        <p:nvSpPr>
          <p:cNvPr id="87" name="">
            <a:extLst xmlns:a="http://schemas.openxmlformats.org/drawingml/2006/main">
              <a:ext uri="{FF2B5EF4-FFF2-40B4-BE49-F238E27FC236}">
                <a16:creationId xmlns:a16="http://schemas.microsoft.com/office/drawing/2014/main" id="{BA3C0BB7-CD88-43F0-B454-209EC9B32D0C}"/>
              </a:ext>
            </a:extLst>
          </p:cNvPr>
          <p:cNvSpPr>
            <a:spLocks xmlns:a="http://schemas.openxmlformats.org/drawingml/2006/main" noGrp="1"/>
          </p:cNvSpPr>
          <p:nvPr/>
        </p:nvSpPr>
        <p:spPr>
          <a:xfrm xmlns:a="http://schemas.openxmlformats.org/drawingml/2006/main">
            <a:off x="4838700" y="4191000"/>
            <a:ext cx="107442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7B8794"/>
                </a:solidFill>
              </a:defRPr>
            </a:pPr>
            <a:r>
              <a:rPr sz="600" b="0">
                <a:solidFill>
                  <a:srgbClr val="7B8794"/>
                </a:solidFill>
              </a:rPr>
              <a:t>待处理事项进入详情后可填写意见并执行通过/驳回</a:t>
            </a:r>
          </a:p>
        </p:txBody>
      </p:sp>
      <p:sp>
        <p:nvSpPr>
          <p:cNvPr id="88" name="">
            <a:extLst xmlns:a="http://schemas.openxmlformats.org/drawingml/2006/main">
              <a:ext uri="{FF2B5EF4-FFF2-40B4-BE49-F238E27FC236}">
                <a16:creationId xmlns:a16="http://schemas.microsoft.com/office/drawing/2014/main" id="{CEF7A5FD-E33F-4846-B507-C0DAA7F1C4BC}"/>
              </a:ext>
            </a:extLst>
          </p:cNvPr>
          <p:cNvSpPr>
            <a:spLocks xmlns:a="http://schemas.openxmlformats.org/drawingml/2006/main" noGrp="1"/>
          </p:cNvSpPr>
          <p:nvPr/>
        </p:nvSpPr>
        <p:spPr>
          <a:xfrm xmlns:a="http://schemas.openxmlformats.org/drawingml/2006/main">
            <a:off x="5265420" y="4029075"/>
            <a:ext cx="685800" cy="266700"/>
          </a:xfrm>
          <a:prstGeom xmlns:a="http://schemas.openxmlformats.org/drawingml/2006/main" prst="roundRect">
            <a:avLst>
              <a:gd name="adj" fmla="val 28571"/>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89" name="">
            <a:extLst xmlns:a="http://schemas.openxmlformats.org/drawingml/2006/main">
              <a:ext uri="{FF2B5EF4-FFF2-40B4-BE49-F238E27FC236}">
                <a16:creationId xmlns:a16="http://schemas.microsoft.com/office/drawing/2014/main" id="{0CA8E094-CAF7-4943-BE07-51EC71D3F0CB}"/>
              </a:ext>
            </a:extLst>
          </p:cNvPr>
          <p:cNvSpPr>
            <a:spLocks xmlns:a="http://schemas.openxmlformats.org/drawingml/2006/main" noGrp="1"/>
          </p:cNvSpPr>
          <p:nvPr/>
        </p:nvSpPr>
        <p:spPr>
          <a:xfrm xmlns:a="http://schemas.openxmlformats.org/drawingml/2006/main">
            <a:off x="5379720" y="4067175"/>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2B35E"/>
                </a:solidFill>
              </a:defRPr>
            </a:pPr>
            <a:r>
              <a:rPr sz="900" b="1">
                <a:solidFill>
                  <a:srgbClr val="F2B35E"/>
                </a:solidFill>
              </a:rPr>
              <a:t>待处理</a:t>
            </a:r>
          </a:p>
        </p:txBody>
      </p:sp>
      <p:sp>
        <p:nvSpPr>
          <p:cNvPr id="90" name="">
            <a:extLst xmlns:a="http://schemas.openxmlformats.org/drawingml/2006/main">
              <a:ext uri="{FF2B5EF4-FFF2-40B4-BE49-F238E27FC236}">
                <a16:creationId xmlns:a16="http://schemas.microsoft.com/office/drawing/2014/main" id="{98BD834A-CBC3-4729-B6C9-18367C8E0434}"/>
              </a:ext>
            </a:extLst>
          </p:cNvPr>
          <p:cNvSpPr>
            <a:spLocks xmlns:a="http://schemas.openxmlformats.org/drawingml/2006/main" noGrp="1"/>
          </p:cNvSpPr>
          <p:nvPr/>
        </p:nvSpPr>
        <p:spPr>
          <a:xfrm xmlns:a="http://schemas.openxmlformats.org/drawingml/2006/main">
            <a:off x="6339840" y="2514600"/>
            <a:ext cx="1280160" cy="2762250"/>
          </a:xfrm>
          <a:prstGeom xmlns:a="http://schemas.openxmlformats.org/drawingml/2006/main" prst="roundRect">
            <a:avLst>
              <a:gd name="adj" fmla="val 5952"/>
            </a:avLst>
          </a:prstGeom>
          <a:solidFill xmlns:a="http://schemas.openxmlformats.org/drawingml/2006/main">
            <a:srgbClr val="FFFFFF"/>
          </a:solidFill>
          <a:ln xmlns:a="http://schemas.openxmlformats.org/drawingml/2006/main" w="9525">
            <a:solidFill>
              <a:srgbClr val="D9E2EC"/>
            </a:solidFill>
            <a:prstDash val="solid"/>
          </a:ln>
        </p:spPr>
      </p:sp>
      <p:sp>
        <p:nvSpPr>
          <p:cNvPr id="91" name="">
            <a:extLst xmlns:a="http://schemas.openxmlformats.org/drawingml/2006/main">
              <a:ext uri="{FF2B5EF4-FFF2-40B4-BE49-F238E27FC236}">
                <a16:creationId xmlns:a16="http://schemas.microsoft.com/office/drawing/2014/main" id="{E2B9C89D-52D2-4603-8671-4E0CB9773D62}"/>
              </a:ext>
            </a:extLst>
          </p:cNvPr>
          <p:cNvSpPr>
            <a:spLocks xmlns:a="http://schemas.openxmlformats.org/drawingml/2006/main" noGrp="1"/>
          </p:cNvSpPr>
          <p:nvPr/>
        </p:nvSpPr>
        <p:spPr>
          <a:xfrm xmlns:a="http://schemas.openxmlformats.org/drawingml/2006/main">
            <a:off x="6492240" y="26479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审批详情</a:t>
            </a:r>
          </a:p>
        </p:txBody>
      </p:sp>
      <p:sp>
        <p:nvSpPr>
          <p:cNvPr id="92" name="">
            <a:extLst xmlns:a="http://schemas.openxmlformats.org/drawingml/2006/main">
              <a:ext uri="{FF2B5EF4-FFF2-40B4-BE49-F238E27FC236}">
                <a16:creationId xmlns:a16="http://schemas.microsoft.com/office/drawing/2014/main" id="{129EFF12-B6EB-424C-B07E-5E4530477A89}"/>
              </a:ext>
            </a:extLst>
          </p:cNvPr>
          <p:cNvSpPr>
            <a:spLocks xmlns:a="http://schemas.openxmlformats.org/drawingml/2006/main" noGrp="1"/>
          </p:cNvSpPr>
          <p:nvPr/>
        </p:nvSpPr>
        <p:spPr>
          <a:xfrm xmlns:a="http://schemas.openxmlformats.org/drawingml/2006/main">
            <a:off x="6492240" y="2914650"/>
            <a:ext cx="97536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项目名称：高校科研管理系统</a:t>
            </a:r>
          </a:p>
        </p:txBody>
      </p:sp>
      <p:sp>
        <p:nvSpPr>
          <p:cNvPr id="93" name="">
            <a:extLst xmlns:a="http://schemas.openxmlformats.org/drawingml/2006/main">
              <a:ext uri="{FF2B5EF4-FFF2-40B4-BE49-F238E27FC236}">
                <a16:creationId xmlns:a16="http://schemas.microsoft.com/office/drawing/2014/main" id="{77BE352E-F955-4571-9FE9-209DEC3B08A9}"/>
              </a:ext>
            </a:extLst>
          </p:cNvPr>
          <p:cNvSpPr>
            <a:spLocks xmlns:a="http://schemas.openxmlformats.org/drawingml/2006/main" noGrp="1"/>
          </p:cNvSpPr>
          <p:nvPr/>
        </p:nvSpPr>
        <p:spPr>
          <a:xfrm xmlns:a="http://schemas.openxmlformats.org/drawingml/2006/main">
            <a:off x="6492240" y="3105150"/>
            <a:ext cx="97536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当前节点：二级审批</a:t>
            </a:r>
          </a:p>
        </p:txBody>
      </p:sp>
      <p:sp>
        <p:nvSpPr>
          <p:cNvPr id="94" name="">
            <a:extLst xmlns:a="http://schemas.openxmlformats.org/drawingml/2006/main">
              <a:ext uri="{FF2B5EF4-FFF2-40B4-BE49-F238E27FC236}">
                <a16:creationId xmlns:a16="http://schemas.microsoft.com/office/drawing/2014/main" id="{5B948883-83C0-4770-947C-B814F7AB07FB}"/>
              </a:ext>
            </a:extLst>
          </p:cNvPr>
          <p:cNvSpPr>
            <a:spLocks xmlns:a="http://schemas.openxmlformats.org/drawingml/2006/main" noGrp="1"/>
          </p:cNvSpPr>
          <p:nvPr/>
        </p:nvSpPr>
        <p:spPr>
          <a:xfrm xmlns:a="http://schemas.openxmlformats.org/drawingml/2006/main">
            <a:off x="6492240" y="3295650"/>
            <a:ext cx="97536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附件：阶段材料 / 报销凭证</a:t>
            </a:r>
          </a:p>
        </p:txBody>
      </p:sp>
      <p:sp>
        <p:nvSpPr>
          <p:cNvPr id="95" name="">
            <a:extLst xmlns:a="http://schemas.openxmlformats.org/drawingml/2006/main">
              <a:ext uri="{FF2B5EF4-FFF2-40B4-BE49-F238E27FC236}">
                <a16:creationId xmlns:a16="http://schemas.microsoft.com/office/drawing/2014/main" id="{F63CF908-6744-4263-9807-1D885ED020F3}"/>
              </a:ext>
            </a:extLst>
          </p:cNvPr>
          <p:cNvSpPr>
            <a:spLocks xmlns:a="http://schemas.openxmlformats.org/drawingml/2006/main" noGrp="1"/>
          </p:cNvSpPr>
          <p:nvPr/>
        </p:nvSpPr>
        <p:spPr>
          <a:xfrm xmlns:a="http://schemas.openxmlformats.org/drawingml/2006/main">
            <a:off x="6492240" y="3619500"/>
            <a:ext cx="975360" cy="742950"/>
          </a:xfrm>
          <a:prstGeom xmlns:a="http://schemas.openxmlformats.org/drawingml/2006/main" prst="roundRect">
            <a:avLst>
              <a:gd name="adj" fmla="val 10256"/>
            </a:avLst>
          </a:prstGeom>
          <a:solidFill xmlns:a="http://schemas.openxmlformats.org/drawingml/2006/main">
            <a:srgbClr val="F8FAFC"/>
          </a:solidFill>
          <a:ln xmlns:a="http://schemas.openxmlformats.org/drawingml/2006/main" w="9525">
            <a:solidFill>
              <a:srgbClr val="D9E2EC"/>
            </a:solidFill>
            <a:prstDash val="solid"/>
          </a:ln>
        </p:spPr>
      </p:sp>
      <p:sp>
        <p:nvSpPr>
          <p:cNvPr id="96" name="">
            <a:extLst xmlns:a="http://schemas.openxmlformats.org/drawingml/2006/main">
              <a:ext uri="{FF2B5EF4-FFF2-40B4-BE49-F238E27FC236}">
                <a16:creationId xmlns:a16="http://schemas.microsoft.com/office/drawing/2014/main" id="{D6BCF2B6-B7AE-4C85-BA91-4D59730C5553}"/>
              </a:ext>
            </a:extLst>
          </p:cNvPr>
          <p:cNvSpPr>
            <a:spLocks xmlns:a="http://schemas.openxmlformats.org/drawingml/2006/main" noGrp="1"/>
          </p:cNvSpPr>
          <p:nvPr/>
        </p:nvSpPr>
        <p:spPr>
          <a:xfrm xmlns:a="http://schemas.openxmlformats.org/drawingml/2006/main">
            <a:off x="6606540" y="3895725"/>
            <a:ext cx="74676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7B8794"/>
                </a:solidFill>
              </a:defRPr>
            </a:pPr>
            <a:r>
              <a:rPr sz="825" b="0">
                <a:solidFill>
                  <a:srgbClr val="7B8794"/>
                </a:solidFill>
              </a:rPr>
              <a:t>审批意见输入区</a:t>
            </a:r>
          </a:p>
        </p:txBody>
      </p:sp>
      <p:sp>
        <p:nvSpPr>
          <p:cNvPr id="97" name="">
            <a:extLst xmlns:a="http://schemas.openxmlformats.org/drawingml/2006/main">
              <a:ext uri="{FF2B5EF4-FFF2-40B4-BE49-F238E27FC236}">
                <a16:creationId xmlns:a16="http://schemas.microsoft.com/office/drawing/2014/main" id="{953E9166-BD45-4F83-AB2C-32D755B563D0}"/>
              </a:ext>
            </a:extLst>
          </p:cNvPr>
          <p:cNvSpPr>
            <a:spLocks xmlns:a="http://schemas.openxmlformats.org/drawingml/2006/main" noGrp="1"/>
          </p:cNvSpPr>
          <p:nvPr/>
        </p:nvSpPr>
        <p:spPr>
          <a:xfrm xmlns:a="http://schemas.openxmlformats.org/drawingml/2006/main">
            <a:off x="6492240" y="4552950"/>
            <a:ext cx="83820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98" name="">
            <a:extLst xmlns:a="http://schemas.openxmlformats.org/drawingml/2006/main">
              <a:ext uri="{FF2B5EF4-FFF2-40B4-BE49-F238E27FC236}">
                <a16:creationId xmlns:a16="http://schemas.microsoft.com/office/drawing/2014/main" id="{CF460908-9FB7-4CB3-8954-5196A628E936}"/>
              </a:ext>
            </a:extLst>
          </p:cNvPr>
          <p:cNvSpPr>
            <a:spLocks xmlns:a="http://schemas.openxmlformats.org/drawingml/2006/main" noGrp="1"/>
          </p:cNvSpPr>
          <p:nvPr/>
        </p:nvSpPr>
        <p:spPr>
          <a:xfrm xmlns:a="http://schemas.openxmlformats.org/drawingml/2006/main">
            <a:off x="7444740" y="4552950"/>
            <a:ext cx="838200" cy="266700"/>
          </a:xfrm>
          <a:prstGeom xmlns:a="http://schemas.openxmlformats.org/drawingml/2006/main" prst="roundRect">
            <a:avLst>
              <a:gd name="adj" fmla="val 28571"/>
            </a:avLst>
          </a:prstGeom>
          <a:solidFill xmlns:a="http://schemas.openxmlformats.org/drawingml/2006/main">
            <a:srgbClr val="FFF1F1"/>
          </a:solidFill>
          <a:ln xmlns:a="http://schemas.openxmlformats.org/drawingml/2006/main" w="0">
            <a:solidFill>
              <a:srgbClr val="000000">
                <a:alpha val="0"/>
              </a:srgbClr>
            </a:solidFill>
            <a:prstDash val="solid"/>
          </a:ln>
        </p:spPr>
      </p:sp>
      <p:sp>
        <p:nvSpPr>
          <p:cNvPr id="99" name="">
            <a:extLst xmlns:a="http://schemas.openxmlformats.org/drawingml/2006/main">
              <a:ext uri="{FF2B5EF4-FFF2-40B4-BE49-F238E27FC236}">
                <a16:creationId xmlns:a16="http://schemas.microsoft.com/office/drawing/2014/main" id="{3CCDE5CA-D032-4EA3-8E3E-E0265D765227}"/>
              </a:ext>
            </a:extLst>
          </p:cNvPr>
          <p:cNvSpPr>
            <a:spLocks xmlns:a="http://schemas.openxmlformats.org/drawingml/2006/main" noGrp="1"/>
          </p:cNvSpPr>
          <p:nvPr/>
        </p:nvSpPr>
        <p:spPr>
          <a:xfrm xmlns:a="http://schemas.openxmlformats.org/drawingml/2006/main">
            <a:off x="6492240" y="4619625"/>
            <a:ext cx="838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2BB673"/>
                </a:solidFill>
              </a:defRPr>
            </a:pPr>
            <a:r>
              <a:rPr sz="750" b="1">
                <a:solidFill>
                  <a:srgbClr val="2BB673"/>
                </a:solidFill>
              </a:rPr>
              <a:t>审批通过</a:t>
            </a:r>
          </a:p>
        </p:txBody>
      </p:sp>
      <p:sp>
        <p:nvSpPr>
          <p:cNvPr id="100" name="">
            <a:extLst xmlns:a="http://schemas.openxmlformats.org/drawingml/2006/main">
              <a:ext uri="{FF2B5EF4-FFF2-40B4-BE49-F238E27FC236}">
                <a16:creationId xmlns:a16="http://schemas.microsoft.com/office/drawing/2014/main" id="{516D4FC8-E8C7-4D19-A522-2244A5DBEBC7}"/>
              </a:ext>
            </a:extLst>
          </p:cNvPr>
          <p:cNvSpPr>
            <a:spLocks xmlns:a="http://schemas.openxmlformats.org/drawingml/2006/main" noGrp="1"/>
          </p:cNvSpPr>
          <p:nvPr/>
        </p:nvSpPr>
        <p:spPr>
          <a:xfrm xmlns:a="http://schemas.openxmlformats.org/drawingml/2006/main">
            <a:off x="7444740" y="4619625"/>
            <a:ext cx="8382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D64545"/>
                </a:solidFill>
              </a:defRPr>
            </a:pPr>
            <a:r>
              <a:rPr sz="750" b="1">
                <a:solidFill>
                  <a:srgbClr val="D64545"/>
                </a:solidFill>
              </a:rPr>
              <a:t>审批驳回</a:t>
            </a:r>
          </a:p>
        </p:txBody>
      </p:sp>
      <p:sp>
        <p:nvSpPr>
          <p:cNvPr id="101" name="">
            <a:extLst xmlns:a="http://schemas.openxmlformats.org/drawingml/2006/main">
              <a:ext uri="{FF2B5EF4-FFF2-40B4-BE49-F238E27FC236}">
                <a16:creationId xmlns:a16="http://schemas.microsoft.com/office/drawing/2014/main" id="{B7CE5EE6-F62C-4F80-A76F-7DA84A1DD08F}"/>
              </a:ext>
            </a:extLst>
          </p:cNvPr>
          <p:cNvSpPr>
            <a:spLocks xmlns:a="http://schemas.openxmlformats.org/drawingml/2006/main" noGrp="1"/>
          </p:cNvSpPr>
          <p:nvPr/>
        </p:nvSpPr>
        <p:spPr>
          <a:xfrm xmlns:a="http://schemas.openxmlformats.org/drawingml/2006/main">
            <a:off x="8172450" y="2000250"/>
            <a:ext cx="3429000" cy="3562350"/>
          </a:xfrm>
          <a:prstGeom xmlns:a="http://schemas.openxmlformats.org/drawingml/2006/main" prst="roundRect">
            <a:avLst>
              <a:gd name="adj" fmla="val 2222"/>
            </a:avLst>
          </a:prstGeom>
          <a:solidFill xmlns:a="http://schemas.openxmlformats.org/drawingml/2006/main">
            <a:srgbClr val="0C2438">
              <a:alpha val="6275"/>
            </a:srgbClr>
          </a:solidFill>
          <a:ln xmlns:a="http://schemas.openxmlformats.org/drawingml/2006/main" w="0">
            <a:solidFill>
              <a:srgbClr val="000000">
                <a:alpha val="0"/>
              </a:srgbClr>
            </a:solidFill>
            <a:prstDash val="solid"/>
          </a:ln>
        </p:spPr>
      </p:sp>
      <p:sp>
        <p:nvSpPr>
          <p:cNvPr id="102" name="">
            <a:extLst xmlns:a="http://schemas.openxmlformats.org/drawingml/2006/main">
              <a:ext uri="{FF2B5EF4-FFF2-40B4-BE49-F238E27FC236}">
                <a16:creationId xmlns:a16="http://schemas.microsoft.com/office/drawing/2014/main" id="{0B98655A-71A9-4CDB-AE2A-487F1531B192}"/>
              </a:ext>
            </a:extLst>
          </p:cNvPr>
          <p:cNvSpPr>
            <a:spLocks xmlns:a="http://schemas.openxmlformats.org/drawingml/2006/main" noGrp="1"/>
          </p:cNvSpPr>
          <p:nvPr/>
        </p:nvSpPr>
        <p:spPr>
          <a:xfrm xmlns:a="http://schemas.openxmlformats.org/drawingml/2006/main">
            <a:off x="8077200" y="1905000"/>
            <a:ext cx="3429000" cy="356235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11430">
            <a:solidFill>
              <a:srgbClr val="D9E2EC"/>
            </a:solidFill>
            <a:prstDash val="solid"/>
          </a:ln>
        </p:spPr>
      </p:sp>
      <p:sp>
        <p:nvSpPr>
          <p:cNvPr id="103" name="">
            <a:extLst xmlns:a="http://schemas.openxmlformats.org/drawingml/2006/main">
              <a:ext uri="{FF2B5EF4-FFF2-40B4-BE49-F238E27FC236}">
                <a16:creationId xmlns:a16="http://schemas.microsoft.com/office/drawing/2014/main" id="{24D48C98-B341-4516-8971-3237836B0EA0}"/>
              </a:ext>
            </a:extLst>
          </p:cNvPr>
          <p:cNvSpPr>
            <a:spLocks xmlns:a="http://schemas.openxmlformats.org/drawingml/2006/main" noGrp="1"/>
          </p:cNvSpPr>
          <p:nvPr/>
        </p:nvSpPr>
        <p:spPr>
          <a:xfrm xmlns:a="http://schemas.openxmlformats.org/drawingml/2006/main">
            <a:off x="8210550" y="2038350"/>
            <a:ext cx="3162300" cy="361950"/>
          </a:xfrm>
          <a:prstGeom xmlns:a="http://schemas.openxmlformats.org/drawingml/2006/main" prst="roundRect">
            <a:avLst>
              <a:gd name="adj" fmla="val 21053"/>
            </a:avLst>
          </a:prstGeom>
          <a:solidFill xmlns:a="http://schemas.openxmlformats.org/drawingml/2006/main">
            <a:srgbClr val="F8FAFC"/>
          </a:solidFill>
          <a:ln xmlns:a="http://schemas.openxmlformats.org/drawingml/2006/main" w="9525">
            <a:solidFill>
              <a:srgbClr val="D9E2EC"/>
            </a:solidFill>
            <a:prstDash val="solid"/>
          </a:ln>
        </p:spPr>
      </p:sp>
      <p:sp>
        <p:nvSpPr>
          <p:cNvPr id="104" name="">
            <a:extLst xmlns:a="http://schemas.openxmlformats.org/drawingml/2006/main">
              <a:ext uri="{FF2B5EF4-FFF2-40B4-BE49-F238E27FC236}">
                <a16:creationId xmlns:a16="http://schemas.microsoft.com/office/drawing/2014/main" id="{95F306BD-1191-434B-915D-69DE0659D30B}"/>
              </a:ext>
            </a:extLst>
          </p:cNvPr>
          <p:cNvSpPr>
            <a:spLocks xmlns:a="http://schemas.openxmlformats.org/drawingml/2006/main" noGrp="1"/>
          </p:cNvSpPr>
          <p:nvPr/>
        </p:nvSpPr>
        <p:spPr>
          <a:xfrm xmlns:a="http://schemas.openxmlformats.org/drawingml/2006/main">
            <a:off x="8343900" y="2171700"/>
            <a:ext cx="85725" cy="85725"/>
          </a:xfrm>
          <a:prstGeom xmlns:a="http://schemas.openxmlformats.org/drawingml/2006/main" prst="ellipse">
            <a:avLst/>
          </a:prstGeom>
          <a:solidFill xmlns:a="http://schemas.openxmlformats.org/drawingml/2006/main">
            <a:srgbClr val="F1765B"/>
          </a:solidFill>
          <a:ln xmlns:a="http://schemas.openxmlformats.org/drawingml/2006/main" w="0">
            <a:solidFill>
              <a:srgbClr val="000000">
                <a:alpha val="0"/>
              </a:srgbClr>
            </a:solidFill>
            <a:prstDash val="solid"/>
          </a:ln>
        </p:spPr>
      </p:sp>
      <p:sp>
        <p:nvSpPr>
          <p:cNvPr id="105" name="">
            <a:extLst xmlns:a="http://schemas.openxmlformats.org/drawingml/2006/main">
              <a:ext uri="{FF2B5EF4-FFF2-40B4-BE49-F238E27FC236}">
                <a16:creationId xmlns:a16="http://schemas.microsoft.com/office/drawing/2014/main" id="{945E93DD-7FB2-4503-9CE6-1A54B4C16720}"/>
              </a:ext>
            </a:extLst>
          </p:cNvPr>
          <p:cNvSpPr>
            <a:spLocks xmlns:a="http://schemas.openxmlformats.org/drawingml/2006/main" noGrp="1"/>
          </p:cNvSpPr>
          <p:nvPr/>
        </p:nvSpPr>
        <p:spPr>
          <a:xfrm xmlns:a="http://schemas.openxmlformats.org/drawingml/2006/main">
            <a:off x="8496300" y="2171700"/>
            <a:ext cx="85725" cy="85725"/>
          </a:xfrm>
          <a:prstGeom xmlns:a="http://schemas.openxmlformats.org/drawingml/2006/main" prst="ellipse">
            <a:avLst/>
          </a:prstGeom>
          <a:solidFill xmlns:a="http://schemas.openxmlformats.org/drawingml/2006/main">
            <a:srgbClr val="F2B35E"/>
          </a:solidFill>
          <a:ln xmlns:a="http://schemas.openxmlformats.org/drawingml/2006/main" w="0">
            <a:solidFill>
              <a:srgbClr val="000000">
                <a:alpha val="0"/>
              </a:srgbClr>
            </a:solidFill>
            <a:prstDash val="solid"/>
          </a:ln>
        </p:spPr>
      </p:sp>
      <p:sp>
        <p:nvSpPr>
          <p:cNvPr id="106" name="">
            <a:extLst xmlns:a="http://schemas.openxmlformats.org/drawingml/2006/main">
              <a:ext uri="{FF2B5EF4-FFF2-40B4-BE49-F238E27FC236}">
                <a16:creationId xmlns:a16="http://schemas.microsoft.com/office/drawing/2014/main" id="{7B4B9A44-8818-4092-BCD1-200914954087}"/>
              </a:ext>
            </a:extLst>
          </p:cNvPr>
          <p:cNvSpPr>
            <a:spLocks xmlns:a="http://schemas.openxmlformats.org/drawingml/2006/main" noGrp="1"/>
          </p:cNvSpPr>
          <p:nvPr/>
        </p:nvSpPr>
        <p:spPr>
          <a:xfrm xmlns:a="http://schemas.openxmlformats.org/drawingml/2006/main">
            <a:off x="8648700" y="2171700"/>
            <a:ext cx="85725" cy="85725"/>
          </a:xfrm>
          <a:prstGeom xmlns:a="http://schemas.openxmlformats.org/drawingml/2006/main" prst="ellipse">
            <a:avLst/>
          </a:prstGeom>
          <a:solidFill xmlns:a="http://schemas.openxmlformats.org/drawingml/2006/main">
            <a:srgbClr val="2BB673"/>
          </a:solidFill>
          <a:ln xmlns:a="http://schemas.openxmlformats.org/drawingml/2006/main" w="0">
            <a:solidFill>
              <a:srgbClr val="000000">
                <a:alpha val="0"/>
              </a:srgbClr>
            </a:solidFill>
            <a:prstDash val="solid"/>
          </a:ln>
        </p:spPr>
      </p:sp>
      <p:sp>
        <p:nvSpPr>
          <p:cNvPr id="107" name="">
            <a:extLst xmlns:a="http://schemas.openxmlformats.org/drawingml/2006/main">
              <a:ext uri="{FF2B5EF4-FFF2-40B4-BE49-F238E27FC236}">
                <a16:creationId xmlns:a16="http://schemas.microsoft.com/office/drawing/2014/main" id="{B3493FAC-3CAD-4A45-825A-8728D1E5C624}"/>
              </a:ext>
            </a:extLst>
          </p:cNvPr>
          <p:cNvSpPr>
            <a:spLocks xmlns:a="http://schemas.openxmlformats.org/drawingml/2006/main" noGrp="1"/>
          </p:cNvSpPr>
          <p:nvPr/>
        </p:nvSpPr>
        <p:spPr>
          <a:xfrm xmlns:a="http://schemas.openxmlformats.org/drawingml/2006/main">
            <a:off x="8915400" y="2124075"/>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B8794"/>
                </a:solidFill>
              </a:defRPr>
            </a:pPr>
            <a:r>
              <a:rPr sz="900" b="1">
                <a:solidFill>
                  <a:srgbClr val="7B8794"/>
                </a:solidFill>
              </a:rPr>
              <a:t>用户与角色管理</a:t>
            </a:r>
          </a:p>
        </p:txBody>
      </p:sp>
      <p:sp>
        <p:nvSpPr>
          <p:cNvPr id="108" name="">
            <a:extLst xmlns:a="http://schemas.openxmlformats.org/drawingml/2006/main">
              <a:ext uri="{FF2B5EF4-FFF2-40B4-BE49-F238E27FC236}">
                <a16:creationId xmlns:a16="http://schemas.microsoft.com/office/drawing/2014/main" id="{B0FFABCF-BAF1-417D-BF6C-76879CAFB9AC}"/>
              </a:ext>
            </a:extLst>
          </p:cNvPr>
          <p:cNvSpPr>
            <a:spLocks xmlns:a="http://schemas.openxmlformats.org/drawingml/2006/main" noGrp="1"/>
          </p:cNvSpPr>
          <p:nvPr/>
        </p:nvSpPr>
        <p:spPr>
          <a:xfrm xmlns:a="http://schemas.openxmlformats.org/drawingml/2006/main">
            <a:off x="8267700" y="2514600"/>
            <a:ext cx="975360" cy="2762250"/>
          </a:xfrm>
          <a:prstGeom xmlns:a="http://schemas.openxmlformats.org/drawingml/2006/main" prst="roundRect">
            <a:avLst>
              <a:gd name="adj" fmla="val 7813"/>
            </a:avLst>
          </a:prstGeom>
          <a:solidFill xmlns:a="http://schemas.openxmlformats.org/drawingml/2006/main">
            <a:srgbClr val="FFFFFF"/>
          </a:solidFill>
          <a:ln xmlns:a="http://schemas.openxmlformats.org/drawingml/2006/main" w="9525">
            <a:solidFill>
              <a:srgbClr val="D9E2EC"/>
            </a:solidFill>
            <a:prstDash val="solid"/>
          </a:ln>
        </p:spPr>
      </p:sp>
      <p:sp>
        <p:nvSpPr>
          <p:cNvPr id="109" name="">
            <a:extLst xmlns:a="http://schemas.openxmlformats.org/drawingml/2006/main">
              <a:ext uri="{FF2B5EF4-FFF2-40B4-BE49-F238E27FC236}">
                <a16:creationId xmlns:a16="http://schemas.microsoft.com/office/drawing/2014/main" id="{F2ED7DDE-E2E5-4E84-96B1-BC3E7D4064C7}"/>
              </a:ext>
            </a:extLst>
          </p:cNvPr>
          <p:cNvSpPr>
            <a:spLocks xmlns:a="http://schemas.openxmlformats.org/drawingml/2006/main" noGrp="1"/>
          </p:cNvSpPr>
          <p:nvPr/>
        </p:nvSpPr>
        <p:spPr>
          <a:xfrm xmlns:a="http://schemas.openxmlformats.org/drawingml/2006/main">
            <a:off x="8401050" y="26479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部门结构</a:t>
            </a:r>
          </a:p>
        </p:txBody>
      </p:sp>
      <p:sp>
        <p:nvSpPr>
          <p:cNvPr id="110" name="">
            <a:extLst xmlns:a="http://schemas.openxmlformats.org/drawingml/2006/main">
              <a:ext uri="{FF2B5EF4-FFF2-40B4-BE49-F238E27FC236}">
                <a16:creationId xmlns:a16="http://schemas.microsoft.com/office/drawing/2014/main" id="{48B81A8A-3FC3-4C53-B7ED-62FA8190395F}"/>
              </a:ext>
            </a:extLst>
          </p:cNvPr>
          <p:cNvSpPr>
            <a:spLocks xmlns:a="http://schemas.openxmlformats.org/drawingml/2006/main" noGrp="1"/>
          </p:cNvSpPr>
          <p:nvPr/>
        </p:nvSpPr>
        <p:spPr>
          <a:xfrm xmlns:a="http://schemas.openxmlformats.org/drawingml/2006/main">
            <a:off x="8382000" y="2933700"/>
            <a:ext cx="670560" cy="228600"/>
          </a:xfrm>
          <a:prstGeom xmlns:a="http://schemas.openxmlformats.org/drawingml/2006/main" prst="roundRect">
            <a:avLst>
              <a:gd name="adj" fmla="val 33333"/>
            </a:avLst>
          </a:prstGeom>
          <a:solidFill xmlns:a="http://schemas.openxmlformats.org/drawingml/2006/main">
            <a:srgbClr val="F8FAFC"/>
          </a:solidFill>
          <a:ln xmlns:a="http://schemas.openxmlformats.org/drawingml/2006/main" w="9525">
            <a:solidFill>
              <a:srgbClr val="D9E2EC"/>
            </a:solidFill>
            <a:prstDash val="solid"/>
          </a:ln>
        </p:spPr>
      </p:sp>
      <p:sp>
        <p:nvSpPr>
          <p:cNvPr id="111" name="">
            <a:extLst xmlns:a="http://schemas.openxmlformats.org/drawingml/2006/main">
              <a:ext uri="{FF2B5EF4-FFF2-40B4-BE49-F238E27FC236}">
                <a16:creationId xmlns:a16="http://schemas.microsoft.com/office/drawing/2014/main" id="{1AD2652A-0CA9-4F33-B27C-73A6AB209593}"/>
              </a:ext>
            </a:extLst>
          </p:cNvPr>
          <p:cNvSpPr>
            <a:spLocks xmlns:a="http://schemas.openxmlformats.org/drawingml/2006/main" noGrp="1"/>
          </p:cNvSpPr>
          <p:nvPr/>
        </p:nvSpPr>
        <p:spPr>
          <a:xfrm xmlns:a="http://schemas.openxmlformats.org/drawingml/2006/main">
            <a:off x="8496300" y="2990850"/>
            <a:ext cx="48006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学校</a:t>
            </a:r>
          </a:p>
        </p:txBody>
      </p:sp>
      <p:sp>
        <p:nvSpPr>
          <p:cNvPr id="112" name="">
            <a:extLst xmlns:a="http://schemas.openxmlformats.org/drawingml/2006/main">
              <a:ext uri="{FF2B5EF4-FFF2-40B4-BE49-F238E27FC236}">
                <a16:creationId xmlns:a16="http://schemas.microsoft.com/office/drawing/2014/main" id="{F3EFC1AB-23F1-4C91-B822-32931512537B}"/>
              </a:ext>
            </a:extLst>
          </p:cNvPr>
          <p:cNvSpPr>
            <a:spLocks xmlns:a="http://schemas.openxmlformats.org/drawingml/2006/main" noGrp="1"/>
          </p:cNvSpPr>
          <p:nvPr/>
        </p:nvSpPr>
        <p:spPr>
          <a:xfrm xmlns:a="http://schemas.openxmlformats.org/drawingml/2006/main">
            <a:off x="8439150" y="3257550"/>
            <a:ext cx="670560" cy="228600"/>
          </a:xfrm>
          <a:prstGeom xmlns:a="http://schemas.openxmlformats.org/drawingml/2006/main" prst="roundRect">
            <a:avLst>
              <a:gd name="adj" fmla="val 33333"/>
            </a:avLst>
          </a:prstGeom>
          <a:solidFill xmlns:a="http://schemas.openxmlformats.org/drawingml/2006/main">
            <a:srgbClr val="E7FBF9"/>
          </a:solidFill>
          <a:ln xmlns:a="http://schemas.openxmlformats.org/drawingml/2006/main" w="9525">
            <a:solidFill>
              <a:srgbClr val="D9E2EC"/>
            </a:solidFill>
            <a:prstDash val="solid"/>
          </a:ln>
        </p:spPr>
      </p:sp>
      <p:sp>
        <p:nvSpPr>
          <p:cNvPr id="113" name="">
            <a:extLst xmlns:a="http://schemas.openxmlformats.org/drawingml/2006/main">
              <a:ext uri="{FF2B5EF4-FFF2-40B4-BE49-F238E27FC236}">
                <a16:creationId xmlns:a16="http://schemas.microsoft.com/office/drawing/2014/main" id="{3D4C4F36-CA57-48D3-8C4D-3FD41B997F11}"/>
              </a:ext>
            </a:extLst>
          </p:cNvPr>
          <p:cNvSpPr>
            <a:spLocks xmlns:a="http://schemas.openxmlformats.org/drawingml/2006/main" noGrp="1"/>
          </p:cNvSpPr>
          <p:nvPr/>
        </p:nvSpPr>
        <p:spPr>
          <a:xfrm xmlns:a="http://schemas.openxmlformats.org/drawingml/2006/main">
            <a:off x="8553450" y="3314700"/>
            <a:ext cx="48006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8B6B0"/>
                </a:solidFill>
              </a:defRPr>
            </a:pPr>
            <a:r>
              <a:rPr sz="675" b="1">
                <a:solidFill>
                  <a:srgbClr val="18B6B0"/>
                </a:solidFill>
              </a:rPr>
              <a:t>科研处</a:t>
            </a:r>
          </a:p>
        </p:txBody>
      </p:sp>
      <p:sp>
        <p:nvSpPr>
          <p:cNvPr id="114" name="">
            <a:extLst xmlns:a="http://schemas.openxmlformats.org/drawingml/2006/main">
              <a:ext uri="{FF2B5EF4-FFF2-40B4-BE49-F238E27FC236}">
                <a16:creationId xmlns:a16="http://schemas.microsoft.com/office/drawing/2014/main" id="{259B3456-7D8E-4057-921B-E886EC8E06FA}"/>
              </a:ext>
            </a:extLst>
          </p:cNvPr>
          <p:cNvSpPr>
            <a:spLocks xmlns:a="http://schemas.openxmlformats.org/drawingml/2006/main" noGrp="1"/>
          </p:cNvSpPr>
          <p:nvPr/>
        </p:nvSpPr>
        <p:spPr>
          <a:xfrm xmlns:a="http://schemas.openxmlformats.org/drawingml/2006/main">
            <a:off x="8496300" y="3581400"/>
            <a:ext cx="670560" cy="228600"/>
          </a:xfrm>
          <a:prstGeom xmlns:a="http://schemas.openxmlformats.org/drawingml/2006/main" prst="roundRect">
            <a:avLst>
              <a:gd name="adj" fmla="val 33333"/>
            </a:avLst>
          </a:prstGeom>
          <a:solidFill xmlns:a="http://schemas.openxmlformats.org/drawingml/2006/main">
            <a:srgbClr val="F8FAFC"/>
          </a:solidFill>
          <a:ln xmlns:a="http://schemas.openxmlformats.org/drawingml/2006/main" w="9525">
            <a:solidFill>
              <a:srgbClr val="D9E2EC"/>
            </a:solidFill>
            <a:prstDash val="solid"/>
          </a:ln>
        </p:spPr>
      </p:sp>
      <p:sp>
        <p:nvSpPr>
          <p:cNvPr id="115" name="">
            <a:extLst xmlns:a="http://schemas.openxmlformats.org/drawingml/2006/main">
              <a:ext uri="{FF2B5EF4-FFF2-40B4-BE49-F238E27FC236}">
                <a16:creationId xmlns:a16="http://schemas.microsoft.com/office/drawing/2014/main" id="{B8694E75-2643-4529-89B5-29EDB9927069}"/>
              </a:ext>
            </a:extLst>
          </p:cNvPr>
          <p:cNvSpPr>
            <a:spLocks xmlns:a="http://schemas.openxmlformats.org/drawingml/2006/main" noGrp="1"/>
          </p:cNvSpPr>
          <p:nvPr/>
        </p:nvSpPr>
        <p:spPr>
          <a:xfrm xmlns:a="http://schemas.openxmlformats.org/drawingml/2006/main">
            <a:off x="8610600" y="3638550"/>
            <a:ext cx="48006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二级学院</a:t>
            </a:r>
          </a:p>
        </p:txBody>
      </p:sp>
      <p:sp>
        <p:nvSpPr>
          <p:cNvPr id="116" name="">
            <a:extLst xmlns:a="http://schemas.openxmlformats.org/drawingml/2006/main">
              <a:ext uri="{FF2B5EF4-FFF2-40B4-BE49-F238E27FC236}">
                <a16:creationId xmlns:a16="http://schemas.microsoft.com/office/drawing/2014/main" id="{DCD8C1A1-CF67-41F2-9294-EA76E4C4E246}"/>
              </a:ext>
            </a:extLst>
          </p:cNvPr>
          <p:cNvSpPr>
            <a:spLocks xmlns:a="http://schemas.openxmlformats.org/drawingml/2006/main" noGrp="1"/>
          </p:cNvSpPr>
          <p:nvPr/>
        </p:nvSpPr>
        <p:spPr>
          <a:xfrm xmlns:a="http://schemas.openxmlformats.org/drawingml/2006/main">
            <a:off x="8553450" y="3905250"/>
            <a:ext cx="670560" cy="228600"/>
          </a:xfrm>
          <a:prstGeom xmlns:a="http://schemas.openxmlformats.org/drawingml/2006/main" prst="roundRect">
            <a:avLst>
              <a:gd name="adj" fmla="val 33333"/>
            </a:avLst>
          </a:prstGeom>
          <a:solidFill xmlns:a="http://schemas.openxmlformats.org/drawingml/2006/main">
            <a:srgbClr val="F8FAFC"/>
          </a:solidFill>
          <a:ln xmlns:a="http://schemas.openxmlformats.org/drawingml/2006/main" w="9525">
            <a:solidFill>
              <a:srgbClr val="D9E2EC"/>
            </a:solidFill>
            <a:prstDash val="solid"/>
          </a:ln>
        </p:spPr>
      </p:sp>
      <p:sp>
        <p:nvSpPr>
          <p:cNvPr id="117" name="">
            <a:extLst xmlns:a="http://schemas.openxmlformats.org/drawingml/2006/main">
              <a:ext uri="{FF2B5EF4-FFF2-40B4-BE49-F238E27FC236}">
                <a16:creationId xmlns:a16="http://schemas.microsoft.com/office/drawing/2014/main" id="{27E22F53-3026-4C85-AEE1-74B792BC15A9}"/>
              </a:ext>
            </a:extLst>
          </p:cNvPr>
          <p:cNvSpPr>
            <a:spLocks xmlns:a="http://schemas.openxmlformats.org/drawingml/2006/main" noGrp="1"/>
          </p:cNvSpPr>
          <p:nvPr/>
        </p:nvSpPr>
        <p:spPr>
          <a:xfrm xmlns:a="http://schemas.openxmlformats.org/drawingml/2006/main">
            <a:off x="8667750" y="3962400"/>
            <a:ext cx="48006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243B53"/>
                </a:solidFill>
              </a:defRPr>
            </a:pPr>
            <a:r>
              <a:rPr sz="675" b="0">
                <a:solidFill>
                  <a:srgbClr val="243B53"/>
                </a:solidFill>
              </a:rPr>
              <a:t>财务处</a:t>
            </a:r>
          </a:p>
        </p:txBody>
      </p:sp>
      <p:sp>
        <p:nvSpPr>
          <p:cNvPr id="118" name="">
            <a:extLst xmlns:a="http://schemas.openxmlformats.org/drawingml/2006/main">
              <a:ext uri="{FF2B5EF4-FFF2-40B4-BE49-F238E27FC236}">
                <a16:creationId xmlns:a16="http://schemas.microsoft.com/office/drawing/2014/main" id="{D94EFD20-CC7C-46FB-BB84-7C60D26238A3}"/>
              </a:ext>
            </a:extLst>
          </p:cNvPr>
          <p:cNvSpPr>
            <a:spLocks xmlns:a="http://schemas.openxmlformats.org/drawingml/2006/main" noGrp="1"/>
          </p:cNvSpPr>
          <p:nvPr/>
        </p:nvSpPr>
        <p:spPr>
          <a:xfrm xmlns:a="http://schemas.openxmlformats.org/drawingml/2006/main">
            <a:off x="9364980" y="2514600"/>
            <a:ext cx="1950720" cy="2762250"/>
          </a:xfrm>
          <a:prstGeom xmlns:a="http://schemas.openxmlformats.org/drawingml/2006/main" prst="roundRect">
            <a:avLst>
              <a:gd name="adj" fmla="val 3906"/>
            </a:avLst>
          </a:prstGeom>
          <a:solidFill xmlns:a="http://schemas.openxmlformats.org/drawingml/2006/main">
            <a:srgbClr val="FFFFFF"/>
          </a:solidFill>
          <a:ln xmlns:a="http://schemas.openxmlformats.org/drawingml/2006/main" w="9525">
            <a:solidFill>
              <a:srgbClr val="D9E2EC"/>
            </a:solidFill>
            <a:prstDash val="solid"/>
          </a:ln>
        </p:spPr>
      </p:sp>
      <p:sp>
        <p:nvSpPr>
          <p:cNvPr id="119" name="">
            <a:extLst xmlns:a="http://schemas.openxmlformats.org/drawingml/2006/main">
              <a:ext uri="{FF2B5EF4-FFF2-40B4-BE49-F238E27FC236}">
                <a16:creationId xmlns:a16="http://schemas.microsoft.com/office/drawing/2014/main" id="{FD0724FB-FF18-49D4-8947-CF3A74EAFF3C}"/>
              </a:ext>
            </a:extLst>
          </p:cNvPr>
          <p:cNvSpPr>
            <a:spLocks xmlns:a="http://schemas.openxmlformats.org/drawingml/2006/main" noGrp="1"/>
          </p:cNvSpPr>
          <p:nvPr/>
        </p:nvSpPr>
        <p:spPr>
          <a:xfrm xmlns:a="http://schemas.openxmlformats.org/drawingml/2006/main">
            <a:off x="9498330" y="2647950"/>
            <a:ext cx="76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02A43"/>
                </a:solidFill>
              </a:defRPr>
            </a:pPr>
            <a:r>
              <a:rPr sz="900" b="1">
                <a:solidFill>
                  <a:srgbClr val="102A43"/>
                </a:solidFill>
              </a:rPr>
              <a:t>用户列表</a:t>
            </a:r>
          </a:p>
        </p:txBody>
      </p:sp>
      <p:sp>
        <p:nvSpPr>
          <p:cNvPr id="120" name="">
            <a:extLst xmlns:a="http://schemas.openxmlformats.org/drawingml/2006/main">
              <a:ext uri="{FF2B5EF4-FFF2-40B4-BE49-F238E27FC236}">
                <a16:creationId xmlns:a16="http://schemas.microsoft.com/office/drawing/2014/main" id="{E4EF82E2-8518-4C55-8EFC-9EC8B28BF08D}"/>
              </a:ext>
            </a:extLst>
          </p:cNvPr>
          <p:cNvSpPr>
            <a:spLocks xmlns:a="http://schemas.openxmlformats.org/drawingml/2006/main" noGrp="1"/>
          </p:cNvSpPr>
          <p:nvPr/>
        </p:nvSpPr>
        <p:spPr>
          <a:xfrm xmlns:a="http://schemas.openxmlformats.org/drawingml/2006/main">
            <a:off x="9498330" y="2914650"/>
            <a:ext cx="1684020" cy="209550"/>
          </a:xfrm>
          <a:prstGeom xmlns:a="http://schemas.openxmlformats.org/drawingml/2006/main" prst="rect">
            <a:avLst/>
          </a:prstGeom>
          <a:solidFill xmlns:a="http://schemas.openxmlformats.org/drawingml/2006/main">
            <a:srgbClr val="F1F5F9"/>
          </a:solidFill>
          <a:ln xmlns:a="http://schemas.openxmlformats.org/drawingml/2006/main" w="0">
            <a:solidFill>
              <a:srgbClr val="000000">
                <a:alpha val="0"/>
              </a:srgbClr>
            </a:solidFill>
            <a:prstDash val="solid"/>
          </a:ln>
        </p:spPr>
      </p:sp>
      <p:sp>
        <p:nvSpPr>
          <p:cNvPr id="121" name="">
            <a:extLst xmlns:a="http://schemas.openxmlformats.org/drawingml/2006/main">
              <a:ext uri="{FF2B5EF4-FFF2-40B4-BE49-F238E27FC236}">
                <a16:creationId xmlns:a16="http://schemas.microsoft.com/office/drawing/2014/main" id="{5CD64157-6D7E-444A-B872-7BCBC967FA6E}"/>
              </a:ext>
            </a:extLst>
          </p:cNvPr>
          <p:cNvSpPr>
            <a:spLocks xmlns:a="http://schemas.openxmlformats.org/drawingml/2006/main" noGrp="1"/>
          </p:cNvSpPr>
          <p:nvPr/>
        </p:nvSpPr>
        <p:spPr>
          <a:xfrm xmlns:a="http://schemas.openxmlformats.org/drawingml/2006/main">
            <a:off x="9555480" y="297180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1">
                <a:solidFill>
                  <a:srgbClr val="7B8794"/>
                </a:solidFill>
              </a:defRPr>
            </a:pPr>
            <a:r>
              <a:rPr sz="600" b="1">
                <a:solidFill>
                  <a:srgbClr val="7B8794"/>
                </a:solidFill>
              </a:rPr>
              <a:t>账号</a:t>
            </a:r>
          </a:p>
        </p:txBody>
      </p:sp>
      <p:sp>
        <p:nvSpPr>
          <p:cNvPr id="122" name="">
            <a:extLst xmlns:a="http://schemas.openxmlformats.org/drawingml/2006/main">
              <a:ext uri="{FF2B5EF4-FFF2-40B4-BE49-F238E27FC236}">
                <a16:creationId xmlns:a16="http://schemas.microsoft.com/office/drawing/2014/main" id="{8C1BFC84-B78E-4AB7-9D24-C3BDC26BC61D}"/>
              </a:ext>
            </a:extLst>
          </p:cNvPr>
          <p:cNvSpPr>
            <a:spLocks xmlns:a="http://schemas.openxmlformats.org/drawingml/2006/main" noGrp="1"/>
          </p:cNvSpPr>
          <p:nvPr/>
        </p:nvSpPr>
        <p:spPr>
          <a:xfrm xmlns:a="http://schemas.openxmlformats.org/drawingml/2006/main">
            <a:off x="10050780" y="297180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1">
                <a:solidFill>
                  <a:srgbClr val="7B8794"/>
                </a:solidFill>
              </a:defRPr>
            </a:pPr>
            <a:r>
              <a:rPr sz="600" b="1">
                <a:solidFill>
                  <a:srgbClr val="7B8794"/>
                </a:solidFill>
              </a:rPr>
              <a:t>姓名</a:t>
            </a:r>
          </a:p>
        </p:txBody>
      </p:sp>
      <p:sp>
        <p:nvSpPr>
          <p:cNvPr id="123" name="">
            <a:extLst xmlns:a="http://schemas.openxmlformats.org/drawingml/2006/main">
              <a:ext uri="{FF2B5EF4-FFF2-40B4-BE49-F238E27FC236}">
                <a16:creationId xmlns:a16="http://schemas.microsoft.com/office/drawing/2014/main" id="{631F0511-D938-4966-B702-6CD814F753BD}"/>
              </a:ext>
            </a:extLst>
          </p:cNvPr>
          <p:cNvSpPr>
            <a:spLocks xmlns:a="http://schemas.openxmlformats.org/drawingml/2006/main" noGrp="1"/>
          </p:cNvSpPr>
          <p:nvPr/>
        </p:nvSpPr>
        <p:spPr>
          <a:xfrm xmlns:a="http://schemas.openxmlformats.org/drawingml/2006/main">
            <a:off x="10546080" y="297180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1">
                <a:solidFill>
                  <a:srgbClr val="7B8794"/>
                </a:solidFill>
              </a:defRPr>
            </a:pPr>
            <a:r>
              <a:rPr sz="600" b="1">
                <a:solidFill>
                  <a:srgbClr val="7B8794"/>
                </a:solidFill>
              </a:rPr>
              <a:t>角色</a:t>
            </a:r>
          </a:p>
        </p:txBody>
      </p:sp>
      <p:sp>
        <p:nvSpPr>
          <p:cNvPr id="124" name="">
            <a:extLst xmlns:a="http://schemas.openxmlformats.org/drawingml/2006/main">
              <a:ext uri="{FF2B5EF4-FFF2-40B4-BE49-F238E27FC236}">
                <a16:creationId xmlns:a16="http://schemas.microsoft.com/office/drawing/2014/main" id="{FF8C3790-EEAB-445F-A2EF-564140671BCC}"/>
              </a:ext>
            </a:extLst>
          </p:cNvPr>
          <p:cNvSpPr>
            <a:spLocks xmlns:a="http://schemas.openxmlformats.org/drawingml/2006/main" noGrp="1"/>
          </p:cNvSpPr>
          <p:nvPr/>
        </p:nvSpPr>
        <p:spPr>
          <a:xfrm xmlns:a="http://schemas.openxmlformats.org/drawingml/2006/main">
            <a:off x="11041380" y="297180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1">
                <a:solidFill>
                  <a:srgbClr val="7B8794"/>
                </a:solidFill>
              </a:defRPr>
            </a:pPr>
            <a:r>
              <a:rPr sz="600" b="1">
                <a:solidFill>
                  <a:srgbClr val="7B8794"/>
                </a:solidFill>
              </a:rPr>
              <a:t>部门</a:t>
            </a:r>
          </a:p>
        </p:txBody>
      </p:sp>
      <p:sp>
        <p:nvSpPr>
          <p:cNvPr id="125" name="">
            <a:extLst xmlns:a="http://schemas.openxmlformats.org/drawingml/2006/main">
              <a:ext uri="{FF2B5EF4-FFF2-40B4-BE49-F238E27FC236}">
                <a16:creationId xmlns:a16="http://schemas.microsoft.com/office/drawing/2014/main" id="{4524CF0E-481A-4096-A204-69A8605AFECE}"/>
              </a:ext>
            </a:extLst>
          </p:cNvPr>
          <p:cNvSpPr>
            <a:spLocks xmlns:a="http://schemas.openxmlformats.org/drawingml/2006/main" noGrp="1"/>
          </p:cNvSpPr>
          <p:nvPr/>
        </p:nvSpPr>
        <p:spPr>
          <a:xfrm xmlns:a="http://schemas.openxmlformats.org/drawingml/2006/main">
            <a:off x="11536680" y="297180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1">
                <a:solidFill>
                  <a:srgbClr val="7B8794"/>
                </a:solidFill>
              </a:defRPr>
            </a:pPr>
            <a:r>
              <a:rPr sz="600" b="1">
                <a:solidFill>
                  <a:srgbClr val="7B8794"/>
                </a:solidFill>
              </a:rPr>
              <a:t>状态</a:t>
            </a:r>
          </a:p>
        </p:txBody>
      </p:sp>
      <p:sp>
        <p:nvSpPr>
          <p:cNvPr id="126" name="">
            <a:extLst xmlns:a="http://schemas.openxmlformats.org/drawingml/2006/main">
              <a:ext uri="{FF2B5EF4-FFF2-40B4-BE49-F238E27FC236}">
                <a16:creationId xmlns:a16="http://schemas.microsoft.com/office/drawing/2014/main" id="{FE07FBFB-393A-40FF-9ADE-B111015BDBEE}"/>
              </a:ext>
            </a:extLst>
          </p:cNvPr>
          <p:cNvSpPr>
            <a:spLocks xmlns:a="http://schemas.openxmlformats.org/drawingml/2006/main" noGrp="1"/>
          </p:cNvSpPr>
          <p:nvPr/>
        </p:nvSpPr>
        <p:spPr>
          <a:xfrm xmlns:a="http://schemas.openxmlformats.org/drawingml/2006/main">
            <a:off x="9498330" y="3219450"/>
            <a:ext cx="1684020" cy="9525"/>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127" name="">
            <a:extLst xmlns:a="http://schemas.openxmlformats.org/drawingml/2006/main">
              <a:ext uri="{FF2B5EF4-FFF2-40B4-BE49-F238E27FC236}">
                <a16:creationId xmlns:a16="http://schemas.microsoft.com/office/drawing/2014/main" id="{9FB71DEA-C680-4725-B296-0C341ACDF5A1}"/>
              </a:ext>
            </a:extLst>
          </p:cNvPr>
          <p:cNvSpPr>
            <a:spLocks xmlns:a="http://schemas.openxmlformats.org/drawingml/2006/main" noGrp="1"/>
          </p:cNvSpPr>
          <p:nvPr/>
        </p:nvSpPr>
        <p:spPr>
          <a:xfrm xmlns:a="http://schemas.openxmlformats.org/drawingml/2006/main">
            <a:off x="9555480" y="329565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user01</a:t>
            </a:r>
          </a:p>
        </p:txBody>
      </p:sp>
      <p:sp>
        <p:nvSpPr>
          <p:cNvPr id="128" name="">
            <a:extLst xmlns:a="http://schemas.openxmlformats.org/drawingml/2006/main">
              <a:ext uri="{FF2B5EF4-FFF2-40B4-BE49-F238E27FC236}">
                <a16:creationId xmlns:a16="http://schemas.microsoft.com/office/drawing/2014/main" id="{5B8E5263-33C8-40BB-8EE1-C3666B488F74}"/>
              </a:ext>
            </a:extLst>
          </p:cNvPr>
          <p:cNvSpPr>
            <a:spLocks xmlns:a="http://schemas.openxmlformats.org/drawingml/2006/main" noGrp="1"/>
          </p:cNvSpPr>
          <p:nvPr/>
        </p:nvSpPr>
        <p:spPr>
          <a:xfrm xmlns:a="http://schemas.openxmlformats.org/drawingml/2006/main">
            <a:off x="10050780" y="329565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姓名1</a:t>
            </a:r>
          </a:p>
        </p:txBody>
      </p:sp>
      <p:sp>
        <p:nvSpPr>
          <p:cNvPr id="129" name="">
            <a:extLst xmlns:a="http://schemas.openxmlformats.org/drawingml/2006/main">
              <a:ext uri="{FF2B5EF4-FFF2-40B4-BE49-F238E27FC236}">
                <a16:creationId xmlns:a16="http://schemas.microsoft.com/office/drawing/2014/main" id="{1E1D8670-7885-496D-BE59-74864977BD77}"/>
              </a:ext>
            </a:extLst>
          </p:cNvPr>
          <p:cNvSpPr>
            <a:spLocks xmlns:a="http://schemas.openxmlformats.org/drawingml/2006/main" noGrp="1"/>
          </p:cNvSpPr>
          <p:nvPr/>
        </p:nvSpPr>
        <p:spPr>
          <a:xfrm xmlns:a="http://schemas.openxmlformats.org/drawingml/2006/main">
            <a:off x="10546080" y="3295650"/>
            <a:ext cx="590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管理员</a:t>
            </a:r>
          </a:p>
        </p:txBody>
      </p:sp>
      <p:sp>
        <p:nvSpPr>
          <p:cNvPr id="130" name="">
            <a:extLst xmlns:a="http://schemas.openxmlformats.org/drawingml/2006/main">
              <a:ext uri="{FF2B5EF4-FFF2-40B4-BE49-F238E27FC236}">
                <a16:creationId xmlns:a16="http://schemas.microsoft.com/office/drawing/2014/main" id="{9C34BE03-6606-4DD5-903B-C6E75AC66D8C}"/>
              </a:ext>
            </a:extLst>
          </p:cNvPr>
          <p:cNvSpPr>
            <a:spLocks xmlns:a="http://schemas.openxmlformats.org/drawingml/2006/main" noGrp="1"/>
          </p:cNvSpPr>
          <p:nvPr/>
        </p:nvSpPr>
        <p:spPr>
          <a:xfrm xmlns:a="http://schemas.openxmlformats.org/drawingml/2006/main">
            <a:off x="11136630" y="3295650"/>
            <a:ext cx="4762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科研处</a:t>
            </a:r>
          </a:p>
        </p:txBody>
      </p:sp>
      <p:sp>
        <p:nvSpPr>
          <p:cNvPr id="131" name="">
            <a:extLst xmlns:a="http://schemas.openxmlformats.org/drawingml/2006/main">
              <a:ext uri="{FF2B5EF4-FFF2-40B4-BE49-F238E27FC236}">
                <a16:creationId xmlns:a16="http://schemas.microsoft.com/office/drawing/2014/main" id="{9D1D4CA6-67F3-4A40-B93C-B6C57100570A}"/>
              </a:ext>
            </a:extLst>
          </p:cNvPr>
          <p:cNvSpPr>
            <a:spLocks xmlns:a="http://schemas.openxmlformats.org/drawingml/2006/main" noGrp="1"/>
          </p:cNvSpPr>
          <p:nvPr/>
        </p:nvSpPr>
        <p:spPr>
          <a:xfrm xmlns:a="http://schemas.openxmlformats.org/drawingml/2006/main">
            <a:off x="11670030" y="3248025"/>
            <a:ext cx="47625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132" name="">
            <a:extLst xmlns:a="http://schemas.openxmlformats.org/drawingml/2006/main">
              <a:ext uri="{FF2B5EF4-FFF2-40B4-BE49-F238E27FC236}">
                <a16:creationId xmlns:a16="http://schemas.microsoft.com/office/drawing/2014/main" id="{3C6C7249-2D14-4A79-930C-CBC32F81FE41}"/>
              </a:ext>
            </a:extLst>
          </p:cNvPr>
          <p:cNvSpPr>
            <a:spLocks xmlns:a="http://schemas.openxmlformats.org/drawingml/2006/main" noGrp="1"/>
          </p:cNvSpPr>
          <p:nvPr/>
        </p:nvSpPr>
        <p:spPr>
          <a:xfrm xmlns:a="http://schemas.openxmlformats.org/drawingml/2006/main">
            <a:off x="11784330" y="32861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正常</a:t>
            </a:r>
          </a:p>
        </p:txBody>
      </p:sp>
      <p:sp>
        <p:nvSpPr>
          <p:cNvPr id="133" name="">
            <a:extLst xmlns:a="http://schemas.openxmlformats.org/drawingml/2006/main">
              <a:ext uri="{FF2B5EF4-FFF2-40B4-BE49-F238E27FC236}">
                <a16:creationId xmlns:a16="http://schemas.microsoft.com/office/drawing/2014/main" id="{7526623B-B36B-490C-BB20-C9381FED9E7E}"/>
              </a:ext>
            </a:extLst>
          </p:cNvPr>
          <p:cNvSpPr>
            <a:spLocks xmlns:a="http://schemas.openxmlformats.org/drawingml/2006/main" noGrp="1"/>
          </p:cNvSpPr>
          <p:nvPr/>
        </p:nvSpPr>
        <p:spPr>
          <a:xfrm xmlns:a="http://schemas.openxmlformats.org/drawingml/2006/main">
            <a:off x="9498330" y="3524250"/>
            <a:ext cx="1684020" cy="9525"/>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134" name="">
            <a:extLst xmlns:a="http://schemas.openxmlformats.org/drawingml/2006/main">
              <a:ext uri="{FF2B5EF4-FFF2-40B4-BE49-F238E27FC236}">
                <a16:creationId xmlns:a16="http://schemas.microsoft.com/office/drawing/2014/main" id="{0D3923AC-0604-4D13-ADD3-78E49DF3EB4C}"/>
              </a:ext>
            </a:extLst>
          </p:cNvPr>
          <p:cNvSpPr>
            <a:spLocks xmlns:a="http://schemas.openxmlformats.org/drawingml/2006/main" noGrp="1"/>
          </p:cNvSpPr>
          <p:nvPr/>
        </p:nvSpPr>
        <p:spPr>
          <a:xfrm xmlns:a="http://schemas.openxmlformats.org/drawingml/2006/main">
            <a:off x="9555480" y="360045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user02</a:t>
            </a:r>
          </a:p>
        </p:txBody>
      </p:sp>
      <p:sp>
        <p:nvSpPr>
          <p:cNvPr id="135" name="">
            <a:extLst xmlns:a="http://schemas.openxmlformats.org/drawingml/2006/main">
              <a:ext uri="{FF2B5EF4-FFF2-40B4-BE49-F238E27FC236}">
                <a16:creationId xmlns:a16="http://schemas.microsoft.com/office/drawing/2014/main" id="{075577B9-EBAD-4C79-A979-4A08287301B0}"/>
              </a:ext>
            </a:extLst>
          </p:cNvPr>
          <p:cNvSpPr>
            <a:spLocks xmlns:a="http://schemas.openxmlformats.org/drawingml/2006/main" noGrp="1"/>
          </p:cNvSpPr>
          <p:nvPr/>
        </p:nvSpPr>
        <p:spPr>
          <a:xfrm xmlns:a="http://schemas.openxmlformats.org/drawingml/2006/main">
            <a:off x="10050780" y="360045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姓名2</a:t>
            </a:r>
          </a:p>
        </p:txBody>
      </p:sp>
      <p:sp>
        <p:nvSpPr>
          <p:cNvPr id="136" name="">
            <a:extLst xmlns:a="http://schemas.openxmlformats.org/drawingml/2006/main">
              <a:ext uri="{FF2B5EF4-FFF2-40B4-BE49-F238E27FC236}">
                <a16:creationId xmlns:a16="http://schemas.microsoft.com/office/drawing/2014/main" id="{4386331A-3A30-484D-9C5C-C2372943091B}"/>
              </a:ext>
            </a:extLst>
          </p:cNvPr>
          <p:cNvSpPr>
            <a:spLocks xmlns:a="http://schemas.openxmlformats.org/drawingml/2006/main" noGrp="1"/>
          </p:cNvSpPr>
          <p:nvPr/>
        </p:nvSpPr>
        <p:spPr>
          <a:xfrm xmlns:a="http://schemas.openxmlformats.org/drawingml/2006/main">
            <a:off x="10546080" y="3600450"/>
            <a:ext cx="590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教师</a:t>
            </a:r>
          </a:p>
        </p:txBody>
      </p:sp>
      <p:sp>
        <p:nvSpPr>
          <p:cNvPr id="137" name="">
            <a:extLst xmlns:a="http://schemas.openxmlformats.org/drawingml/2006/main">
              <a:ext uri="{FF2B5EF4-FFF2-40B4-BE49-F238E27FC236}">
                <a16:creationId xmlns:a16="http://schemas.microsoft.com/office/drawing/2014/main" id="{A13FCC6D-27BF-4218-BD89-7F1A9A7156DC}"/>
              </a:ext>
            </a:extLst>
          </p:cNvPr>
          <p:cNvSpPr>
            <a:spLocks xmlns:a="http://schemas.openxmlformats.org/drawingml/2006/main" noGrp="1"/>
          </p:cNvSpPr>
          <p:nvPr/>
        </p:nvSpPr>
        <p:spPr>
          <a:xfrm xmlns:a="http://schemas.openxmlformats.org/drawingml/2006/main">
            <a:off x="11136630" y="3600450"/>
            <a:ext cx="4762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科研处</a:t>
            </a:r>
          </a:p>
        </p:txBody>
      </p:sp>
      <p:sp>
        <p:nvSpPr>
          <p:cNvPr id="138" name="">
            <a:extLst xmlns:a="http://schemas.openxmlformats.org/drawingml/2006/main">
              <a:ext uri="{FF2B5EF4-FFF2-40B4-BE49-F238E27FC236}">
                <a16:creationId xmlns:a16="http://schemas.microsoft.com/office/drawing/2014/main" id="{E9E9BE74-E37E-46CE-AA0A-4E57C88A79B7}"/>
              </a:ext>
            </a:extLst>
          </p:cNvPr>
          <p:cNvSpPr>
            <a:spLocks xmlns:a="http://schemas.openxmlformats.org/drawingml/2006/main" noGrp="1"/>
          </p:cNvSpPr>
          <p:nvPr/>
        </p:nvSpPr>
        <p:spPr>
          <a:xfrm xmlns:a="http://schemas.openxmlformats.org/drawingml/2006/main">
            <a:off x="11670030" y="3552825"/>
            <a:ext cx="47625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139" name="">
            <a:extLst xmlns:a="http://schemas.openxmlformats.org/drawingml/2006/main">
              <a:ext uri="{FF2B5EF4-FFF2-40B4-BE49-F238E27FC236}">
                <a16:creationId xmlns:a16="http://schemas.microsoft.com/office/drawing/2014/main" id="{8F48BC81-F729-4BC3-9482-E880A7BFAD8C}"/>
              </a:ext>
            </a:extLst>
          </p:cNvPr>
          <p:cNvSpPr>
            <a:spLocks xmlns:a="http://schemas.openxmlformats.org/drawingml/2006/main" noGrp="1"/>
          </p:cNvSpPr>
          <p:nvPr/>
        </p:nvSpPr>
        <p:spPr>
          <a:xfrm xmlns:a="http://schemas.openxmlformats.org/drawingml/2006/main">
            <a:off x="11784330" y="35909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正常</a:t>
            </a:r>
          </a:p>
        </p:txBody>
      </p:sp>
      <p:sp>
        <p:nvSpPr>
          <p:cNvPr id="140" name="">
            <a:extLst xmlns:a="http://schemas.openxmlformats.org/drawingml/2006/main">
              <a:ext uri="{FF2B5EF4-FFF2-40B4-BE49-F238E27FC236}">
                <a16:creationId xmlns:a16="http://schemas.microsoft.com/office/drawing/2014/main" id="{B326E31F-B87C-4348-87BD-57D3E47B1D34}"/>
              </a:ext>
            </a:extLst>
          </p:cNvPr>
          <p:cNvSpPr>
            <a:spLocks xmlns:a="http://schemas.openxmlformats.org/drawingml/2006/main" noGrp="1"/>
          </p:cNvSpPr>
          <p:nvPr/>
        </p:nvSpPr>
        <p:spPr>
          <a:xfrm xmlns:a="http://schemas.openxmlformats.org/drawingml/2006/main">
            <a:off x="9498330" y="3829050"/>
            <a:ext cx="1684020" cy="9525"/>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141" name="">
            <a:extLst xmlns:a="http://schemas.openxmlformats.org/drawingml/2006/main">
              <a:ext uri="{FF2B5EF4-FFF2-40B4-BE49-F238E27FC236}">
                <a16:creationId xmlns:a16="http://schemas.microsoft.com/office/drawing/2014/main" id="{CC7DFF0E-8ADB-4EAA-A975-D15EAC1FD97C}"/>
              </a:ext>
            </a:extLst>
          </p:cNvPr>
          <p:cNvSpPr>
            <a:spLocks xmlns:a="http://schemas.openxmlformats.org/drawingml/2006/main" noGrp="1"/>
          </p:cNvSpPr>
          <p:nvPr/>
        </p:nvSpPr>
        <p:spPr>
          <a:xfrm xmlns:a="http://schemas.openxmlformats.org/drawingml/2006/main">
            <a:off x="9555480" y="390525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user03</a:t>
            </a:r>
          </a:p>
        </p:txBody>
      </p:sp>
      <p:sp>
        <p:nvSpPr>
          <p:cNvPr id="142" name="">
            <a:extLst xmlns:a="http://schemas.openxmlformats.org/drawingml/2006/main">
              <a:ext uri="{FF2B5EF4-FFF2-40B4-BE49-F238E27FC236}">
                <a16:creationId xmlns:a16="http://schemas.microsoft.com/office/drawing/2014/main" id="{43D5839D-65A9-4A23-9F26-D4F805739139}"/>
              </a:ext>
            </a:extLst>
          </p:cNvPr>
          <p:cNvSpPr>
            <a:spLocks xmlns:a="http://schemas.openxmlformats.org/drawingml/2006/main" noGrp="1"/>
          </p:cNvSpPr>
          <p:nvPr/>
        </p:nvSpPr>
        <p:spPr>
          <a:xfrm xmlns:a="http://schemas.openxmlformats.org/drawingml/2006/main">
            <a:off x="10050780" y="3905250"/>
            <a:ext cx="3810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姓名3</a:t>
            </a:r>
          </a:p>
        </p:txBody>
      </p:sp>
      <p:sp>
        <p:nvSpPr>
          <p:cNvPr id="143" name="">
            <a:extLst xmlns:a="http://schemas.openxmlformats.org/drawingml/2006/main">
              <a:ext uri="{FF2B5EF4-FFF2-40B4-BE49-F238E27FC236}">
                <a16:creationId xmlns:a16="http://schemas.microsoft.com/office/drawing/2014/main" id="{E1CAB351-1E54-4C62-9F4B-6FD0EFD4AC0B}"/>
              </a:ext>
            </a:extLst>
          </p:cNvPr>
          <p:cNvSpPr>
            <a:spLocks xmlns:a="http://schemas.openxmlformats.org/drawingml/2006/main" noGrp="1"/>
          </p:cNvSpPr>
          <p:nvPr/>
        </p:nvSpPr>
        <p:spPr>
          <a:xfrm xmlns:a="http://schemas.openxmlformats.org/drawingml/2006/main">
            <a:off x="10546080" y="3905250"/>
            <a:ext cx="590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财务管理员</a:t>
            </a:r>
          </a:p>
        </p:txBody>
      </p:sp>
      <p:sp>
        <p:nvSpPr>
          <p:cNvPr id="144" name="">
            <a:extLst xmlns:a="http://schemas.openxmlformats.org/drawingml/2006/main">
              <a:ext uri="{FF2B5EF4-FFF2-40B4-BE49-F238E27FC236}">
                <a16:creationId xmlns:a16="http://schemas.microsoft.com/office/drawing/2014/main" id="{85687948-6356-44B5-A1C3-8DD944F62740}"/>
              </a:ext>
            </a:extLst>
          </p:cNvPr>
          <p:cNvSpPr>
            <a:spLocks xmlns:a="http://schemas.openxmlformats.org/drawingml/2006/main" noGrp="1"/>
          </p:cNvSpPr>
          <p:nvPr/>
        </p:nvSpPr>
        <p:spPr>
          <a:xfrm xmlns:a="http://schemas.openxmlformats.org/drawingml/2006/main">
            <a:off x="11136630" y="3905250"/>
            <a:ext cx="4762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243B53"/>
                </a:solidFill>
              </a:defRPr>
            </a:pPr>
            <a:r>
              <a:rPr sz="600" b="0">
                <a:solidFill>
                  <a:srgbClr val="243B53"/>
                </a:solidFill>
              </a:rPr>
              <a:t>科研处</a:t>
            </a:r>
          </a:p>
        </p:txBody>
      </p:sp>
      <p:sp>
        <p:nvSpPr>
          <p:cNvPr id="145" name="">
            <a:extLst xmlns:a="http://schemas.openxmlformats.org/drawingml/2006/main">
              <a:ext uri="{FF2B5EF4-FFF2-40B4-BE49-F238E27FC236}">
                <a16:creationId xmlns:a16="http://schemas.microsoft.com/office/drawing/2014/main" id="{7C82D499-7718-47AF-BEA3-96C7903C6C01}"/>
              </a:ext>
            </a:extLst>
          </p:cNvPr>
          <p:cNvSpPr>
            <a:spLocks xmlns:a="http://schemas.openxmlformats.org/drawingml/2006/main" noGrp="1"/>
          </p:cNvSpPr>
          <p:nvPr/>
        </p:nvSpPr>
        <p:spPr>
          <a:xfrm xmlns:a="http://schemas.openxmlformats.org/drawingml/2006/main">
            <a:off x="11670030" y="3857625"/>
            <a:ext cx="476250" cy="266700"/>
          </a:xfrm>
          <a:prstGeom xmlns:a="http://schemas.openxmlformats.org/drawingml/2006/main" prst="roundRect">
            <a:avLst>
              <a:gd name="adj" fmla="val 28571"/>
            </a:avLst>
          </a:prstGeom>
          <a:solidFill xmlns:a="http://schemas.openxmlformats.org/drawingml/2006/main">
            <a:srgbClr val="EAFBF4"/>
          </a:solidFill>
          <a:ln xmlns:a="http://schemas.openxmlformats.org/drawingml/2006/main" w="0">
            <a:solidFill>
              <a:srgbClr val="000000">
                <a:alpha val="0"/>
              </a:srgbClr>
            </a:solidFill>
            <a:prstDash val="solid"/>
          </a:ln>
        </p:spPr>
      </p:sp>
      <p:sp>
        <p:nvSpPr>
          <p:cNvPr id="146" name="">
            <a:extLst xmlns:a="http://schemas.openxmlformats.org/drawingml/2006/main">
              <a:ext uri="{FF2B5EF4-FFF2-40B4-BE49-F238E27FC236}">
                <a16:creationId xmlns:a16="http://schemas.microsoft.com/office/drawing/2014/main" id="{41276722-E394-4573-B948-E544772A2DB6}"/>
              </a:ext>
            </a:extLst>
          </p:cNvPr>
          <p:cNvSpPr>
            <a:spLocks xmlns:a="http://schemas.openxmlformats.org/drawingml/2006/main" noGrp="1"/>
          </p:cNvSpPr>
          <p:nvPr/>
        </p:nvSpPr>
        <p:spPr>
          <a:xfrm xmlns:a="http://schemas.openxmlformats.org/drawingml/2006/main">
            <a:off x="11784330" y="38957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BB673"/>
                </a:solidFill>
              </a:defRPr>
            </a:pPr>
            <a:r>
              <a:rPr sz="900" b="1">
                <a:solidFill>
                  <a:srgbClr val="2BB673"/>
                </a:solidFill>
              </a:rPr>
              <a:t>正常</a:t>
            </a:r>
          </a:p>
        </p:txBody>
      </p:sp>
      <p:sp>
        <p:nvSpPr>
          <p:cNvPr id="147" name="">
            <a:extLst xmlns:a="http://schemas.openxmlformats.org/drawingml/2006/main">
              <a:ext uri="{FF2B5EF4-FFF2-40B4-BE49-F238E27FC236}">
                <a16:creationId xmlns:a16="http://schemas.microsoft.com/office/drawing/2014/main" id="{C7B3D966-5B97-4E0B-8C5A-73F6580F12EA}"/>
              </a:ext>
            </a:extLst>
          </p:cNvPr>
          <p:cNvSpPr>
            <a:spLocks xmlns:a="http://schemas.openxmlformats.org/drawingml/2006/main" noGrp="1"/>
          </p:cNvSpPr>
          <p:nvPr/>
        </p:nvSpPr>
        <p:spPr>
          <a:xfrm xmlns:a="http://schemas.openxmlformats.org/drawingml/2006/main">
            <a:off x="1866900" y="554355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102A43"/>
                </a:solidFill>
              </a:defRPr>
            </a:pPr>
            <a:r>
              <a:rPr sz="1125" b="1">
                <a:solidFill>
                  <a:srgbClr val="102A43"/>
                </a:solidFill>
              </a:rPr>
              <a:t>项目页面</a:t>
            </a:r>
          </a:p>
        </p:txBody>
      </p:sp>
      <p:sp>
        <p:nvSpPr>
          <p:cNvPr id="148" name="">
            <a:extLst xmlns:a="http://schemas.openxmlformats.org/drawingml/2006/main">
              <a:ext uri="{FF2B5EF4-FFF2-40B4-BE49-F238E27FC236}">
                <a16:creationId xmlns:a16="http://schemas.microsoft.com/office/drawing/2014/main" id="{8BB7A17F-31F3-49C6-AA54-FDDCFBDA2D54}"/>
              </a:ext>
            </a:extLst>
          </p:cNvPr>
          <p:cNvSpPr>
            <a:spLocks xmlns:a="http://schemas.openxmlformats.org/drawingml/2006/main" noGrp="1"/>
          </p:cNvSpPr>
          <p:nvPr/>
        </p:nvSpPr>
        <p:spPr>
          <a:xfrm xmlns:a="http://schemas.openxmlformats.org/drawingml/2006/main">
            <a:off x="5562600" y="554355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18B6B0"/>
                </a:solidFill>
              </a:defRPr>
            </a:pPr>
            <a:r>
              <a:rPr sz="1125" b="1">
                <a:solidFill>
                  <a:srgbClr val="18B6B0"/>
                </a:solidFill>
              </a:rPr>
              <a:t>审批页面</a:t>
            </a:r>
          </a:p>
        </p:txBody>
      </p:sp>
      <p:sp>
        <p:nvSpPr>
          <p:cNvPr id="149" name="">
            <a:extLst xmlns:a="http://schemas.openxmlformats.org/drawingml/2006/main">
              <a:ext uri="{FF2B5EF4-FFF2-40B4-BE49-F238E27FC236}">
                <a16:creationId xmlns:a16="http://schemas.microsoft.com/office/drawing/2014/main" id="{15B4021F-EC32-4F14-BB73-116B6D819D6F}"/>
              </a:ext>
            </a:extLst>
          </p:cNvPr>
          <p:cNvSpPr>
            <a:spLocks xmlns:a="http://schemas.openxmlformats.org/drawingml/2006/main" noGrp="1"/>
          </p:cNvSpPr>
          <p:nvPr/>
        </p:nvSpPr>
        <p:spPr>
          <a:xfrm xmlns:a="http://schemas.openxmlformats.org/drawingml/2006/main">
            <a:off x="9258300" y="554355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102A43"/>
                </a:solidFill>
              </a:defRPr>
            </a:pPr>
            <a:r>
              <a:rPr sz="1125" b="1">
                <a:solidFill>
                  <a:srgbClr val="102A43"/>
                </a:solidFill>
              </a:rPr>
              <a:t>后台管理</a:t>
            </a:r>
          </a:p>
        </p:txBody>
      </p:sp>
    </p:spTree>
    <p:extLst>
      <p:ext uri="{BB962C8B-B14F-4D97-AF65-F5344CB8AC3E}">
        <p14:creationId xmlns:p14="http://schemas.microsoft.com/office/powerpoint/2010/main" val="1426715330"/>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B8236CE-5EC8-488E-93A5-5505EF21146E}"/>
              </a:ext>
            </a:extLst>
          </p:cNvPr>
          <p:cNvSpPr>
            <a:spLocks xmlns:a="http://schemas.openxmlformats.org/drawingml/2006/main" noGrp="1"/>
          </p:cNvSpPr>
          <p:nvPr/>
        </p:nvSpPr>
        <p:spPr>
          <a:xfrm xmlns:a="http://schemas.openxmlformats.org/drawingml/2006/main">
            <a:off x="9696450" y="-571500"/>
            <a:ext cx="3048000" cy="2095500"/>
          </a:xfrm>
          <a:prstGeom xmlns:a="http://schemas.openxmlformats.org/drawingml/2006/main" prst="ellipse">
            <a:avLst/>
          </a:prstGeom>
          <a:solidFill xmlns:a="http://schemas.openxmlformats.org/drawingml/2006/main">
            <a:srgbClr val="18B6B0">
              <a:alpha val="9412"/>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5DB9388-F856-4BD8-8A01-9DF35E99CEC5}"/>
              </a:ext>
            </a:extLst>
          </p:cNvPr>
          <p:cNvSpPr>
            <a:spLocks xmlns:a="http://schemas.openxmlformats.org/drawingml/2006/main" noGrp="1"/>
          </p:cNvSpPr>
          <p:nvPr/>
        </p:nvSpPr>
        <p:spPr>
          <a:xfrm xmlns:a="http://schemas.openxmlformats.org/drawingml/2006/main">
            <a:off x="-666750" y="4953000"/>
            <a:ext cx="2476500" cy="1714500"/>
          </a:xfrm>
          <a:prstGeom xmlns:a="http://schemas.openxmlformats.org/drawingml/2006/main" prst="ellipse">
            <a:avLst/>
          </a:prstGeom>
          <a:solidFill xmlns:a="http://schemas.openxmlformats.org/drawingml/2006/main">
            <a:srgbClr val="F2B35E">
              <a:alpha val="7059"/>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7943E4C-57A0-433A-8ED5-2E976DB72219}"/>
              </a:ext>
            </a:extLst>
          </p:cNvPr>
          <p:cNvSpPr>
            <a:spLocks xmlns:a="http://schemas.openxmlformats.org/drawingml/2006/main" noGrp="1"/>
          </p:cNvSpPr>
          <p:nvPr/>
        </p:nvSpPr>
        <p:spPr>
          <a:xfrm xmlns:a="http://schemas.openxmlformats.org/drawingml/2006/main">
            <a:off x="685800" y="323850"/>
            <a:ext cx="2286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8B6B0"/>
                </a:solidFill>
              </a:defRPr>
            </a:pPr>
            <a:r>
              <a:rPr sz="900" b="1">
                <a:solidFill>
                  <a:srgbClr val="18B6B0"/>
                </a:solidFill>
              </a:rPr>
              <a:t>TESTING</a:t>
            </a:r>
          </a:p>
        </p:txBody>
      </p:sp>
      <p:sp>
        <p:nvSpPr>
          <p:cNvPr id="5" name="">
            <a:extLst xmlns:a="http://schemas.openxmlformats.org/drawingml/2006/main">
              <a:ext uri="{FF2B5EF4-FFF2-40B4-BE49-F238E27FC236}">
                <a16:creationId xmlns:a16="http://schemas.microsoft.com/office/drawing/2014/main" id="{02466E49-22FB-45FA-9F53-681615D8A96A}"/>
              </a:ext>
            </a:extLst>
          </p:cNvPr>
          <p:cNvSpPr>
            <a:spLocks xmlns:a="http://schemas.openxmlformats.org/drawingml/2006/main" noGrp="1"/>
          </p:cNvSpPr>
          <p:nvPr/>
        </p:nvSpPr>
        <p:spPr>
          <a:xfrm xmlns:a="http://schemas.openxmlformats.org/drawingml/2006/main">
            <a:off x="11049000" y="285750"/>
            <a:ext cx="495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7B8794"/>
                </a:solidFill>
              </a:defRPr>
            </a:pPr>
            <a:r>
              <a:rPr sz="900" b="1">
                <a:solidFill>
                  <a:srgbClr val="7B8794"/>
                </a:solidFill>
              </a:rPr>
              <a:t>15</a:t>
            </a:r>
          </a:p>
        </p:txBody>
      </p:sp>
      <p:sp>
        <p:nvSpPr>
          <p:cNvPr id="6" name="">
            <a:extLst xmlns:a="http://schemas.openxmlformats.org/drawingml/2006/main">
              <a:ext uri="{FF2B5EF4-FFF2-40B4-BE49-F238E27FC236}">
                <a16:creationId xmlns:a16="http://schemas.microsoft.com/office/drawing/2014/main" id="{88F6F476-6998-4C25-84C9-E00D87293144}"/>
              </a:ext>
            </a:extLst>
          </p:cNvPr>
          <p:cNvSpPr>
            <a:spLocks xmlns:a="http://schemas.openxmlformats.org/drawingml/2006/main" noGrp="1"/>
          </p:cNvSpPr>
          <p:nvPr/>
        </p:nvSpPr>
        <p:spPr>
          <a:xfrm xmlns:a="http://schemas.openxmlformats.org/drawingml/2006/main">
            <a:off x="685800" y="59055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02A43"/>
                </a:solidFill>
              </a:defRPr>
            </a:pPr>
            <a:r>
              <a:rPr sz="2175" b="1">
                <a:solidFill>
                  <a:srgbClr val="102A43"/>
                </a:solidFill>
              </a:rPr>
              <a:t>系统测试与实现效果</a:t>
            </a:r>
          </a:p>
        </p:txBody>
      </p:sp>
      <p:sp>
        <p:nvSpPr>
          <p:cNvPr id="7" name="">
            <a:extLst xmlns:a="http://schemas.openxmlformats.org/drawingml/2006/main">
              <a:ext uri="{FF2B5EF4-FFF2-40B4-BE49-F238E27FC236}">
                <a16:creationId xmlns:a16="http://schemas.microsoft.com/office/drawing/2014/main" id="{245B451F-5163-4B6C-A85B-1DFDF1E2DD8F}"/>
              </a:ext>
            </a:extLst>
          </p:cNvPr>
          <p:cNvSpPr>
            <a:spLocks xmlns:a="http://schemas.openxmlformats.org/drawingml/2006/main" noGrp="1"/>
          </p:cNvSpPr>
          <p:nvPr/>
        </p:nvSpPr>
        <p:spPr>
          <a:xfrm xmlns:a="http://schemas.openxmlformats.org/drawingml/2006/main">
            <a:off x="685800" y="990600"/>
            <a:ext cx="942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86581"/>
                </a:solidFill>
              </a:defRPr>
            </a:pPr>
            <a:r>
              <a:rPr sz="975" b="0">
                <a:solidFill>
                  <a:srgbClr val="486581"/>
                </a:solidFill>
              </a:rPr>
              <a:t>以功能验证为主，结合权限校验、接口联调与异常处理，确认系统具备答辩展示与后续扩展基础。</a:t>
            </a:r>
          </a:p>
        </p:txBody>
      </p:sp>
      <p:sp>
        <p:nvSpPr>
          <p:cNvPr id="8" name="">
            <a:extLst xmlns:a="http://schemas.openxmlformats.org/drawingml/2006/main">
              <a:ext uri="{FF2B5EF4-FFF2-40B4-BE49-F238E27FC236}">
                <a16:creationId xmlns:a16="http://schemas.microsoft.com/office/drawing/2014/main" id="{42733365-D328-404B-BF83-CFF0D5938F44}"/>
              </a:ext>
            </a:extLst>
          </p:cNvPr>
          <p:cNvSpPr>
            <a:spLocks xmlns:a="http://schemas.openxmlformats.org/drawingml/2006/main" noGrp="1"/>
          </p:cNvSpPr>
          <p:nvPr/>
        </p:nvSpPr>
        <p:spPr>
          <a:xfrm xmlns:a="http://schemas.openxmlformats.org/drawingml/2006/main">
            <a:off x="685800" y="1390650"/>
            <a:ext cx="10820400" cy="19050"/>
          </a:xfrm>
          <a:prstGeom xmlns:a="http://schemas.openxmlformats.org/drawingml/2006/main" prst="rect">
            <a:avLst/>
          </a:prstGeom>
          <a:solidFill xmlns:a="http://schemas.openxmlformats.org/drawingml/2006/main">
            <a:srgbClr val="D9E2E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39E0054-6424-421D-A39B-E2FAC9EF3D6B}"/>
              </a:ext>
            </a:extLst>
          </p:cNvPr>
          <p:cNvSpPr>
            <a:spLocks xmlns:a="http://schemas.openxmlformats.org/drawingml/2006/main" noGrp="1"/>
          </p:cNvSpPr>
          <p:nvPr/>
        </p:nvSpPr>
        <p:spPr>
          <a:xfrm xmlns:a="http://schemas.openxmlformats.org/drawingml/2006/main">
            <a:off x="685800" y="1809750"/>
            <a:ext cx="6324600" cy="3733800"/>
          </a:xfrm>
          <a:prstGeom xmlns:a="http://schemas.openxmlformats.org/drawingml/2006/main" prst="roundRect">
            <a:avLst>
              <a:gd name="adj" fmla="val 2041"/>
            </a:avLst>
          </a:prstGeom>
          <a:solidFill xmlns:a="http://schemas.openxmlformats.org/drawingml/2006/main">
            <a:srgbClr val="FFFFFF"/>
          </a:solidFill>
          <a:ln xmlns:a="http://schemas.openxmlformats.org/drawingml/2006/main" w="9525">
            <a:solidFill>
              <a:srgbClr val="D9E2EC"/>
            </a:solidFill>
            <a:prstDash val="solid"/>
          </a:ln>
        </p:spPr>
      </p:sp>
      <p:sp>
        <p:nvSpPr>
          <p:cNvPr id="10" name="">
            <a:extLst xmlns:a="http://schemas.openxmlformats.org/drawingml/2006/main">
              <a:ext uri="{FF2B5EF4-FFF2-40B4-BE49-F238E27FC236}">
                <a16:creationId xmlns:a16="http://schemas.microsoft.com/office/drawing/2014/main" id="{DE944215-4729-449D-88D8-931B7434F91D}"/>
              </a:ext>
            </a:extLst>
          </p:cNvPr>
          <p:cNvSpPr>
            <a:spLocks xmlns:a="http://schemas.openxmlformats.org/drawingml/2006/main" noGrp="1"/>
          </p:cNvSpPr>
          <p:nvPr/>
        </p:nvSpPr>
        <p:spPr>
          <a:xfrm xmlns:a="http://schemas.openxmlformats.org/drawingml/2006/main">
            <a:off x="914400" y="203835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测试维度</a:t>
            </a:r>
          </a:p>
        </p:txBody>
      </p:sp>
      <p:sp>
        <p:nvSpPr>
          <p:cNvPr id="11" name="">
            <a:extLst xmlns:a="http://schemas.openxmlformats.org/drawingml/2006/main">
              <a:ext uri="{FF2B5EF4-FFF2-40B4-BE49-F238E27FC236}">
                <a16:creationId xmlns:a16="http://schemas.microsoft.com/office/drawing/2014/main" id="{DBA361ED-3478-46EC-B87A-FFFC692FE138}"/>
              </a:ext>
            </a:extLst>
          </p:cNvPr>
          <p:cNvSpPr>
            <a:spLocks xmlns:a="http://schemas.openxmlformats.org/drawingml/2006/main" noGrp="1"/>
          </p:cNvSpPr>
          <p:nvPr/>
        </p:nvSpPr>
        <p:spPr>
          <a:xfrm xmlns:a="http://schemas.openxmlformats.org/drawingml/2006/main">
            <a:off x="914400" y="2400300"/>
            <a:ext cx="1257300" cy="40005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12" name="">
            <a:extLst xmlns:a="http://schemas.openxmlformats.org/drawingml/2006/main">
              <a:ext uri="{FF2B5EF4-FFF2-40B4-BE49-F238E27FC236}">
                <a16:creationId xmlns:a16="http://schemas.microsoft.com/office/drawing/2014/main" id="{8A12986A-EACD-4FD0-B60B-FB35CEB53CA8}"/>
              </a:ext>
            </a:extLst>
          </p:cNvPr>
          <p:cNvSpPr>
            <a:spLocks xmlns:a="http://schemas.openxmlformats.org/drawingml/2006/main" noGrp="1"/>
          </p:cNvSpPr>
          <p:nvPr/>
        </p:nvSpPr>
        <p:spPr>
          <a:xfrm xmlns:a="http://schemas.openxmlformats.org/drawingml/2006/main">
            <a:off x="971550" y="2457450"/>
            <a:ext cx="1143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测试项</a:t>
            </a:r>
          </a:p>
        </p:txBody>
      </p:sp>
      <p:sp>
        <p:nvSpPr>
          <p:cNvPr id="13" name="">
            <a:extLst xmlns:a="http://schemas.openxmlformats.org/drawingml/2006/main">
              <a:ext uri="{FF2B5EF4-FFF2-40B4-BE49-F238E27FC236}">
                <a16:creationId xmlns:a16="http://schemas.microsoft.com/office/drawing/2014/main" id="{475FA68B-EEA7-4E4D-809A-53A9E60839BF}"/>
              </a:ext>
            </a:extLst>
          </p:cNvPr>
          <p:cNvSpPr>
            <a:spLocks xmlns:a="http://schemas.openxmlformats.org/drawingml/2006/main" noGrp="1"/>
          </p:cNvSpPr>
          <p:nvPr/>
        </p:nvSpPr>
        <p:spPr>
          <a:xfrm xmlns:a="http://schemas.openxmlformats.org/drawingml/2006/main">
            <a:off x="2171700" y="2400300"/>
            <a:ext cx="3752850" cy="40005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14" name="">
            <a:extLst xmlns:a="http://schemas.openxmlformats.org/drawingml/2006/main">
              <a:ext uri="{FF2B5EF4-FFF2-40B4-BE49-F238E27FC236}">
                <a16:creationId xmlns:a16="http://schemas.microsoft.com/office/drawing/2014/main" id="{CE093F0C-D125-4D20-9F16-B2932EE79D44}"/>
              </a:ext>
            </a:extLst>
          </p:cNvPr>
          <p:cNvSpPr>
            <a:spLocks xmlns:a="http://schemas.openxmlformats.org/drawingml/2006/main" noGrp="1"/>
          </p:cNvSpPr>
          <p:nvPr/>
        </p:nvSpPr>
        <p:spPr>
          <a:xfrm xmlns:a="http://schemas.openxmlformats.org/drawingml/2006/main">
            <a:off x="2228850" y="2457450"/>
            <a:ext cx="36385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说明</a:t>
            </a:r>
          </a:p>
        </p:txBody>
      </p:sp>
      <p:sp>
        <p:nvSpPr>
          <p:cNvPr id="15" name="">
            <a:extLst xmlns:a="http://schemas.openxmlformats.org/drawingml/2006/main">
              <a:ext uri="{FF2B5EF4-FFF2-40B4-BE49-F238E27FC236}">
                <a16:creationId xmlns:a16="http://schemas.microsoft.com/office/drawing/2014/main" id="{7F169B27-C24B-4CB6-8865-DB9384BA68C3}"/>
              </a:ext>
            </a:extLst>
          </p:cNvPr>
          <p:cNvSpPr>
            <a:spLocks xmlns:a="http://schemas.openxmlformats.org/drawingml/2006/main" noGrp="1"/>
          </p:cNvSpPr>
          <p:nvPr/>
        </p:nvSpPr>
        <p:spPr>
          <a:xfrm xmlns:a="http://schemas.openxmlformats.org/drawingml/2006/main">
            <a:off x="5924550" y="2400300"/>
            <a:ext cx="800100" cy="400050"/>
          </a:xfrm>
          <a:prstGeom xmlns:a="http://schemas.openxmlformats.org/drawingml/2006/main" prst="rect">
            <a:avLst/>
          </a:prstGeom>
          <a:solidFill xmlns:a="http://schemas.openxmlformats.org/drawingml/2006/main">
            <a:srgbClr val="F1F5F9"/>
          </a:solidFill>
          <a:ln xmlns:a="http://schemas.openxmlformats.org/drawingml/2006/main" w="9525">
            <a:solidFill>
              <a:srgbClr val="D9E2EC"/>
            </a:solidFill>
            <a:prstDash val="solid"/>
          </a:ln>
        </p:spPr>
      </p:sp>
      <p:sp>
        <p:nvSpPr>
          <p:cNvPr id="16" name="">
            <a:extLst xmlns:a="http://schemas.openxmlformats.org/drawingml/2006/main">
              <a:ext uri="{FF2B5EF4-FFF2-40B4-BE49-F238E27FC236}">
                <a16:creationId xmlns:a16="http://schemas.microsoft.com/office/drawing/2014/main" id="{F7ED1960-ED4E-4413-AEB7-67ECA5D7A5A7}"/>
              </a:ext>
            </a:extLst>
          </p:cNvPr>
          <p:cNvSpPr>
            <a:spLocks xmlns:a="http://schemas.openxmlformats.org/drawingml/2006/main" noGrp="1"/>
          </p:cNvSpPr>
          <p:nvPr/>
        </p:nvSpPr>
        <p:spPr>
          <a:xfrm xmlns:a="http://schemas.openxmlformats.org/drawingml/2006/main">
            <a:off x="5981700" y="2457450"/>
            <a:ext cx="685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7B8794"/>
                </a:solidFill>
              </a:defRPr>
            </a:pPr>
            <a:r>
              <a:rPr sz="750" b="1">
                <a:solidFill>
                  <a:srgbClr val="7B8794"/>
                </a:solidFill>
              </a:rPr>
              <a:t>结论</a:t>
            </a:r>
          </a:p>
        </p:txBody>
      </p:sp>
      <p:sp>
        <p:nvSpPr>
          <p:cNvPr id="17" name="">
            <a:extLst xmlns:a="http://schemas.openxmlformats.org/drawingml/2006/main">
              <a:ext uri="{FF2B5EF4-FFF2-40B4-BE49-F238E27FC236}">
                <a16:creationId xmlns:a16="http://schemas.microsoft.com/office/drawing/2014/main" id="{4813E4EA-0183-4893-9D14-AB3BF3378F32}"/>
              </a:ext>
            </a:extLst>
          </p:cNvPr>
          <p:cNvSpPr>
            <a:spLocks xmlns:a="http://schemas.openxmlformats.org/drawingml/2006/main" noGrp="1"/>
          </p:cNvSpPr>
          <p:nvPr/>
        </p:nvSpPr>
        <p:spPr>
          <a:xfrm xmlns:a="http://schemas.openxmlformats.org/drawingml/2006/main">
            <a:off x="914400" y="2800350"/>
            <a:ext cx="1257300" cy="66675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18" name="">
            <a:extLst xmlns:a="http://schemas.openxmlformats.org/drawingml/2006/main">
              <a:ext uri="{FF2B5EF4-FFF2-40B4-BE49-F238E27FC236}">
                <a16:creationId xmlns:a16="http://schemas.microsoft.com/office/drawing/2014/main" id="{961B8767-4D0C-4448-9A72-17E96A58A91E}"/>
              </a:ext>
            </a:extLst>
          </p:cNvPr>
          <p:cNvSpPr>
            <a:spLocks xmlns:a="http://schemas.openxmlformats.org/drawingml/2006/main" noGrp="1"/>
          </p:cNvSpPr>
          <p:nvPr/>
        </p:nvSpPr>
        <p:spPr>
          <a:xfrm xmlns:a="http://schemas.openxmlformats.org/drawingml/2006/main">
            <a:off x="971550" y="2857500"/>
            <a:ext cx="114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功能链路</a:t>
            </a:r>
          </a:p>
        </p:txBody>
      </p:sp>
      <p:sp>
        <p:nvSpPr>
          <p:cNvPr id="19" name="">
            <a:extLst xmlns:a="http://schemas.openxmlformats.org/drawingml/2006/main">
              <a:ext uri="{FF2B5EF4-FFF2-40B4-BE49-F238E27FC236}">
                <a16:creationId xmlns:a16="http://schemas.microsoft.com/office/drawing/2014/main" id="{29C8648B-D039-4F69-9FC3-C3C7E793A7EE}"/>
              </a:ext>
            </a:extLst>
          </p:cNvPr>
          <p:cNvSpPr>
            <a:spLocks xmlns:a="http://schemas.openxmlformats.org/drawingml/2006/main" noGrp="1"/>
          </p:cNvSpPr>
          <p:nvPr/>
        </p:nvSpPr>
        <p:spPr>
          <a:xfrm xmlns:a="http://schemas.openxmlformats.org/drawingml/2006/main">
            <a:off x="2171700" y="2800350"/>
            <a:ext cx="37528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20" name="">
            <a:extLst xmlns:a="http://schemas.openxmlformats.org/drawingml/2006/main">
              <a:ext uri="{FF2B5EF4-FFF2-40B4-BE49-F238E27FC236}">
                <a16:creationId xmlns:a16="http://schemas.microsoft.com/office/drawing/2014/main" id="{70F7171B-FA07-4C42-9719-549558576B0F}"/>
              </a:ext>
            </a:extLst>
          </p:cNvPr>
          <p:cNvSpPr>
            <a:spLocks xmlns:a="http://schemas.openxmlformats.org/drawingml/2006/main" noGrp="1"/>
          </p:cNvSpPr>
          <p:nvPr/>
        </p:nvSpPr>
        <p:spPr>
          <a:xfrm xmlns:a="http://schemas.openxmlformats.org/drawingml/2006/main">
            <a:off x="2228850" y="2857500"/>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0">
                <a:solidFill>
                  <a:srgbClr val="243B53"/>
                </a:solidFill>
              </a:defRPr>
            </a:pPr>
            <a:r>
              <a:rPr sz="750" b="0">
                <a:solidFill>
                  <a:srgbClr val="243B53"/>
                </a:solidFill>
              </a:rPr>
              <a:t>登录、项目管理、流程提交、审批回写、报销审核、成果管理</a:t>
            </a:r>
          </a:p>
        </p:txBody>
      </p:sp>
      <p:sp>
        <p:nvSpPr>
          <p:cNvPr id="21" name="">
            <a:extLst xmlns:a="http://schemas.openxmlformats.org/drawingml/2006/main">
              <a:ext uri="{FF2B5EF4-FFF2-40B4-BE49-F238E27FC236}">
                <a16:creationId xmlns:a16="http://schemas.microsoft.com/office/drawing/2014/main" id="{83B93A0D-7185-4482-82EF-1483BDFD05E6}"/>
              </a:ext>
            </a:extLst>
          </p:cNvPr>
          <p:cNvSpPr>
            <a:spLocks xmlns:a="http://schemas.openxmlformats.org/drawingml/2006/main" noGrp="1"/>
          </p:cNvSpPr>
          <p:nvPr/>
        </p:nvSpPr>
        <p:spPr>
          <a:xfrm xmlns:a="http://schemas.openxmlformats.org/drawingml/2006/main">
            <a:off x="5924550" y="2800350"/>
            <a:ext cx="800100" cy="66675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22" name="">
            <a:extLst xmlns:a="http://schemas.openxmlformats.org/drawingml/2006/main">
              <a:ext uri="{FF2B5EF4-FFF2-40B4-BE49-F238E27FC236}">
                <a16:creationId xmlns:a16="http://schemas.microsoft.com/office/drawing/2014/main" id="{E6BEC554-0B8F-46B9-87F3-B62DF16A2F74}"/>
              </a:ext>
            </a:extLst>
          </p:cNvPr>
          <p:cNvSpPr>
            <a:spLocks xmlns:a="http://schemas.openxmlformats.org/drawingml/2006/main" noGrp="1"/>
          </p:cNvSpPr>
          <p:nvPr/>
        </p:nvSpPr>
        <p:spPr>
          <a:xfrm xmlns:a="http://schemas.openxmlformats.org/drawingml/2006/main">
            <a:off x="5981700" y="2857500"/>
            <a:ext cx="6858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已验证</a:t>
            </a:r>
          </a:p>
        </p:txBody>
      </p:sp>
      <p:sp>
        <p:nvSpPr>
          <p:cNvPr id="23" name="">
            <a:extLst xmlns:a="http://schemas.openxmlformats.org/drawingml/2006/main">
              <a:ext uri="{FF2B5EF4-FFF2-40B4-BE49-F238E27FC236}">
                <a16:creationId xmlns:a16="http://schemas.microsoft.com/office/drawing/2014/main" id="{AEB0713B-7C6F-4BBC-B227-EA9D80660EAB}"/>
              </a:ext>
            </a:extLst>
          </p:cNvPr>
          <p:cNvSpPr>
            <a:spLocks xmlns:a="http://schemas.openxmlformats.org/drawingml/2006/main" noGrp="1"/>
          </p:cNvSpPr>
          <p:nvPr/>
        </p:nvSpPr>
        <p:spPr>
          <a:xfrm xmlns:a="http://schemas.openxmlformats.org/drawingml/2006/main">
            <a:off x="914400" y="3467100"/>
            <a:ext cx="1257300" cy="66675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24" name="">
            <a:extLst xmlns:a="http://schemas.openxmlformats.org/drawingml/2006/main">
              <a:ext uri="{FF2B5EF4-FFF2-40B4-BE49-F238E27FC236}">
                <a16:creationId xmlns:a16="http://schemas.microsoft.com/office/drawing/2014/main" id="{D8FDFA9E-D448-4B71-867D-7EA4DB093923}"/>
              </a:ext>
            </a:extLst>
          </p:cNvPr>
          <p:cNvSpPr>
            <a:spLocks xmlns:a="http://schemas.openxmlformats.org/drawingml/2006/main" noGrp="1"/>
          </p:cNvSpPr>
          <p:nvPr/>
        </p:nvSpPr>
        <p:spPr>
          <a:xfrm xmlns:a="http://schemas.openxmlformats.org/drawingml/2006/main">
            <a:off x="971550" y="3524250"/>
            <a:ext cx="114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权限控制</a:t>
            </a:r>
          </a:p>
        </p:txBody>
      </p:sp>
      <p:sp>
        <p:nvSpPr>
          <p:cNvPr id="25" name="">
            <a:extLst xmlns:a="http://schemas.openxmlformats.org/drawingml/2006/main">
              <a:ext uri="{FF2B5EF4-FFF2-40B4-BE49-F238E27FC236}">
                <a16:creationId xmlns:a16="http://schemas.microsoft.com/office/drawing/2014/main" id="{70E9AAF5-A781-4752-A4D0-EA5C785B4E26}"/>
              </a:ext>
            </a:extLst>
          </p:cNvPr>
          <p:cNvSpPr>
            <a:spLocks xmlns:a="http://schemas.openxmlformats.org/drawingml/2006/main" noGrp="1"/>
          </p:cNvSpPr>
          <p:nvPr/>
        </p:nvSpPr>
        <p:spPr>
          <a:xfrm xmlns:a="http://schemas.openxmlformats.org/drawingml/2006/main">
            <a:off x="2171700" y="3467100"/>
            <a:ext cx="37528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26" name="">
            <a:extLst xmlns:a="http://schemas.openxmlformats.org/drawingml/2006/main">
              <a:ext uri="{FF2B5EF4-FFF2-40B4-BE49-F238E27FC236}">
                <a16:creationId xmlns:a16="http://schemas.microsoft.com/office/drawing/2014/main" id="{0C213D50-EAE2-4D27-B6E1-8F0349EFB7D5}"/>
              </a:ext>
            </a:extLst>
          </p:cNvPr>
          <p:cNvSpPr>
            <a:spLocks xmlns:a="http://schemas.openxmlformats.org/drawingml/2006/main" noGrp="1"/>
          </p:cNvSpPr>
          <p:nvPr/>
        </p:nvSpPr>
        <p:spPr>
          <a:xfrm xmlns:a="http://schemas.openxmlformats.org/drawingml/2006/main">
            <a:off x="2228850" y="3524250"/>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0">
                <a:solidFill>
                  <a:srgbClr val="243B53"/>
                </a:solidFill>
              </a:defRPr>
            </a:pPr>
            <a:r>
              <a:rPr sz="750" b="0">
                <a:solidFill>
                  <a:srgbClr val="243B53"/>
                </a:solidFill>
              </a:rPr>
              <a:t>不同角色首页分发、菜单隔离、非法路由拦截、接口认证</a:t>
            </a:r>
          </a:p>
        </p:txBody>
      </p:sp>
      <p:sp>
        <p:nvSpPr>
          <p:cNvPr id="27" name="">
            <a:extLst xmlns:a="http://schemas.openxmlformats.org/drawingml/2006/main">
              <a:ext uri="{FF2B5EF4-FFF2-40B4-BE49-F238E27FC236}">
                <a16:creationId xmlns:a16="http://schemas.microsoft.com/office/drawing/2014/main" id="{7AABD4EC-233A-48BD-8338-57E3563BE6BB}"/>
              </a:ext>
            </a:extLst>
          </p:cNvPr>
          <p:cNvSpPr>
            <a:spLocks xmlns:a="http://schemas.openxmlformats.org/drawingml/2006/main" noGrp="1"/>
          </p:cNvSpPr>
          <p:nvPr/>
        </p:nvSpPr>
        <p:spPr>
          <a:xfrm xmlns:a="http://schemas.openxmlformats.org/drawingml/2006/main">
            <a:off x="5924550" y="3467100"/>
            <a:ext cx="800100" cy="66675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28" name="">
            <a:extLst xmlns:a="http://schemas.openxmlformats.org/drawingml/2006/main">
              <a:ext uri="{FF2B5EF4-FFF2-40B4-BE49-F238E27FC236}">
                <a16:creationId xmlns:a16="http://schemas.microsoft.com/office/drawing/2014/main" id="{A28F8457-0C39-4484-9F63-F209BDFA427C}"/>
              </a:ext>
            </a:extLst>
          </p:cNvPr>
          <p:cNvSpPr>
            <a:spLocks xmlns:a="http://schemas.openxmlformats.org/drawingml/2006/main" noGrp="1"/>
          </p:cNvSpPr>
          <p:nvPr/>
        </p:nvSpPr>
        <p:spPr>
          <a:xfrm xmlns:a="http://schemas.openxmlformats.org/drawingml/2006/main">
            <a:off x="5981700" y="3524250"/>
            <a:ext cx="6858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已验证</a:t>
            </a:r>
          </a:p>
        </p:txBody>
      </p:sp>
      <p:sp>
        <p:nvSpPr>
          <p:cNvPr id="29" name="">
            <a:extLst xmlns:a="http://schemas.openxmlformats.org/drawingml/2006/main">
              <a:ext uri="{FF2B5EF4-FFF2-40B4-BE49-F238E27FC236}">
                <a16:creationId xmlns:a16="http://schemas.microsoft.com/office/drawing/2014/main" id="{6EDA54EB-D154-475D-8020-78BE7A710DA6}"/>
              </a:ext>
            </a:extLst>
          </p:cNvPr>
          <p:cNvSpPr>
            <a:spLocks xmlns:a="http://schemas.openxmlformats.org/drawingml/2006/main" noGrp="1"/>
          </p:cNvSpPr>
          <p:nvPr/>
        </p:nvSpPr>
        <p:spPr>
          <a:xfrm xmlns:a="http://schemas.openxmlformats.org/drawingml/2006/main">
            <a:off x="914400" y="4133850"/>
            <a:ext cx="1257300" cy="66675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30" name="">
            <a:extLst xmlns:a="http://schemas.openxmlformats.org/drawingml/2006/main">
              <a:ext uri="{FF2B5EF4-FFF2-40B4-BE49-F238E27FC236}">
                <a16:creationId xmlns:a16="http://schemas.microsoft.com/office/drawing/2014/main" id="{A7EEC453-EF17-450D-A958-41E94197CCF7}"/>
              </a:ext>
            </a:extLst>
          </p:cNvPr>
          <p:cNvSpPr>
            <a:spLocks xmlns:a="http://schemas.openxmlformats.org/drawingml/2006/main" noGrp="1"/>
          </p:cNvSpPr>
          <p:nvPr/>
        </p:nvSpPr>
        <p:spPr>
          <a:xfrm xmlns:a="http://schemas.openxmlformats.org/drawingml/2006/main">
            <a:off x="971550" y="4191000"/>
            <a:ext cx="114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接口联调</a:t>
            </a:r>
          </a:p>
        </p:txBody>
      </p:sp>
      <p:sp>
        <p:nvSpPr>
          <p:cNvPr id="31" name="">
            <a:extLst xmlns:a="http://schemas.openxmlformats.org/drawingml/2006/main">
              <a:ext uri="{FF2B5EF4-FFF2-40B4-BE49-F238E27FC236}">
                <a16:creationId xmlns:a16="http://schemas.microsoft.com/office/drawing/2014/main" id="{3B12D259-14B0-4ACA-8777-8010AE01B269}"/>
              </a:ext>
            </a:extLst>
          </p:cNvPr>
          <p:cNvSpPr>
            <a:spLocks xmlns:a="http://schemas.openxmlformats.org/drawingml/2006/main" noGrp="1"/>
          </p:cNvSpPr>
          <p:nvPr/>
        </p:nvSpPr>
        <p:spPr>
          <a:xfrm xmlns:a="http://schemas.openxmlformats.org/drawingml/2006/main">
            <a:off x="2171700" y="4133850"/>
            <a:ext cx="37528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32" name="">
            <a:extLst xmlns:a="http://schemas.openxmlformats.org/drawingml/2006/main">
              <a:ext uri="{FF2B5EF4-FFF2-40B4-BE49-F238E27FC236}">
                <a16:creationId xmlns:a16="http://schemas.microsoft.com/office/drawing/2014/main" id="{A3BA6215-801E-4626-AD31-AA8F49B3B51E}"/>
              </a:ext>
            </a:extLst>
          </p:cNvPr>
          <p:cNvSpPr>
            <a:spLocks xmlns:a="http://schemas.openxmlformats.org/drawingml/2006/main" noGrp="1"/>
          </p:cNvSpPr>
          <p:nvPr/>
        </p:nvSpPr>
        <p:spPr>
          <a:xfrm xmlns:a="http://schemas.openxmlformats.org/drawingml/2006/main">
            <a:off x="2228850" y="4191000"/>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0">
                <a:solidFill>
                  <a:srgbClr val="243B53"/>
                </a:solidFill>
              </a:defRPr>
            </a:pPr>
            <a:r>
              <a:rPr sz="750" b="0">
                <a:solidFill>
                  <a:srgbClr val="243B53"/>
                </a:solidFill>
              </a:rPr>
              <a:t>分页查询、文件上传下载、导出接口、AI 聊天接口</a:t>
            </a:r>
          </a:p>
        </p:txBody>
      </p:sp>
      <p:sp>
        <p:nvSpPr>
          <p:cNvPr id="33" name="">
            <a:extLst xmlns:a="http://schemas.openxmlformats.org/drawingml/2006/main">
              <a:ext uri="{FF2B5EF4-FFF2-40B4-BE49-F238E27FC236}">
                <a16:creationId xmlns:a16="http://schemas.microsoft.com/office/drawing/2014/main" id="{047CF05D-EA0E-41BD-9147-5191C02CA47C}"/>
              </a:ext>
            </a:extLst>
          </p:cNvPr>
          <p:cNvSpPr>
            <a:spLocks xmlns:a="http://schemas.openxmlformats.org/drawingml/2006/main" noGrp="1"/>
          </p:cNvSpPr>
          <p:nvPr/>
        </p:nvSpPr>
        <p:spPr>
          <a:xfrm xmlns:a="http://schemas.openxmlformats.org/drawingml/2006/main">
            <a:off x="5924550" y="4133850"/>
            <a:ext cx="800100" cy="66675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34" name="">
            <a:extLst xmlns:a="http://schemas.openxmlformats.org/drawingml/2006/main">
              <a:ext uri="{FF2B5EF4-FFF2-40B4-BE49-F238E27FC236}">
                <a16:creationId xmlns:a16="http://schemas.microsoft.com/office/drawing/2014/main" id="{BE8D6055-3596-46FA-ABF0-24336912E27B}"/>
              </a:ext>
            </a:extLst>
          </p:cNvPr>
          <p:cNvSpPr>
            <a:spLocks xmlns:a="http://schemas.openxmlformats.org/drawingml/2006/main" noGrp="1"/>
          </p:cNvSpPr>
          <p:nvPr/>
        </p:nvSpPr>
        <p:spPr>
          <a:xfrm xmlns:a="http://schemas.openxmlformats.org/drawingml/2006/main">
            <a:off x="5981700" y="4191000"/>
            <a:ext cx="6858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已验证</a:t>
            </a:r>
          </a:p>
        </p:txBody>
      </p:sp>
      <p:sp>
        <p:nvSpPr>
          <p:cNvPr id="35" name="">
            <a:extLst xmlns:a="http://schemas.openxmlformats.org/drawingml/2006/main">
              <a:ext uri="{FF2B5EF4-FFF2-40B4-BE49-F238E27FC236}">
                <a16:creationId xmlns:a16="http://schemas.microsoft.com/office/drawing/2014/main" id="{F8EFE428-A5C0-4ABA-AFA9-14FA4A3A0CC8}"/>
              </a:ext>
            </a:extLst>
          </p:cNvPr>
          <p:cNvSpPr>
            <a:spLocks xmlns:a="http://schemas.openxmlformats.org/drawingml/2006/main" noGrp="1"/>
          </p:cNvSpPr>
          <p:nvPr/>
        </p:nvSpPr>
        <p:spPr>
          <a:xfrm xmlns:a="http://schemas.openxmlformats.org/drawingml/2006/main">
            <a:off x="914400" y="4800600"/>
            <a:ext cx="1257300" cy="666750"/>
          </a:xfrm>
          <a:prstGeom xmlns:a="http://schemas.openxmlformats.org/drawingml/2006/main" prst="rect">
            <a:avLst/>
          </a:prstGeom>
          <a:solidFill xmlns:a="http://schemas.openxmlformats.org/drawingml/2006/main">
            <a:srgbClr val="FBFDFF"/>
          </a:solidFill>
          <a:ln xmlns:a="http://schemas.openxmlformats.org/drawingml/2006/main" w="9525">
            <a:solidFill>
              <a:srgbClr val="D9E2EC"/>
            </a:solidFill>
            <a:prstDash val="solid"/>
          </a:ln>
        </p:spPr>
      </p:sp>
      <p:sp>
        <p:nvSpPr>
          <p:cNvPr id="36" name="">
            <a:extLst xmlns:a="http://schemas.openxmlformats.org/drawingml/2006/main">
              <a:ext uri="{FF2B5EF4-FFF2-40B4-BE49-F238E27FC236}">
                <a16:creationId xmlns:a16="http://schemas.microsoft.com/office/drawing/2014/main" id="{7E36710F-9E24-4C5C-9389-D2C5AE5C8E31}"/>
              </a:ext>
            </a:extLst>
          </p:cNvPr>
          <p:cNvSpPr>
            <a:spLocks xmlns:a="http://schemas.openxmlformats.org/drawingml/2006/main" noGrp="1"/>
          </p:cNvSpPr>
          <p:nvPr/>
        </p:nvSpPr>
        <p:spPr>
          <a:xfrm xmlns:a="http://schemas.openxmlformats.org/drawingml/2006/main">
            <a:off x="971550" y="4857750"/>
            <a:ext cx="114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1">
                <a:solidFill>
                  <a:srgbClr val="243B53"/>
                </a:solidFill>
              </a:defRPr>
            </a:pPr>
            <a:r>
              <a:rPr sz="750" b="1">
                <a:solidFill>
                  <a:srgbClr val="243B53"/>
                </a:solidFill>
              </a:rPr>
              <a:t>异常处理</a:t>
            </a:r>
          </a:p>
        </p:txBody>
      </p:sp>
      <p:sp>
        <p:nvSpPr>
          <p:cNvPr id="37" name="">
            <a:extLst xmlns:a="http://schemas.openxmlformats.org/drawingml/2006/main">
              <a:ext uri="{FF2B5EF4-FFF2-40B4-BE49-F238E27FC236}">
                <a16:creationId xmlns:a16="http://schemas.microsoft.com/office/drawing/2014/main" id="{D81E05C8-713A-4A49-9BD0-06257F025C37}"/>
              </a:ext>
            </a:extLst>
          </p:cNvPr>
          <p:cNvSpPr>
            <a:spLocks xmlns:a="http://schemas.openxmlformats.org/drawingml/2006/main" noGrp="1"/>
          </p:cNvSpPr>
          <p:nvPr/>
        </p:nvSpPr>
        <p:spPr>
          <a:xfrm xmlns:a="http://schemas.openxmlformats.org/drawingml/2006/main">
            <a:off x="2171700" y="4800600"/>
            <a:ext cx="37528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E2EC"/>
            </a:solidFill>
            <a:prstDash val="solid"/>
          </a:ln>
        </p:spPr>
      </p:sp>
      <p:sp>
        <p:nvSpPr>
          <p:cNvPr id="38" name="">
            <a:extLst xmlns:a="http://schemas.openxmlformats.org/drawingml/2006/main">
              <a:ext uri="{FF2B5EF4-FFF2-40B4-BE49-F238E27FC236}">
                <a16:creationId xmlns:a16="http://schemas.microsoft.com/office/drawing/2014/main" id="{D832C95D-7687-4568-92AB-970EF62681F0}"/>
              </a:ext>
            </a:extLst>
          </p:cNvPr>
          <p:cNvSpPr>
            <a:spLocks xmlns:a="http://schemas.openxmlformats.org/drawingml/2006/main" noGrp="1"/>
          </p:cNvSpPr>
          <p:nvPr/>
        </p:nvSpPr>
        <p:spPr>
          <a:xfrm xmlns:a="http://schemas.openxmlformats.org/drawingml/2006/main">
            <a:off x="2228850" y="4857750"/>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50" b="0">
                <a:solidFill>
                  <a:srgbClr val="243B53"/>
                </a:solidFill>
              </a:defRPr>
            </a:pPr>
            <a:r>
              <a:rPr sz="750" b="0">
                <a:solidFill>
                  <a:srgbClr val="243B53"/>
                </a:solidFill>
              </a:rPr>
              <a:t>Token 失效、空数据回退、AI Key 缺失提示、审批前置校验</a:t>
            </a:r>
          </a:p>
        </p:txBody>
      </p:sp>
      <p:sp>
        <p:nvSpPr>
          <p:cNvPr id="39" name="">
            <a:extLst xmlns:a="http://schemas.openxmlformats.org/drawingml/2006/main">
              <a:ext uri="{FF2B5EF4-FFF2-40B4-BE49-F238E27FC236}">
                <a16:creationId xmlns:a16="http://schemas.microsoft.com/office/drawing/2014/main" id="{66B28CE5-CFE0-443B-8E99-B884D99E4227}"/>
              </a:ext>
            </a:extLst>
          </p:cNvPr>
          <p:cNvSpPr>
            <a:spLocks xmlns:a="http://schemas.openxmlformats.org/drawingml/2006/main" noGrp="1"/>
          </p:cNvSpPr>
          <p:nvPr/>
        </p:nvSpPr>
        <p:spPr>
          <a:xfrm xmlns:a="http://schemas.openxmlformats.org/drawingml/2006/main">
            <a:off x="5924550" y="4800600"/>
            <a:ext cx="800100" cy="666750"/>
          </a:xfrm>
          <a:prstGeom xmlns:a="http://schemas.openxmlformats.org/drawingml/2006/main" prst="rect">
            <a:avLst/>
          </a:prstGeom>
          <a:solidFill xmlns:a="http://schemas.openxmlformats.org/drawingml/2006/main">
            <a:srgbClr val="EAFBF4"/>
          </a:solidFill>
          <a:ln xmlns:a="http://schemas.openxmlformats.org/drawingml/2006/main" w="9525">
            <a:solidFill>
              <a:srgbClr val="D9E2EC"/>
            </a:solidFill>
            <a:prstDash val="solid"/>
          </a:ln>
        </p:spPr>
      </p:sp>
      <p:sp>
        <p:nvSpPr>
          <p:cNvPr id="40" name="">
            <a:extLst xmlns:a="http://schemas.openxmlformats.org/drawingml/2006/main">
              <a:ext uri="{FF2B5EF4-FFF2-40B4-BE49-F238E27FC236}">
                <a16:creationId xmlns:a16="http://schemas.microsoft.com/office/drawing/2014/main" id="{D6A98872-A6B9-4DE9-9229-5EFF8B6901AB}"/>
              </a:ext>
            </a:extLst>
          </p:cNvPr>
          <p:cNvSpPr>
            <a:spLocks xmlns:a="http://schemas.openxmlformats.org/drawingml/2006/main" noGrp="1"/>
          </p:cNvSpPr>
          <p:nvPr/>
        </p:nvSpPr>
        <p:spPr>
          <a:xfrm xmlns:a="http://schemas.openxmlformats.org/drawingml/2006/main">
            <a:off x="5981700" y="4857750"/>
            <a:ext cx="6858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2BB673"/>
                </a:solidFill>
              </a:defRPr>
            </a:pPr>
            <a:r>
              <a:rPr sz="750" b="1">
                <a:solidFill>
                  <a:srgbClr val="2BB673"/>
                </a:solidFill>
              </a:rPr>
              <a:t>已验证</a:t>
            </a:r>
          </a:p>
        </p:txBody>
      </p:sp>
      <p:sp>
        <p:nvSpPr>
          <p:cNvPr id="41" name="">
            <a:extLst xmlns:a="http://schemas.openxmlformats.org/drawingml/2006/main">
              <a:ext uri="{FF2B5EF4-FFF2-40B4-BE49-F238E27FC236}">
                <a16:creationId xmlns:a16="http://schemas.microsoft.com/office/drawing/2014/main" id="{3940743E-CD17-4A1A-9390-E43978FCE2C4}"/>
              </a:ext>
            </a:extLst>
          </p:cNvPr>
          <p:cNvSpPr>
            <a:spLocks xmlns:a="http://schemas.openxmlformats.org/drawingml/2006/main" noGrp="1"/>
          </p:cNvSpPr>
          <p:nvPr/>
        </p:nvSpPr>
        <p:spPr>
          <a:xfrm xmlns:a="http://schemas.openxmlformats.org/drawingml/2006/main">
            <a:off x="7410450" y="1809750"/>
            <a:ext cx="4076700" cy="1714500"/>
          </a:xfrm>
          <a:prstGeom xmlns:a="http://schemas.openxmlformats.org/drawingml/2006/main" prst="roundRect">
            <a:avLst>
              <a:gd name="adj" fmla="val 4444"/>
            </a:avLst>
          </a:prstGeom>
          <a:solidFill xmlns:a="http://schemas.openxmlformats.org/drawingml/2006/main">
            <a:srgbClr val="12364F"/>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31259316-2280-4293-9501-8E58EA54AA08}"/>
              </a:ext>
            </a:extLst>
          </p:cNvPr>
          <p:cNvSpPr>
            <a:spLocks xmlns:a="http://schemas.openxmlformats.org/drawingml/2006/main" noGrp="1"/>
          </p:cNvSpPr>
          <p:nvPr/>
        </p:nvSpPr>
        <p:spPr>
          <a:xfrm xmlns:a="http://schemas.openxmlformats.org/drawingml/2006/main">
            <a:off x="7639050" y="20574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defRPr>
            </a:pPr>
            <a:r>
              <a:rPr sz="1350" b="1">
                <a:solidFill>
                  <a:srgbClr val="FFFFFF"/>
                </a:solidFill>
              </a:rPr>
              <a:t>实现效果</a:t>
            </a:r>
          </a:p>
        </p:txBody>
      </p:sp>
      <p:sp>
        <p:nvSpPr>
          <p:cNvPr id="43" name="">
            <a:extLst xmlns:a="http://schemas.openxmlformats.org/drawingml/2006/main">
              <a:ext uri="{FF2B5EF4-FFF2-40B4-BE49-F238E27FC236}">
                <a16:creationId xmlns:a16="http://schemas.microsoft.com/office/drawing/2014/main" id="{3AAD1602-2684-4E74-A0DB-FE3029A82CA7}"/>
              </a:ext>
            </a:extLst>
          </p:cNvPr>
          <p:cNvSpPr>
            <a:spLocks xmlns:a="http://schemas.openxmlformats.org/drawingml/2006/main" noGrp="1"/>
          </p:cNvSpPr>
          <p:nvPr/>
        </p:nvSpPr>
        <p:spPr>
          <a:xfrm xmlns:a="http://schemas.openxmlformats.org/drawingml/2006/main">
            <a:off x="7658100" y="2381250"/>
            <a:ext cx="3600450" cy="304800"/>
          </a:xfrm>
          <a:prstGeom xmlns:a="http://schemas.openxmlformats.org/drawingml/2006/main" prst="roundRect">
            <a:avLst>
              <a:gd name="adj" fmla="val 25000"/>
            </a:avLst>
          </a:prstGeom>
          <a:solidFill xmlns:a="http://schemas.openxmlformats.org/drawingml/2006/main">
            <a:srgbClr val="E7FBF9"/>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61BE292C-9B73-4C86-9E89-30AC9464C72C}"/>
              </a:ext>
            </a:extLst>
          </p:cNvPr>
          <p:cNvSpPr>
            <a:spLocks xmlns:a="http://schemas.openxmlformats.org/drawingml/2006/main" noGrp="1"/>
          </p:cNvSpPr>
          <p:nvPr/>
        </p:nvSpPr>
        <p:spPr>
          <a:xfrm xmlns:a="http://schemas.openxmlformats.org/drawingml/2006/main">
            <a:off x="7791450" y="2457450"/>
            <a:ext cx="1143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18B6B0"/>
                </a:solidFill>
              </a:defRPr>
            </a:pPr>
            <a:r>
              <a:rPr sz="825" b="1">
                <a:solidFill>
                  <a:srgbClr val="18B6B0"/>
                </a:solidFill>
              </a:rPr>
              <a:t>业务闭环清晰</a:t>
            </a:r>
          </a:p>
        </p:txBody>
      </p:sp>
      <p:sp>
        <p:nvSpPr>
          <p:cNvPr id="45" name="">
            <a:extLst xmlns:a="http://schemas.openxmlformats.org/drawingml/2006/main">
              <a:ext uri="{FF2B5EF4-FFF2-40B4-BE49-F238E27FC236}">
                <a16:creationId xmlns:a16="http://schemas.microsoft.com/office/drawing/2014/main" id="{583CBA29-988B-409C-AC66-3AAD8941CBF0}"/>
              </a:ext>
            </a:extLst>
          </p:cNvPr>
          <p:cNvSpPr>
            <a:spLocks xmlns:a="http://schemas.openxmlformats.org/drawingml/2006/main" noGrp="1"/>
          </p:cNvSpPr>
          <p:nvPr/>
        </p:nvSpPr>
        <p:spPr>
          <a:xfrm xmlns:a="http://schemas.openxmlformats.org/drawingml/2006/main">
            <a:off x="8991600" y="2457450"/>
            <a:ext cx="2152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0">
                <a:solidFill>
                  <a:srgbClr val="243B53"/>
                </a:solidFill>
              </a:defRPr>
            </a:pPr>
            <a:r>
              <a:rPr sz="750" b="0">
                <a:solidFill>
                  <a:srgbClr val="243B53"/>
                </a:solidFill>
              </a:rPr>
              <a:t>项目、审批、报销、成果形成连续链路。</a:t>
            </a:r>
          </a:p>
        </p:txBody>
      </p:sp>
      <p:sp>
        <p:nvSpPr>
          <p:cNvPr id="46" name="">
            <a:extLst xmlns:a="http://schemas.openxmlformats.org/drawingml/2006/main">
              <a:ext uri="{FF2B5EF4-FFF2-40B4-BE49-F238E27FC236}">
                <a16:creationId xmlns:a16="http://schemas.microsoft.com/office/drawing/2014/main" id="{6CBA9D7C-7639-482C-9833-2CD86FB8087E}"/>
              </a:ext>
            </a:extLst>
          </p:cNvPr>
          <p:cNvSpPr>
            <a:spLocks xmlns:a="http://schemas.openxmlformats.org/drawingml/2006/main" noGrp="1"/>
          </p:cNvSpPr>
          <p:nvPr/>
        </p:nvSpPr>
        <p:spPr>
          <a:xfrm xmlns:a="http://schemas.openxmlformats.org/drawingml/2006/main">
            <a:off x="7658100" y="2781300"/>
            <a:ext cx="3600450" cy="304800"/>
          </a:xfrm>
          <a:prstGeom xmlns:a="http://schemas.openxmlformats.org/drawingml/2006/main" prst="roundRect">
            <a:avLst>
              <a:gd name="adj" fmla="val 25000"/>
            </a:avLst>
          </a:prstGeom>
          <a:solidFill xmlns:a="http://schemas.openxmlformats.org/drawingml/2006/main">
            <a:srgbClr val="FFF6E9"/>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08A3F710-B7CC-463C-AE9D-07CE44DA4CC0}"/>
              </a:ext>
            </a:extLst>
          </p:cNvPr>
          <p:cNvSpPr>
            <a:spLocks xmlns:a="http://schemas.openxmlformats.org/drawingml/2006/main" noGrp="1"/>
          </p:cNvSpPr>
          <p:nvPr/>
        </p:nvSpPr>
        <p:spPr>
          <a:xfrm xmlns:a="http://schemas.openxmlformats.org/drawingml/2006/main">
            <a:off x="7791450" y="2857500"/>
            <a:ext cx="1143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2B35E"/>
                </a:solidFill>
              </a:defRPr>
            </a:pPr>
            <a:r>
              <a:rPr sz="825" b="1">
                <a:solidFill>
                  <a:srgbClr val="F2B35E"/>
                </a:solidFill>
              </a:rPr>
              <a:t>权限边界明确</a:t>
            </a:r>
          </a:p>
        </p:txBody>
      </p:sp>
      <p:sp>
        <p:nvSpPr>
          <p:cNvPr id="48" name="">
            <a:extLst xmlns:a="http://schemas.openxmlformats.org/drawingml/2006/main">
              <a:ext uri="{FF2B5EF4-FFF2-40B4-BE49-F238E27FC236}">
                <a16:creationId xmlns:a16="http://schemas.microsoft.com/office/drawing/2014/main" id="{4B465420-EFFC-40A9-8303-982092A59FD0}"/>
              </a:ext>
            </a:extLst>
          </p:cNvPr>
          <p:cNvSpPr>
            <a:spLocks xmlns:a="http://schemas.openxmlformats.org/drawingml/2006/main" noGrp="1"/>
          </p:cNvSpPr>
          <p:nvPr/>
        </p:nvSpPr>
        <p:spPr>
          <a:xfrm xmlns:a="http://schemas.openxmlformats.org/drawingml/2006/main">
            <a:off x="8991600" y="2857500"/>
            <a:ext cx="2152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0">
                <a:solidFill>
                  <a:srgbClr val="243B53"/>
                </a:solidFill>
              </a:defRPr>
            </a:pPr>
            <a:r>
              <a:rPr sz="750" b="0">
                <a:solidFill>
                  <a:srgbClr val="243B53"/>
                </a:solidFill>
              </a:rPr>
              <a:t>不同角色职责分离，访问路径清晰。</a:t>
            </a:r>
          </a:p>
        </p:txBody>
      </p:sp>
      <p:sp>
        <p:nvSpPr>
          <p:cNvPr id="49" name="">
            <a:extLst xmlns:a="http://schemas.openxmlformats.org/drawingml/2006/main">
              <a:ext uri="{FF2B5EF4-FFF2-40B4-BE49-F238E27FC236}">
                <a16:creationId xmlns:a16="http://schemas.microsoft.com/office/drawing/2014/main" id="{3D225514-8135-448D-8A05-3F275337C4FD}"/>
              </a:ext>
            </a:extLst>
          </p:cNvPr>
          <p:cNvSpPr>
            <a:spLocks xmlns:a="http://schemas.openxmlformats.org/drawingml/2006/main" noGrp="1"/>
          </p:cNvSpPr>
          <p:nvPr/>
        </p:nvSpPr>
        <p:spPr>
          <a:xfrm xmlns:a="http://schemas.openxmlformats.org/drawingml/2006/main">
            <a:off x="7658100" y="3181350"/>
            <a:ext cx="3600450" cy="304800"/>
          </a:xfrm>
          <a:prstGeom xmlns:a="http://schemas.openxmlformats.org/drawingml/2006/main" prst="roundRect">
            <a:avLst>
              <a:gd name="adj" fmla="val 25000"/>
            </a:avLst>
          </a:prstGeom>
          <a:solidFill xmlns:a="http://schemas.openxmlformats.org/drawingml/2006/main">
            <a:srgbClr val="FFF0EC"/>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0EE4B9DF-FE4E-4F83-98C2-847E99526883}"/>
              </a:ext>
            </a:extLst>
          </p:cNvPr>
          <p:cNvSpPr>
            <a:spLocks xmlns:a="http://schemas.openxmlformats.org/drawingml/2006/main" noGrp="1"/>
          </p:cNvSpPr>
          <p:nvPr/>
        </p:nvSpPr>
        <p:spPr>
          <a:xfrm xmlns:a="http://schemas.openxmlformats.org/drawingml/2006/main">
            <a:off x="7791450" y="3257550"/>
            <a:ext cx="1143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1765B"/>
                </a:solidFill>
              </a:defRPr>
            </a:pPr>
            <a:r>
              <a:rPr sz="825" b="1">
                <a:solidFill>
                  <a:srgbClr val="F1765B"/>
                </a:solidFill>
              </a:rPr>
              <a:t>扩展能力良好</a:t>
            </a:r>
          </a:p>
        </p:txBody>
      </p:sp>
      <p:sp>
        <p:nvSpPr>
          <p:cNvPr id="51" name="">
            <a:extLst xmlns:a="http://schemas.openxmlformats.org/drawingml/2006/main">
              <a:ext uri="{FF2B5EF4-FFF2-40B4-BE49-F238E27FC236}">
                <a16:creationId xmlns:a16="http://schemas.microsoft.com/office/drawing/2014/main" id="{8487D865-B233-4CEB-B9C3-8BB20EF42A58}"/>
              </a:ext>
            </a:extLst>
          </p:cNvPr>
          <p:cNvSpPr>
            <a:spLocks xmlns:a="http://schemas.openxmlformats.org/drawingml/2006/main" noGrp="1"/>
          </p:cNvSpPr>
          <p:nvPr/>
        </p:nvSpPr>
        <p:spPr>
          <a:xfrm xmlns:a="http://schemas.openxmlformats.org/drawingml/2006/main">
            <a:off x="8991600" y="3257550"/>
            <a:ext cx="2152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50" b="0">
                <a:solidFill>
                  <a:srgbClr val="243B53"/>
                </a:solidFill>
              </a:defRPr>
            </a:pPr>
            <a:r>
              <a:rPr sz="750" b="0">
                <a:solidFill>
                  <a:srgbClr val="243B53"/>
                </a:solidFill>
              </a:rPr>
              <a:t>具备 AI、导出和文档处理等扩展基础。</a:t>
            </a:r>
          </a:p>
        </p:txBody>
      </p:sp>
      <p:sp>
        <p:nvSpPr>
          <p:cNvPr id="52" name="">
            <a:extLst xmlns:a="http://schemas.openxmlformats.org/drawingml/2006/main">
              <a:ext uri="{FF2B5EF4-FFF2-40B4-BE49-F238E27FC236}">
                <a16:creationId xmlns:a16="http://schemas.microsoft.com/office/drawing/2014/main" id="{EF669ECB-3CE9-4866-AA97-103376894A1B}"/>
              </a:ext>
            </a:extLst>
          </p:cNvPr>
          <p:cNvSpPr>
            <a:spLocks xmlns:a="http://schemas.openxmlformats.org/drawingml/2006/main" noGrp="1"/>
          </p:cNvSpPr>
          <p:nvPr/>
        </p:nvSpPr>
        <p:spPr>
          <a:xfrm xmlns:a="http://schemas.openxmlformats.org/drawingml/2006/main">
            <a:off x="7410450" y="3771900"/>
            <a:ext cx="4076700" cy="1771650"/>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9525">
            <a:solidFill>
              <a:srgbClr val="D9E2EC"/>
            </a:solidFill>
            <a:prstDash val="solid"/>
          </a:ln>
        </p:spPr>
      </p:sp>
      <p:sp>
        <p:nvSpPr>
          <p:cNvPr id="53" name="">
            <a:extLst xmlns:a="http://schemas.openxmlformats.org/drawingml/2006/main">
              <a:ext uri="{FF2B5EF4-FFF2-40B4-BE49-F238E27FC236}">
                <a16:creationId xmlns:a16="http://schemas.microsoft.com/office/drawing/2014/main" id="{436C70BF-2C66-44FA-9EB2-76985885A6E1}"/>
              </a:ext>
            </a:extLst>
          </p:cNvPr>
          <p:cNvSpPr>
            <a:spLocks xmlns:a="http://schemas.openxmlformats.org/drawingml/2006/main" noGrp="1"/>
          </p:cNvSpPr>
          <p:nvPr/>
        </p:nvSpPr>
        <p:spPr>
          <a:xfrm xmlns:a="http://schemas.openxmlformats.org/drawingml/2006/main">
            <a:off x="7639050" y="400050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2A43"/>
                </a:solidFill>
              </a:defRPr>
            </a:pPr>
            <a:r>
              <a:rPr sz="1350" b="1">
                <a:solidFill>
                  <a:srgbClr val="102A43"/>
                </a:solidFill>
              </a:rPr>
              <a:t>答辩建议</a:t>
            </a:r>
          </a:p>
        </p:txBody>
      </p:sp>
      <p:sp>
        <p:nvSpPr>
          <p:cNvPr id="54" name="">
            <a:extLst xmlns:a="http://schemas.openxmlformats.org/drawingml/2006/main">
              <a:ext uri="{FF2B5EF4-FFF2-40B4-BE49-F238E27FC236}">
                <a16:creationId xmlns:a16="http://schemas.microsoft.com/office/drawing/2014/main" id="{7BE08106-2188-416A-89E7-7E002BFDD09E}"/>
              </a:ext>
            </a:extLst>
          </p:cNvPr>
          <p:cNvSpPr>
            <a:spLocks xmlns:a="http://schemas.openxmlformats.org/drawingml/2006/main" noGrp="1"/>
          </p:cNvSpPr>
          <p:nvPr/>
        </p:nvSpPr>
        <p:spPr>
          <a:xfrm xmlns:a="http://schemas.openxmlformats.org/drawingml/2006/main">
            <a:off x="7658100" y="44005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55" name="">
            <a:extLst xmlns:a="http://schemas.openxmlformats.org/drawingml/2006/main">
              <a:ext uri="{FF2B5EF4-FFF2-40B4-BE49-F238E27FC236}">
                <a16:creationId xmlns:a16="http://schemas.microsoft.com/office/drawing/2014/main" id="{5C6CB4CE-5431-4400-B7FB-33184B54A168}"/>
              </a:ext>
            </a:extLst>
          </p:cNvPr>
          <p:cNvSpPr>
            <a:spLocks xmlns:a="http://schemas.openxmlformats.org/drawingml/2006/main" noGrp="1"/>
          </p:cNvSpPr>
          <p:nvPr/>
        </p:nvSpPr>
        <p:spPr>
          <a:xfrm xmlns:a="http://schemas.openxmlformats.org/drawingml/2006/main">
            <a:off x="7848600" y="4324350"/>
            <a:ext cx="3333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243B53"/>
                </a:solidFill>
              </a:defRPr>
            </a:pPr>
            <a:r>
              <a:rPr sz="900" b="0">
                <a:solidFill>
                  <a:srgbClr val="243B53"/>
                </a:solidFill>
              </a:rPr>
              <a:t>强调系统不是静态页面，而是具备状态回写与权限控制的业务系统。</a:t>
            </a:r>
          </a:p>
        </p:txBody>
      </p:sp>
      <p:sp>
        <p:nvSpPr>
          <p:cNvPr id="56" name="">
            <a:extLst xmlns:a="http://schemas.openxmlformats.org/drawingml/2006/main">
              <a:ext uri="{FF2B5EF4-FFF2-40B4-BE49-F238E27FC236}">
                <a16:creationId xmlns:a16="http://schemas.microsoft.com/office/drawing/2014/main" id="{A7E0780F-406D-4C8A-BE70-C6A3FE74062B}"/>
              </a:ext>
            </a:extLst>
          </p:cNvPr>
          <p:cNvSpPr>
            <a:spLocks xmlns:a="http://schemas.openxmlformats.org/drawingml/2006/main" noGrp="1"/>
          </p:cNvSpPr>
          <p:nvPr/>
        </p:nvSpPr>
        <p:spPr>
          <a:xfrm xmlns:a="http://schemas.openxmlformats.org/drawingml/2006/main">
            <a:off x="7658100" y="476250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57" name="">
            <a:extLst xmlns:a="http://schemas.openxmlformats.org/drawingml/2006/main">
              <a:ext uri="{FF2B5EF4-FFF2-40B4-BE49-F238E27FC236}">
                <a16:creationId xmlns:a16="http://schemas.microsoft.com/office/drawing/2014/main" id="{07559560-6B12-49BA-B1CC-C7682D2273BF}"/>
              </a:ext>
            </a:extLst>
          </p:cNvPr>
          <p:cNvSpPr>
            <a:spLocks xmlns:a="http://schemas.openxmlformats.org/drawingml/2006/main" noGrp="1"/>
          </p:cNvSpPr>
          <p:nvPr/>
        </p:nvSpPr>
        <p:spPr>
          <a:xfrm xmlns:a="http://schemas.openxmlformats.org/drawingml/2006/main">
            <a:off x="7848600" y="4686300"/>
            <a:ext cx="3333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243B53"/>
                </a:solidFill>
              </a:defRPr>
            </a:pPr>
            <a:r>
              <a:rPr sz="900" b="0">
                <a:solidFill>
                  <a:srgbClr val="243B53"/>
                </a:solidFill>
              </a:rPr>
              <a:t>回答老师提问时，可从“为什么这样分角色”和“为什么这样推进流程”两个角度展开。</a:t>
            </a:r>
          </a:p>
        </p:txBody>
      </p:sp>
      <p:sp>
        <p:nvSpPr>
          <p:cNvPr id="58" name="">
            <a:extLst xmlns:a="http://schemas.openxmlformats.org/drawingml/2006/main">
              <a:ext uri="{FF2B5EF4-FFF2-40B4-BE49-F238E27FC236}">
                <a16:creationId xmlns:a16="http://schemas.microsoft.com/office/drawing/2014/main" id="{FA57E459-44F3-478C-B628-B4CC5DF5ACAF}"/>
              </a:ext>
            </a:extLst>
          </p:cNvPr>
          <p:cNvSpPr>
            <a:spLocks xmlns:a="http://schemas.openxmlformats.org/drawingml/2006/main" noGrp="1"/>
          </p:cNvSpPr>
          <p:nvPr/>
        </p:nvSpPr>
        <p:spPr>
          <a:xfrm xmlns:a="http://schemas.openxmlformats.org/drawingml/2006/main">
            <a:off x="7658100" y="5124450"/>
            <a:ext cx="76200" cy="76200"/>
          </a:xfrm>
          <a:prstGeom xmlns:a="http://schemas.openxmlformats.org/drawingml/2006/main" prst="ellipse">
            <a:avLst/>
          </a:prstGeom>
          <a:solidFill xmlns:a="http://schemas.openxmlformats.org/drawingml/2006/main">
            <a:srgbClr val="18B6B0"/>
          </a:solidFill>
          <a:ln xmlns:a="http://schemas.openxmlformats.org/drawingml/2006/main" w="0">
            <a:solidFill>
              <a:srgbClr val="18B6B0"/>
            </a:solidFill>
            <a:prstDash val="solid"/>
          </a:ln>
        </p:spPr>
      </p:sp>
      <p:sp>
        <p:nvSpPr>
          <p:cNvPr id="59" name="">
            <a:extLst xmlns:a="http://schemas.openxmlformats.org/drawingml/2006/main">
              <a:ext uri="{FF2B5EF4-FFF2-40B4-BE49-F238E27FC236}">
                <a16:creationId xmlns:a16="http://schemas.microsoft.com/office/drawing/2014/main" id="{4843F5C3-CC98-4CEF-89D0-4F1429674EB4}"/>
              </a:ext>
            </a:extLst>
          </p:cNvPr>
          <p:cNvSpPr>
            <a:spLocks xmlns:a="http://schemas.openxmlformats.org/drawingml/2006/main" noGrp="1"/>
          </p:cNvSpPr>
          <p:nvPr/>
        </p:nvSpPr>
        <p:spPr>
          <a:xfrm xmlns:a="http://schemas.openxmlformats.org/drawingml/2006/main">
            <a:off x="7848600" y="5048250"/>
            <a:ext cx="3333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243B53"/>
                </a:solidFill>
              </a:defRPr>
            </a:pPr>
            <a:r>
              <a:rPr sz="900" b="0">
                <a:solidFill>
                  <a:srgbClr val="243B53"/>
                </a:solidFill>
              </a:rPr>
              <a:t>如果被追问创新点，可重点讲 AI 接口接入和成果自动归档逻辑。</a:t>
            </a:r>
          </a:p>
        </p:txBody>
      </p:sp>
    </p:spTree>
    <p:extLst>
      <p:ext uri="{BB962C8B-B14F-4D97-AF65-F5344CB8AC3E}">
        <p14:creationId xmlns:p14="http://schemas.microsoft.com/office/powerpoint/2010/main" val="1816600176"/>
      </p:ext>
    </p:extLst>
  </p:cSld>
</p:sld>
</file>

<file path=ppt/slides/slide16.xml><?xml version="1.0" encoding="utf-8"?>
<p:sld xmlns:p="http://schemas.openxmlformats.org/presentationml/2006/main">
  <p:cSld>
    <p:bg>
      <p:bgPr>
        <a:solidFill xmlns:a="http://schemas.openxmlformats.org/drawingml/2006/main">
          <a:srgbClr val="0C2438"/>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70286F-4F96-4351-B815-99A4A8F8DC5E}"/>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EDC51D8-0E1A-4118-8FAA-8573A5E9F2EE}"/>
              </a:ext>
            </a:extLst>
          </p:cNvPr>
          <p:cNvSpPr>
            <a:spLocks xmlns:a="http://schemas.openxmlformats.org/drawingml/2006/main" noGrp="1"/>
          </p:cNvSpPr>
          <p:nvPr/>
        </p:nvSpPr>
        <p:spPr>
          <a:xfrm xmlns:a="http://schemas.openxmlformats.org/drawingml/2006/main">
            <a:off x="8763000" y="-381000"/>
            <a:ext cx="3048000" cy="1905000"/>
          </a:xfrm>
          <a:prstGeom xmlns:a="http://schemas.openxmlformats.org/drawingml/2006/main" prst="ellipse">
            <a:avLst/>
          </a:prstGeom>
          <a:solidFill xmlns:a="http://schemas.openxmlformats.org/drawingml/2006/main">
            <a:srgbClr val="18B6B0">
              <a:alpha val="12549"/>
            </a:srgbClr>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AA876FA-A3FF-4BE2-94B4-FB79C033DBE6}"/>
              </a:ext>
            </a:extLst>
          </p:cNvPr>
          <p:cNvSpPr>
            <a:spLocks xmlns:a="http://schemas.openxmlformats.org/drawingml/2006/main" noGrp="1"/>
          </p:cNvSpPr>
          <p:nvPr/>
        </p:nvSpPr>
        <p:spPr>
          <a:xfrm xmlns:a="http://schemas.openxmlformats.org/drawingml/2006/main">
            <a:off x="-285750" y="4857750"/>
            <a:ext cx="2667000" cy="1714500"/>
          </a:xfrm>
          <a:prstGeom xmlns:a="http://schemas.openxmlformats.org/drawingml/2006/main" prst="ellipse">
            <a:avLst/>
          </a:prstGeom>
          <a:solidFill xmlns:a="http://schemas.openxmlformats.org/drawingml/2006/main">
            <a:srgbClr val="F2B35E">
              <a:alpha val="9412"/>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0568A46-BCA9-4CA2-B82A-2AD11CB66F03}"/>
              </a:ext>
            </a:extLst>
          </p:cNvPr>
          <p:cNvSpPr>
            <a:spLocks xmlns:a="http://schemas.openxmlformats.org/drawingml/2006/main" noGrp="1"/>
          </p:cNvSpPr>
          <p:nvPr/>
        </p:nvSpPr>
        <p:spPr>
          <a:xfrm xmlns:a="http://schemas.openxmlformats.org/drawingml/2006/main">
            <a:off x="723900" y="781050"/>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A7F3E9"/>
                </a:solidFill>
              </a:defRPr>
            </a:pPr>
            <a:r>
              <a:rPr sz="1050" b="1">
                <a:solidFill>
                  <a:srgbClr val="A7F3E9"/>
                </a:solidFill>
              </a:rPr>
              <a:t>总结与展望</a:t>
            </a:r>
          </a:p>
        </p:txBody>
      </p:sp>
      <p:sp>
        <p:nvSpPr>
          <p:cNvPr id="5" name="">
            <a:extLst xmlns:a="http://schemas.openxmlformats.org/drawingml/2006/main">
              <a:ext uri="{FF2B5EF4-FFF2-40B4-BE49-F238E27FC236}">
                <a16:creationId xmlns:a16="http://schemas.microsoft.com/office/drawing/2014/main" id="{9C810256-9B07-426B-A8B2-5A8CE8BF79A5}"/>
              </a:ext>
            </a:extLst>
          </p:cNvPr>
          <p:cNvSpPr>
            <a:spLocks xmlns:a="http://schemas.openxmlformats.org/drawingml/2006/main" noGrp="1"/>
          </p:cNvSpPr>
          <p:nvPr/>
        </p:nvSpPr>
        <p:spPr>
          <a:xfrm xmlns:a="http://schemas.openxmlformats.org/drawingml/2006/main">
            <a:off x="723900" y="1257300"/>
            <a:ext cx="342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FFFFF"/>
                </a:solidFill>
              </a:defRPr>
            </a:pPr>
            <a:r>
              <a:rPr sz="3150" b="1">
                <a:solidFill>
                  <a:srgbClr val="FFFFFF"/>
                </a:solidFill>
              </a:rPr>
              <a:t>感谢聆听</a:t>
            </a:r>
          </a:p>
        </p:txBody>
      </p:sp>
      <p:sp>
        <p:nvSpPr>
          <p:cNvPr id="6" name="">
            <a:extLst xmlns:a="http://schemas.openxmlformats.org/drawingml/2006/main">
              <a:ext uri="{FF2B5EF4-FFF2-40B4-BE49-F238E27FC236}">
                <a16:creationId xmlns:a16="http://schemas.microsoft.com/office/drawing/2014/main" id="{0CD62AA1-0D4A-47E8-99E7-A3B95AF9202C}"/>
              </a:ext>
            </a:extLst>
          </p:cNvPr>
          <p:cNvSpPr>
            <a:spLocks xmlns:a="http://schemas.openxmlformats.org/drawingml/2006/main" noGrp="1"/>
          </p:cNvSpPr>
          <p:nvPr/>
        </p:nvSpPr>
        <p:spPr>
          <a:xfrm xmlns:a="http://schemas.openxmlformats.org/drawingml/2006/main">
            <a:off x="723900" y="18478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E2EC"/>
                </a:solidFill>
              </a:defRPr>
            </a:pPr>
            <a:r>
              <a:rPr sz="1650" b="1">
                <a:solidFill>
                  <a:srgbClr val="D9E2EC"/>
                </a:solidFill>
              </a:rPr>
              <a:t>Q &amp; A</a:t>
            </a:r>
          </a:p>
        </p:txBody>
      </p:sp>
      <p:sp>
        <p:nvSpPr>
          <p:cNvPr id="7" name="">
            <a:extLst xmlns:a="http://schemas.openxmlformats.org/drawingml/2006/main">
              <a:ext uri="{FF2B5EF4-FFF2-40B4-BE49-F238E27FC236}">
                <a16:creationId xmlns:a16="http://schemas.microsoft.com/office/drawing/2014/main" id="{2C73E419-636A-4D10-A2DC-176A3774463B}"/>
              </a:ext>
            </a:extLst>
          </p:cNvPr>
          <p:cNvSpPr>
            <a:spLocks xmlns:a="http://schemas.openxmlformats.org/drawingml/2006/main" noGrp="1"/>
          </p:cNvSpPr>
          <p:nvPr/>
        </p:nvSpPr>
        <p:spPr>
          <a:xfrm xmlns:a="http://schemas.openxmlformats.org/drawingml/2006/main">
            <a:off x="723900" y="2400300"/>
            <a:ext cx="4000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E8F4F8"/>
                </a:solidFill>
              </a:defRPr>
            </a:pPr>
            <a:r>
              <a:rPr sz="1125" b="0">
                <a:solidFill>
                  <a:srgbClr val="E8F4F8"/>
                </a:solidFill>
              </a:rPr>
              <a:t>本课题围绕高校科研管理业务，完成了从需求分析、系统设计到关键模块实现与答辩展示的整体工作。</a:t>
            </a:r>
          </a:p>
        </p:txBody>
      </p:sp>
      <p:sp>
        <p:nvSpPr>
          <p:cNvPr id="8" name="">
            <a:extLst xmlns:a="http://schemas.openxmlformats.org/drawingml/2006/main">
              <a:ext uri="{FF2B5EF4-FFF2-40B4-BE49-F238E27FC236}">
                <a16:creationId xmlns:a16="http://schemas.microsoft.com/office/drawing/2014/main" id="{CD8BDD99-4DD3-4427-A44E-567FB5E2549F}"/>
              </a:ext>
            </a:extLst>
          </p:cNvPr>
          <p:cNvSpPr>
            <a:spLocks xmlns:a="http://schemas.openxmlformats.org/drawingml/2006/main" noGrp="1"/>
          </p:cNvSpPr>
          <p:nvPr/>
        </p:nvSpPr>
        <p:spPr>
          <a:xfrm xmlns:a="http://schemas.openxmlformats.org/drawingml/2006/main">
            <a:off x="723900" y="3162300"/>
            <a:ext cx="1219200" cy="266700"/>
          </a:xfrm>
          <a:prstGeom xmlns:a="http://schemas.openxmlformats.org/drawingml/2006/main" prst="roundRect">
            <a:avLst>
              <a:gd name="adj" fmla="val 28571"/>
            </a:avLst>
          </a:prstGeom>
          <a:solidFill xmlns:a="http://schemas.openxmlformats.org/drawingml/2006/main">
            <a:srgbClr val="FFFFFF">
              <a:alpha val="7843"/>
            </a:srgbClr>
          </a:solidFill>
          <a:ln xmlns:a="http://schemas.openxmlformats.org/drawingml/2006/main" w="9525">
            <a:solidFill>
              <a:srgbClr val="FFFFFF">
                <a:alpha val="12157"/>
              </a:srgbClr>
            </a:solidFill>
            <a:prstDash val="solid"/>
          </a:ln>
        </p:spPr>
      </p:sp>
      <p:sp>
        <p:nvSpPr>
          <p:cNvPr id="9" name="">
            <a:extLst xmlns:a="http://schemas.openxmlformats.org/drawingml/2006/main">
              <a:ext uri="{FF2B5EF4-FFF2-40B4-BE49-F238E27FC236}">
                <a16:creationId xmlns:a16="http://schemas.microsoft.com/office/drawing/2014/main" id="{8DA005E2-9E43-49DE-872A-69E1D08F6BF5}"/>
              </a:ext>
            </a:extLst>
          </p:cNvPr>
          <p:cNvSpPr>
            <a:spLocks xmlns:a="http://schemas.openxmlformats.org/drawingml/2006/main" noGrp="1"/>
          </p:cNvSpPr>
          <p:nvPr/>
        </p:nvSpPr>
        <p:spPr>
          <a:xfrm xmlns:a="http://schemas.openxmlformats.org/drawingml/2006/main">
            <a:off x="838200" y="3200400"/>
            <a:ext cx="990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FFFFF"/>
                </a:solidFill>
              </a:defRPr>
            </a:pPr>
            <a:r>
              <a:rPr sz="900" b="1">
                <a:solidFill>
                  <a:srgbClr val="FFFFFF"/>
                </a:solidFill>
              </a:rPr>
              <a:t>本科论文答辩</a:t>
            </a:r>
          </a:p>
        </p:txBody>
      </p:sp>
      <p:sp>
        <p:nvSpPr>
          <p:cNvPr id="10" name="">
            <a:extLst xmlns:a="http://schemas.openxmlformats.org/drawingml/2006/main">
              <a:ext uri="{FF2B5EF4-FFF2-40B4-BE49-F238E27FC236}">
                <a16:creationId xmlns:a16="http://schemas.microsoft.com/office/drawing/2014/main" id="{CECDDBCC-45CE-4BE2-A016-A0F26EF9021D}"/>
              </a:ext>
            </a:extLst>
          </p:cNvPr>
          <p:cNvSpPr>
            <a:spLocks xmlns:a="http://schemas.openxmlformats.org/drawingml/2006/main" noGrp="1"/>
          </p:cNvSpPr>
          <p:nvPr/>
        </p:nvSpPr>
        <p:spPr>
          <a:xfrm xmlns:a="http://schemas.openxmlformats.org/drawingml/2006/main">
            <a:off x="5334000" y="933450"/>
            <a:ext cx="5715000" cy="2209800"/>
          </a:xfrm>
          <a:prstGeom xmlns:a="http://schemas.openxmlformats.org/drawingml/2006/main" prst="roundRect">
            <a:avLst>
              <a:gd name="adj" fmla="val 3448"/>
            </a:avLst>
          </a:prstGeom>
          <a:solidFill xmlns:a="http://schemas.openxmlformats.org/drawingml/2006/main">
            <a:srgbClr val="FFFFFF">
              <a:alpha val="6275"/>
            </a:srgbClr>
          </a:solidFill>
          <a:ln xmlns:a="http://schemas.openxmlformats.org/drawingml/2006/main" w="9525">
            <a:solidFill>
              <a:srgbClr val="FFFFFF">
                <a:alpha val="13333"/>
              </a:srgbClr>
            </a:solidFill>
            <a:prstDash val="solid"/>
          </a:ln>
        </p:spPr>
      </p:sp>
      <p:sp>
        <p:nvSpPr>
          <p:cNvPr id="11" name="">
            <a:extLst xmlns:a="http://schemas.openxmlformats.org/drawingml/2006/main">
              <a:ext uri="{FF2B5EF4-FFF2-40B4-BE49-F238E27FC236}">
                <a16:creationId xmlns:a16="http://schemas.microsoft.com/office/drawing/2014/main" id="{03E1CDC8-B49A-48F1-95F5-3FF38C6135F6}"/>
              </a:ext>
            </a:extLst>
          </p:cNvPr>
          <p:cNvSpPr>
            <a:spLocks xmlns:a="http://schemas.openxmlformats.org/drawingml/2006/main" noGrp="1"/>
          </p:cNvSpPr>
          <p:nvPr/>
        </p:nvSpPr>
        <p:spPr>
          <a:xfrm xmlns:a="http://schemas.openxmlformats.org/drawingml/2006/main">
            <a:off x="5600700" y="120015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defRPr>
            </a:pPr>
            <a:r>
              <a:rPr sz="1500" b="1">
                <a:solidFill>
                  <a:srgbClr val="FFFFFF"/>
                </a:solidFill>
              </a:rPr>
              <a:t>论文工作总结</a:t>
            </a:r>
          </a:p>
        </p:txBody>
      </p:sp>
      <p:sp>
        <p:nvSpPr>
          <p:cNvPr id="12" name="">
            <a:extLst xmlns:a="http://schemas.openxmlformats.org/drawingml/2006/main">
              <a:ext uri="{FF2B5EF4-FFF2-40B4-BE49-F238E27FC236}">
                <a16:creationId xmlns:a16="http://schemas.microsoft.com/office/drawing/2014/main" id="{CCB25682-B023-4C2B-A296-717CD7B8B1BD}"/>
              </a:ext>
            </a:extLst>
          </p:cNvPr>
          <p:cNvSpPr>
            <a:spLocks xmlns:a="http://schemas.openxmlformats.org/drawingml/2006/main" noGrp="1"/>
          </p:cNvSpPr>
          <p:nvPr/>
        </p:nvSpPr>
        <p:spPr>
          <a:xfrm xmlns:a="http://schemas.openxmlformats.org/drawingml/2006/main">
            <a:off x="5619750" y="163830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13" name="">
            <a:extLst xmlns:a="http://schemas.openxmlformats.org/drawingml/2006/main">
              <a:ext uri="{FF2B5EF4-FFF2-40B4-BE49-F238E27FC236}">
                <a16:creationId xmlns:a16="http://schemas.microsoft.com/office/drawing/2014/main" id="{54774DC6-B368-44B0-8F8F-C14CEAFA43D0}"/>
              </a:ext>
            </a:extLst>
          </p:cNvPr>
          <p:cNvSpPr>
            <a:spLocks xmlns:a="http://schemas.openxmlformats.org/drawingml/2006/main" noGrp="1"/>
          </p:cNvSpPr>
          <p:nvPr/>
        </p:nvSpPr>
        <p:spPr>
          <a:xfrm xmlns:a="http://schemas.openxmlformats.org/drawingml/2006/main">
            <a:off x="5810250" y="1562100"/>
            <a:ext cx="4762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E8F4F8"/>
                </a:solidFill>
              </a:defRPr>
            </a:pPr>
            <a:r>
              <a:rPr sz="1050" b="0">
                <a:solidFill>
                  <a:srgbClr val="E8F4F8"/>
                </a:solidFill>
              </a:rPr>
              <a:t>完成高校科研管理系统的总体架构、模块划分与权限设计。</a:t>
            </a:r>
          </a:p>
        </p:txBody>
      </p:sp>
      <p:sp>
        <p:nvSpPr>
          <p:cNvPr id="14" name="">
            <a:extLst xmlns:a="http://schemas.openxmlformats.org/drawingml/2006/main">
              <a:ext uri="{FF2B5EF4-FFF2-40B4-BE49-F238E27FC236}">
                <a16:creationId xmlns:a16="http://schemas.microsoft.com/office/drawing/2014/main" id="{E74458AA-E94B-43A5-B75E-860198EEC164}"/>
              </a:ext>
            </a:extLst>
          </p:cNvPr>
          <p:cNvSpPr>
            <a:spLocks xmlns:a="http://schemas.openxmlformats.org/drawingml/2006/main" noGrp="1"/>
          </p:cNvSpPr>
          <p:nvPr/>
        </p:nvSpPr>
        <p:spPr>
          <a:xfrm xmlns:a="http://schemas.openxmlformats.org/drawingml/2006/main">
            <a:off x="5619750" y="203835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15" name="">
            <a:extLst xmlns:a="http://schemas.openxmlformats.org/drawingml/2006/main">
              <a:ext uri="{FF2B5EF4-FFF2-40B4-BE49-F238E27FC236}">
                <a16:creationId xmlns:a16="http://schemas.microsoft.com/office/drawing/2014/main" id="{A3C73299-51AC-4DE5-8831-08C798F9D80C}"/>
              </a:ext>
            </a:extLst>
          </p:cNvPr>
          <p:cNvSpPr>
            <a:spLocks xmlns:a="http://schemas.openxmlformats.org/drawingml/2006/main" noGrp="1"/>
          </p:cNvSpPr>
          <p:nvPr/>
        </p:nvSpPr>
        <p:spPr>
          <a:xfrm xmlns:a="http://schemas.openxmlformats.org/drawingml/2006/main">
            <a:off x="5810250" y="1962150"/>
            <a:ext cx="4762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E8F4F8"/>
                </a:solidFill>
              </a:defRPr>
            </a:pPr>
            <a:r>
              <a:rPr sz="1050" b="0">
                <a:solidFill>
                  <a:srgbClr val="E8F4F8"/>
                </a:solidFill>
              </a:rPr>
              <a:t>实现项目管理、流程审批、报销协同、成果管理与 AI 助手等核心功能。</a:t>
            </a:r>
          </a:p>
        </p:txBody>
      </p:sp>
      <p:sp>
        <p:nvSpPr>
          <p:cNvPr id="16" name="">
            <a:extLst xmlns:a="http://schemas.openxmlformats.org/drawingml/2006/main">
              <a:ext uri="{FF2B5EF4-FFF2-40B4-BE49-F238E27FC236}">
                <a16:creationId xmlns:a16="http://schemas.microsoft.com/office/drawing/2014/main" id="{5AFBF9A4-4B37-430C-A439-7B164A4AD381}"/>
              </a:ext>
            </a:extLst>
          </p:cNvPr>
          <p:cNvSpPr>
            <a:spLocks xmlns:a="http://schemas.openxmlformats.org/drawingml/2006/main" noGrp="1"/>
          </p:cNvSpPr>
          <p:nvPr/>
        </p:nvSpPr>
        <p:spPr>
          <a:xfrm xmlns:a="http://schemas.openxmlformats.org/drawingml/2006/main">
            <a:off x="5619750" y="2438400"/>
            <a:ext cx="76200" cy="76200"/>
          </a:xfrm>
          <a:prstGeom xmlns:a="http://schemas.openxmlformats.org/drawingml/2006/main" prst="ellipse">
            <a:avLst/>
          </a:prstGeom>
          <a:solidFill xmlns:a="http://schemas.openxmlformats.org/drawingml/2006/main">
            <a:srgbClr val="A7F3E9"/>
          </a:solidFill>
          <a:ln xmlns:a="http://schemas.openxmlformats.org/drawingml/2006/main" w="0">
            <a:solidFill>
              <a:srgbClr val="A7F3E9"/>
            </a:solidFill>
            <a:prstDash val="solid"/>
          </a:ln>
        </p:spPr>
      </p:sp>
      <p:sp>
        <p:nvSpPr>
          <p:cNvPr id="17" name="">
            <a:extLst xmlns:a="http://schemas.openxmlformats.org/drawingml/2006/main">
              <a:ext uri="{FF2B5EF4-FFF2-40B4-BE49-F238E27FC236}">
                <a16:creationId xmlns:a16="http://schemas.microsoft.com/office/drawing/2014/main" id="{FBE5C613-719E-4227-9C2B-81D478D572A2}"/>
              </a:ext>
            </a:extLst>
          </p:cNvPr>
          <p:cNvSpPr>
            <a:spLocks xmlns:a="http://schemas.openxmlformats.org/drawingml/2006/main" noGrp="1"/>
          </p:cNvSpPr>
          <p:nvPr/>
        </p:nvSpPr>
        <p:spPr>
          <a:xfrm xmlns:a="http://schemas.openxmlformats.org/drawingml/2006/main">
            <a:off x="5810250" y="2362200"/>
            <a:ext cx="4762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E8F4F8"/>
                </a:solidFill>
              </a:defRPr>
            </a:pPr>
            <a:r>
              <a:rPr sz="1050" b="0">
                <a:solidFill>
                  <a:srgbClr val="E8F4F8"/>
                </a:solidFill>
              </a:rPr>
              <a:t>形成适合本科答辩展示的系统说明、流程逻辑与界面原型。</a:t>
            </a:r>
          </a:p>
        </p:txBody>
      </p:sp>
      <p:sp>
        <p:nvSpPr>
          <p:cNvPr id="18" name="">
            <a:extLst xmlns:a="http://schemas.openxmlformats.org/drawingml/2006/main">
              <a:ext uri="{FF2B5EF4-FFF2-40B4-BE49-F238E27FC236}">
                <a16:creationId xmlns:a16="http://schemas.microsoft.com/office/drawing/2014/main" id="{2904511B-B498-4B97-8211-673B17D91E4A}"/>
              </a:ext>
            </a:extLst>
          </p:cNvPr>
          <p:cNvSpPr>
            <a:spLocks xmlns:a="http://schemas.openxmlformats.org/drawingml/2006/main" noGrp="1"/>
          </p:cNvSpPr>
          <p:nvPr/>
        </p:nvSpPr>
        <p:spPr>
          <a:xfrm xmlns:a="http://schemas.openxmlformats.org/drawingml/2006/main">
            <a:off x="5334000" y="3543300"/>
            <a:ext cx="5715000" cy="2209800"/>
          </a:xfrm>
          <a:prstGeom xmlns:a="http://schemas.openxmlformats.org/drawingml/2006/main" prst="roundRect">
            <a:avLst>
              <a:gd name="adj" fmla="val 3448"/>
            </a:avLst>
          </a:prstGeom>
          <a:solidFill xmlns:a="http://schemas.openxmlformats.org/drawingml/2006/main">
            <a:srgbClr val="FFFFFF">
              <a:alpha val="6275"/>
            </a:srgbClr>
          </a:solidFill>
          <a:ln xmlns:a="http://schemas.openxmlformats.org/drawingml/2006/main" w="9525">
            <a:solidFill>
              <a:srgbClr val="FFFFFF">
                <a:alpha val="13333"/>
              </a:srgbClr>
            </a:solidFill>
            <a:prstDash val="solid"/>
          </a:ln>
        </p:spPr>
      </p:sp>
      <p:sp>
        <p:nvSpPr>
          <p:cNvPr id="19" name="">
            <a:extLst xmlns:a="http://schemas.openxmlformats.org/drawingml/2006/main">
              <a:ext uri="{FF2B5EF4-FFF2-40B4-BE49-F238E27FC236}">
                <a16:creationId xmlns:a16="http://schemas.microsoft.com/office/drawing/2014/main" id="{20BD23E4-B97A-4355-A45C-DC96483DA66A}"/>
              </a:ext>
            </a:extLst>
          </p:cNvPr>
          <p:cNvSpPr>
            <a:spLocks xmlns:a="http://schemas.openxmlformats.org/drawingml/2006/main" noGrp="1"/>
          </p:cNvSpPr>
          <p:nvPr/>
        </p:nvSpPr>
        <p:spPr>
          <a:xfrm xmlns:a="http://schemas.openxmlformats.org/drawingml/2006/main">
            <a:off x="5600700" y="38100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defRPr>
            </a:pPr>
            <a:r>
              <a:rPr sz="1500" b="1">
                <a:solidFill>
                  <a:srgbClr val="FFFFFF"/>
                </a:solidFill>
              </a:rPr>
              <a:t>后续优化方向</a:t>
            </a:r>
          </a:p>
        </p:txBody>
      </p:sp>
      <p:sp>
        <p:nvSpPr>
          <p:cNvPr id="20" name="">
            <a:extLst xmlns:a="http://schemas.openxmlformats.org/drawingml/2006/main">
              <a:ext uri="{FF2B5EF4-FFF2-40B4-BE49-F238E27FC236}">
                <a16:creationId xmlns:a16="http://schemas.microsoft.com/office/drawing/2014/main" id="{0DED3F80-D63C-4C7B-86C7-93E253A849F6}"/>
              </a:ext>
            </a:extLst>
          </p:cNvPr>
          <p:cNvSpPr>
            <a:spLocks xmlns:a="http://schemas.openxmlformats.org/drawingml/2006/main" noGrp="1"/>
          </p:cNvSpPr>
          <p:nvPr/>
        </p:nvSpPr>
        <p:spPr>
          <a:xfrm xmlns:a="http://schemas.openxmlformats.org/drawingml/2006/main">
            <a:off x="5619750" y="4248150"/>
            <a:ext cx="76200" cy="76200"/>
          </a:xfrm>
          <a:prstGeom xmlns:a="http://schemas.openxmlformats.org/drawingml/2006/main" prst="ellipse">
            <a:avLst/>
          </a:prstGeom>
          <a:solidFill xmlns:a="http://schemas.openxmlformats.org/drawingml/2006/main">
            <a:srgbClr val="FFD9A8"/>
          </a:solidFill>
          <a:ln xmlns:a="http://schemas.openxmlformats.org/drawingml/2006/main" w="0">
            <a:solidFill>
              <a:srgbClr val="FFD9A8"/>
            </a:solidFill>
            <a:prstDash val="solid"/>
          </a:ln>
        </p:spPr>
      </p:sp>
      <p:sp>
        <p:nvSpPr>
          <p:cNvPr id="21" name="">
            <a:extLst xmlns:a="http://schemas.openxmlformats.org/drawingml/2006/main">
              <a:ext uri="{FF2B5EF4-FFF2-40B4-BE49-F238E27FC236}">
                <a16:creationId xmlns:a16="http://schemas.microsoft.com/office/drawing/2014/main" id="{3474F9E1-C681-43B9-B76C-B0D17573CEB3}"/>
              </a:ext>
            </a:extLst>
          </p:cNvPr>
          <p:cNvSpPr>
            <a:spLocks xmlns:a="http://schemas.openxmlformats.org/drawingml/2006/main" noGrp="1"/>
          </p:cNvSpPr>
          <p:nvPr/>
        </p:nvSpPr>
        <p:spPr>
          <a:xfrm xmlns:a="http://schemas.openxmlformats.org/drawingml/2006/main">
            <a:off x="5810250" y="4171950"/>
            <a:ext cx="4762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E8F4F8"/>
                </a:solidFill>
              </a:defRPr>
            </a:pPr>
            <a:r>
              <a:rPr sz="1050" b="0">
                <a:solidFill>
                  <a:srgbClr val="E8F4F8"/>
                </a:solidFill>
              </a:rPr>
              <a:t>补充自动化测试与更完整的异常场景覆盖，提升系统稳定性。</a:t>
            </a:r>
          </a:p>
        </p:txBody>
      </p:sp>
      <p:sp>
        <p:nvSpPr>
          <p:cNvPr id="22" name="">
            <a:extLst xmlns:a="http://schemas.openxmlformats.org/drawingml/2006/main">
              <a:ext uri="{FF2B5EF4-FFF2-40B4-BE49-F238E27FC236}">
                <a16:creationId xmlns:a16="http://schemas.microsoft.com/office/drawing/2014/main" id="{32677E51-44AA-4A35-99DC-535345346568}"/>
              </a:ext>
            </a:extLst>
          </p:cNvPr>
          <p:cNvSpPr>
            <a:spLocks xmlns:a="http://schemas.openxmlformats.org/drawingml/2006/main" noGrp="1"/>
          </p:cNvSpPr>
          <p:nvPr/>
        </p:nvSpPr>
        <p:spPr>
          <a:xfrm xmlns:a="http://schemas.openxmlformats.org/drawingml/2006/main">
            <a:off x="5619750" y="4648200"/>
            <a:ext cx="76200" cy="76200"/>
          </a:xfrm>
          <a:prstGeom xmlns:a="http://schemas.openxmlformats.org/drawingml/2006/main" prst="ellipse">
            <a:avLst/>
          </a:prstGeom>
          <a:solidFill xmlns:a="http://schemas.openxmlformats.org/drawingml/2006/main">
            <a:srgbClr val="FFD9A8"/>
          </a:solidFill>
          <a:ln xmlns:a="http://schemas.openxmlformats.org/drawingml/2006/main" w="0">
            <a:solidFill>
              <a:srgbClr val="FFD9A8"/>
            </a:solidFill>
            <a:prstDash val="solid"/>
          </a:ln>
        </p:spPr>
      </p:sp>
      <p:sp>
        <p:nvSpPr>
          <p:cNvPr id="23" name="">
            <a:extLst xmlns:a="http://schemas.openxmlformats.org/drawingml/2006/main">
              <a:ext uri="{FF2B5EF4-FFF2-40B4-BE49-F238E27FC236}">
                <a16:creationId xmlns:a16="http://schemas.microsoft.com/office/drawing/2014/main" id="{02A42CBC-8A2A-472E-95E2-D0435FD08B56}"/>
              </a:ext>
            </a:extLst>
          </p:cNvPr>
          <p:cNvSpPr>
            <a:spLocks xmlns:a="http://schemas.openxmlformats.org/drawingml/2006/main" noGrp="1"/>
          </p:cNvSpPr>
          <p:nvPr/>
        </p:nvSpPr>
        <p:spPr>
          <a:xfrm xmlns:a="http://schemas.openxmlformats.org/drawingml/2006/main">
            <a:off x="5810250" y="4572000"/>
            <a:ext cx="4762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E8F4F8"/>
                </a:solidFill>
              </a:defRPr>
            </a:pPr>
            <a:r>
              <a:rPr sz="1050" b="0">
                <a:solidFill>
                  <a:srgbClr val="E8F4F8"/>
                </a:solidFill>
              </a:rPr>
              <a:t>引入消息提醒、待办推送和更精细的流程配置能力。</a:t>
            </a:r>
          </a:p>
        </p:txBody>
      </p:sp>
      <p:sp>
        <p:nvSpPr>
          <p:cNvPr id="24" name="">
            <a:extLst xmlns:a="http://schemas.openxmlformats.org/drawingml/2006/main">
              <a:ext uri="{FF2B5EF4-FFF2-40B4-BE49-F238E27FC236}">
                <a16:creationId xmlns:a16="http://schemas.microsoft.com/office/drawing/2014/main" id="{FCF9E47F-E681-4626-A906-40336B2D8E7A}"/>
              </a:ext>
            </a:extLst>
          </p:cNvPr>
          <p:cNvSpPr>
            <a:spLocks xmlns:a="http://schemas.openxmlformats.org/drawingml/2006/main" noGrp="1"/>
          </p:cNvSpPr>
          <p:nvPr/>
        </p:nvSpPr>
        <p:spPr>
          <a:xfrm xmlns:a="http://schemas.openxmlformats.org/drawingml/2006/main">
            <a:off x="5619750" y="5048250"/>
            <a:ext cx="76200" cy="76200"/>
          </a:xfrm>
          <a:prstGeom xmlns:a="http://schemas.openxmlformats.org/drawingml/2006/main" prst="ellipse">
            <a:avLst/>
          </a:prstGeom>
          <a:solidFill xmlns:a="http://schemas.openxmlformats.org/drawingml/2006/main">
            <a:srgbClr val="FFD9A8"/>
          </a:solidFill>
          <a:ln xmlns:a="http://schemas.openxmlformats.org/drawingml/2006/main" w="0">
            <a:solidFill>
              <a:srgbClr val="FFD9A8"/>
            </a:solidFill>
            <a:prstDash val="solid"/>
          </a:ln>
        </p:spPr>
      </p:sp>
      <p:sp>
        <p:nvSpPr>
          <p:cNvPr id="25" name="">
            <a:extLst xmlns:a="http://schemas.openxmlformats.org/drawingml/2006/main">
              <a:ext uri="{FF2B5EF4-FFF2-40B4-BE49-F238E27FC236}">
                <a16:creationId xmlns:a16="http://schemas.microsoft.com/office/drawing/2014/main" id="{0685A6FB-4B65-4905-A42C-49A9FB311534}"/>
              </a:ext>
            </a:extLst>
          </p:cNvPr>
          <p:cNvSpPr>
            <a:spLocks xmlns:a="http://schemas.openxmlformats.org/drawingml/2006/main" noGrp="1"/>
          </p:cNvSpPr>
          <p:nvPr/>
        </p:nvSpPr>
        <p:spPr>
          <a:xfrm xmlns:a="http://schemas.openxmlformats.org/drawingml/2006/main">
            <a:off x="5810250" y="4972050"/>
            <a:ext cx="4762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E8F4F8"/>
                </a:solidFill>
              </a:defRPr>
            </a:pPr>
            <a:r>
              <a:rPr sz="1050" b="0">
                <a:solidFill>
                  <a:srgbClr val="E8F4F8"/>
                </a:solidFill>
              </a:rPr>
              <a:t>围绕科研问答、政策检索与材料辅助生成继续深化 AI 服务。</a:t>
            </a:r>
          </a:p>
        </p:txBody>
      </p:sp>
    </p:spTree>
    <p:extLst>
      <p:ext uri="{BB962C8B-B14F-4D97-AF65-F5344CB8AC3E}">
        <p14:creationId xmlns:p14="http://schemas.microsoft.com/office/powerpoint/2010/main" val="249851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2026-04-22T03:55:07.3690000Z</dcterms:created>
  <dcterms:modified xsi:type="dcterms:W3CDTF">2026-04-22T03:55:07.3690000Z</dcterms:modified>
</coreProperties>
</file>